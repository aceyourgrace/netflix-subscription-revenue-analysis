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66" r:id="rId3"/>
    <p:sldId id="257" r:id="rId4"/>
    <p:sldId id="269" r:id="rId5"/>
    <p:sldId id="263" r:id="rId6"/>
    <p:sldId id="274" r:id="rId7"/>
    <p:sldId id="262" r:id="rId8"/>
    <p:sldId id="264" r:id="rId9"/>
    <p:sldId id="275" r:id="rId10"/>
    <p:sldId id="265" r:id="rId11"/>
    <p:sldId id="272" r:id="rId12"/>
    <p:sldId id="273" r:id="rId13"/>
    <p:sldId id="259" r:id="rId14"/>
    <p:sldId id="260" r:id="rId15"/>
    <p:sldId id="268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C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56BD745-A551-4EFC-5B8E-1F6C4303B6E6}" v="13" dt="2023-08-07T00:20:48.539"/>
    <p1510:client id="{789461F2-DED8-F5B8-05FD-6AD37D2DF666}" v="174" dt="2023-08-08T20:36:05.411"/>
    <p1510:client id="{BB275DCE-32AE-41D5-876C-644607D9329E}" v="18" dt="2023-08-07T02:20:15.087"/>
    <p1510:client id="{BCCA5C92-0FF0-7F44-697F-68603CAC5201}" v="9" dt="2023-08-08T23:40:03.177"/>
    <p1510:client id="{E899BA48-C18D-FC63-2F3F-CEE5ACDB0E67}" v="482" dt="2023-08-08T18:09:41.84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0"/>
    <p:restoredTop sz="94640"/>
  </p:normalViewPr>
  <p:slideViewPr>
    <p:cSldViewPr snapToGrid="0">
      <p:cViewPr varScale="1">
        <p:scale>
          <a:sx n="76" d="100"/>
          <a:sy n="76" d="100"/>
        </p:scale>
        <p:origin x="67" y="-9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iagrams/_rels/data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svg"/><Relationship Id="rId13" Type="http://schemas.openxmlformats.org/officeDocument/2006/relationships/image" Target="../media/image32.png"/><Relationship Id="rId3" Type="http://schemas.openxmlformats.org/officeDocument/2006/relationships/image" Target="../media/image22.png"/><Relationship Id="rId7" Type="http://schemas.openxmlformats.org/officeDocument/2006/relationships/image" Target="../media/image26.png"/><Relationship Id="rId12" Type="http://schemas.openxmlformats.org/officeDocument/2006/relationships/image" Target="../media/image31.svg"/><Relationship Id="rId2" Type="http://schemas.openxmlformats.org/officeDocument/2006/relationships/image" Target="../media/image21.svg"/><Relationship Id="rId1" Type="http://schemas.openxmlformats.org/officeDocument/2006/relationships/image" Target="../media/image20.png"/><Relationship Id="rId6" Type="http://schemas.openxmlformats.org/officeDocument/2006/relationships/image" Target="../media/image25.svg"/><Relationship Id="rId11" Type="http://schemas.openxmlformats.org/officeDocument/2006/relationships/image" Target="../media/image30.png"/><Relationship Id="rId5" Type="http://schemas.openxmlformats.org/officeDocument/2006/relationships/image" Target="../media/image24.png"/><Relationship Id="rId10" Type="http://schemas.openxmlformats.org/officeDocument/2006/relationships/image" Target="../media/image29.svg"/><Relationship Id="rId4" Type="http://schemas.openxmlformats.org/officeDocument/2006/relationships/image" Target="../media/image23.svg"/><Relationship Id="rId9" Type="http://schemas.openxmlformats.org/officeDocument/2006/relationships/image" Target="../media/image28.png"/><Relationship Id="rId14" Type="http://schemas.openxmlformats.org/officeDocument/2006/relationships/image" Target="../media/image33.svg"/></Relationships>
</file>

<file path=ppt/diagrams/_rels/data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svg"/><Relationship Id="rId1" Type="http://schemas.openxmlformats.org/officeDocument/2006/relationships/image" Target="../media/image34.png"/><Relationship Id="rId4" Type="http://schemas.openxmlformats.org/officeDocument/2006/relationships/image" Target="../media/image37.svg"/></Relationships>
</file>

<file path=ppt/diagrams/_rels/drawing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svg"/><Relationship Id="rId13" Type="http://schemas.openxmlformats.org/officeDocument/2006/relationships/image" Target="../media/image32.png"/><Relationship Id="rId3" Type="http://schemas.openxmlformats.org/officeDocument/2006/relationships/image" Target="../media/image22.png"/><Relationship Id="rId7" Type="http://schemas.openxmlformats.org/officeDocument/2006/relationships/image" Target="../media/image26.png"/><Relationship Id="rId12" Type="http://schemas.openxmlformats.org/officeDocument/2006/relationships/image" Target="../media/image31.svg"/><Relationship Id="rId2" Type="http://schemas.openxmlformats.org/officeDocument/2006/relationships/image" Target="../media/image21.svg"/><Relationship Id="rId1" Type="http://schemas.openxmlformats.org/officeDocument/2006/relationships/image" Target="../media/image20.png"/><Relationship Id="rId6" Type="http://schemas.openxmlformats.org/officeDocument/2006/relationships/image" Target="../media/image25.svg"/><Relationship Id="rId11" Type="http://schemas.openxmlformats.org/officeDocument/2006/relationships/image" Target="../media/image30.png"/><Relationship Id="rId5" Type="http://schemas.openxmlformats.org/officeDocument/2006/relationships/image" Target="../media/image24.png"/><Relationship Id="rId10" Type="http://schemas.openxmlformats.org/officeDocument/2006/relationships/image" Target="../media/image29.svg"/><Relationship Id="rId4" Type="http://schemas.openxmlformats.org/officeDocument/2006/relationships/image" Target="../media/image23.svg"/><Relationship Id="rId9" Type="http://schemas.openxmlformats.org/officeDocument/2006/relationships/image" Target="../media/image28.png"/><Relationship Id="rId14" Type="http://schemas.openxmlformats.org/officeDocument/2006/relationships/image" Target="../media/image33.svg"/></Relationships>
</file>

<file path=ppt/diagrams/_rels/drawing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svg"/><Relationship Id="rId1" Type="http://schemas.openxmlformats.org/officeDocument/2006/relationships/image" Target="../media/image34.png"/><Relationship Id="rId4" Type="http://schemas.openxmlformats.org/officeDocument/2006/relationships/image" Target="../media/image37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neutralbg_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0C70F9D4-CA77-45C9-8736-BE23D5F99559}" type="doc">
      <dgm:prSet loTypeId="urn:microsoft.com/office/officeart/2018/2/layout/IconCircle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7ABD2B66-AE2A-40EF-9D0F-87BF4DC9BC94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1800" b="0" i="0" dirty="0"/>
            <a:t>Prioritize monitoring subscriber trends to project revenue accurately and inform strategic decisions effectively.</a:t>
          </a:r>
          <a:endParaRPr lang="en-US" sz="18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86979329-8E15-4D5B-B9CA-EA9103764CCF}" type="parTrans" cxnId="{1C26C09B-6E09-4CFF-B50D-0CD0E01A3164}">
      <dgm:prSet/>
      <dgm:spPr/>
      <dgm:t>
        <a:bodyPr/>
        <a:lstStyle/>
        <a:p>
          <a:endParaRPr lang="en-US"/>
        </a:p>
      </dgm:t>
    </dgm:pt>
    <dgm:pt modelId="{EFC0DED6-32D2-40E9-9AAE-2B6981C34780}" type="sibTrans" cxnId="{1C26C09B-6E09-4CFF-B50D-0CD0E01A3164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60AFBB62-9442-4261-B7B3-46145477B6FA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1800" b="0" i="0" dirty="0"/>
            <a:t>Data visualization tools is essential for effectively sharing insights and enhancing decision-making understanding.</a:t>
          </a:r>
          <a:endParaRPr lang="en-US" sz="18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BD84A933-9D6A-41BE-AB8A-B9361D89E547}" type="parTrans" cxnId="{C30D8B89-A321-4094-BF84-177BF895B3A0}">
      <dgm:prSet/>
      <dgm:spPr/>
      <dgm:t>
        <a:bodyPr/>
        <a:lstStyle/>
        <a:p>
          <a:endParaRPr lang="en-US"/>
        </a:p>
      </dgm:t>
    </dgm:pt>
    <dgm:pt modelId="{257D43D5-6768-4B59-AE7A-00B1BD75F0AE}" type="sibTrans" cxnId="{C30D8B89-A321-4094-BF84-177BF895B3A0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D9090C74-6625-4954-A161-42DD1CF0BD19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1800" dirty="0">
              <a:latin typeface="Times New Roman" panose="02020603050405020304" pitchFamily="18" charset="0"/>
              <a:cs typeface="Times New Roman" panose="02020603050405020304" pitchFamily="18" charset="0"/>
            </a:rPr>
            <a:t>Consider external influences that affect </a:t>
          </a:r>
          <a:r>
            <a:rPr lang="en-US" sz="1800" b="0" i="0" dirty="0"/>
            <a:t>performance enabling strategy adjustment for better outcomes.</a:t>
          </a:r>
          <a:r>
            <a:rPr lang="en-US" sz="1800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</a:p>
      </dgm:t>
    </dgm:pt>
    <dgm:pt modelId="{FA31BECC-9EDE-4E69-B409-8203FB97CA49}" type="parTrans" cxnId="{83CA5122-FE38-46B5-B22C-5C9343098E16}">
      <dgm:prSet/>
      <dgm:spPr/>
      <dgm:t>
        <a:bodyPr/>
        <a:lstStyle/>
        <a:p>
          <a:endParaRPr lang="en-US"/>
        </a:p>
      </dgm:t>
    </dgm:pt>
    <dgm:pt modelId="{7C01BA95-FF12-4A03-8E11-D16984F97037}" type="sibTrans" cxnId="{83CA5122-FE38-46B5-B22C-5C9343098E16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E1C367B1-BD34-434C-A751-C0354D3D0C5A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1800" dirty="0">
              <a:latin typeface="Times New Roman" panose="02020603050405020304" pitchFamily="18" charset="0"/>
              <a:cs typeface="Times New Roman" panose="02020603050405020304" pitchFamily="18" charset="0"/>
            </a:rPr>
            <a:t>Need to proactively address these fluctuations by understanding customer behavior and implementing strategies using analytic tools.</a:t>
          </a:r>
        </a:p>
      </dgm:t>
    </dgm:pt>
    <dgm:pt modelId="{5717D7C0-0F63-4F83-BE60-1793E75E4B2C}" type="parTrans" cxnId="{313A0EDA-307F-4C37-99CF-E9E87BE4C194}">
      <dgm:prSet/>
      <dgm:spPr/>
      <dgm:t>
        <a:bodyPr/>
        <a:lstStyle/>
        <a:p>
          <a:endParaRPr lang="en-US"/>
        </a:p>
      </dgm:t>
    </dgm:pt>
    <dgm:pt modelId="{EE4AF1C7-2C07-45D4-A1B1-3A636B946193}" type="sibTrans" cxnId="{313A0EDA-307F-4C37-99CF-E9E87BE4C194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C4F1C67D-B4D4-4076-8B0B-B2B5DB805C61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1800" dirty="0">
              <a:latin typeface="Times New Roman" panose="02020603050405020304" pitchFamily="18" charset="0"/>
              <a:cs typeface="Times New Roman" panose="02020603050405020304" pitchFamily="18" charset="0"/>
            </a:rPr>
            <a:t>Should prioritize data quality and alignment with research objectives when selecting datasets for analysis</a:t>
          </a:r>
          <a:r>
            <a:rPr lang="en-US" sz="1300" dirty="0"/>
            <a:t>.</a:t>
          </a:r>
        </a:p>
      </dgm:t>
    </dgm:pt>
    <dgm:pt modelId="{7F5ABD99-3472-4524-A253-0D4BF02221B6}" type="parTrans" cxnId="{5F2F0261-C3F9-406D-82BA-9ED7F38EF5FF}">
      <dgm:prSet/>
      <dgm:spPr/>
      <dgm:t>
        <a:bodyPr/>
        <a:lstStyle/>
        <a:p>
          <a:endParaRPr lang="en-US"/>
        </a:p>
      </dgm:t>
    </dgm:pt>
    <dgm:pt modelId="{09CE661F-8123-4218-93E6-81B88D47A045}" type="sibTrans" cxnId="{5F2F0261-C3F9-406D-82BA-9ED7F38EF5FF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4F245119-44A5-420A-9E34-33C0B7D0FF0D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1800" dirty="0">
              <a:latin typeface="Times New Roman" panose="02020603050405020304" pitchFamily="18" charset="0"/>
              <a:cs typeface="Times New Roman" panose="02020603050405020304" pitchFamily="18" charset="0"/>
            </a:rPr>
            <a:t>Seek to improve approaches, incorporating insights gained from the analysis to enhance decision-making and drive actionable outcomes.</a:t>
          </a:r>
        </a:p>
      </dgm:t>
    </dgm:pt>
    <dgm:pt modelId="{2974E4F9-DA59-47EE-9A0E-6CDC1735CF51}" type="parTrans" cxnId="{18723970-520A-488A-8F2C-7F6E3FBD2CCE}">
      <dgm:prSet/>
      <dgm:spPr/>
      <dgm:t>
        <a:bodyPr/>
        <a:lstStyle/>
        <a:p>
          <a:endParaRPr lang="en-US"/>
        </a:p>
      </dgm:t>
    </dgm:pt>
    <dgm:pt modelId="{70B3211B-9CCB-4297-9B1B-BD1B7F250655}" type="sibTrans" cxnId="{18723970-520A-488A-8F2C-7F6E3FBD2CCE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B16F9CF2-4CD5-4F9B-9501-20548BAA28EC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1800" dirty="0">
              <a:latin typeface="Times New Roman" panose="02020603050405020304" pitchFamily="18" charset="0"/>
              <a:cs typeface="Times New Roman" panose="02020603050405020304" pitchFamily="18" charset="0"/>
            </a:rPr>
            <a:t>Should adapt the niche marketing strategy. </a:t>
          </a:r>
        </a:p>
      </dgm:t>
    </dgm:pt>
    <dgm:pt modelId="{1B800A7A-EDEB-4565-B1E4-A7936EE45A75}" type="parTrans" cxnId="{0FB3C85E-D573-4FA4-9722-AE00ED2DEE33}">
      <dgm:prSet/>
      <dgm:spPr/>
      <dgm:t>
        <a:bodyPr/>
        <a:lstStyle/>
        <a:p>
          <a:endParaRPr lang="en-US"/>
        </a:p>
      </dgm:t>
    </dgm:pt>
    <dgm:pt modelId="{2261D37E-875C-4F2A-B1A5-8B37C596F13A}" type="sibTrans" cxnId="{0FB3C85E-D573-4FA4-9722-AE00ED2DEE33}">
      <dgm:prSet/>
      <dgm:spPr/>
      <dgm:t>
        <a:bodyPr/>
        <a:lstStyle/>
        <a:p>
          <a:endParaRPr lang="en-US"/>
        </a:p>
      </dgm:t>
    </dgm:pt>
    <dgm:pt modelId="{C1E85859-2C4D-4C72-A1FC-2978EDF5E40D}" type="pres">
      <dgm:prSet presAssocID="{0C70F9D4-CA77-45C9-8736-BE23D5F99559}" presName="root" presStyleCnt="0">
        <dgm:presLayoutVars>
          <dgm:dir/>
          <dgm:resizeHandles val="exact"/>
        </dgm:presLayoutVars>
      </dgm:prSet>
      <dgm:spPr/>
    </dgm:pt>
    <dgm:pt modelId="{AEDDD6C8-8A1B-49CD-A6D5-90FC9DE15E23}" type="pres">
      <dgm:prSet presAssocID="{0C70F9D4-CA77-45C9-8736-BE23D5F99559}" presName="container" presStyleCnt="0">
        <dgm:presLayoutVars>
          <dgm:dir/>
          <dgm:resizeHandles val="exact"/>
        </dgm:presLayoutVars>
      </dgm:prSet>
      <dgm:spPr/>
    </dgm:pt>
    <dgm:pt modelId="{74EE0782-4F3F-4D84-B20C-0A6016F1C0EC}" type="pres">
      <dgm:prSet presAssocID="{7ABD2B66-AE2A-40EF-9D0F-87BF4DC9BC94}" presName="compNode" presStyleCnt="0"/>
      <dgm:spPr/>
    </dgm:pt>
    <dgm:pt modelId="{CAA5D950-8283-4BEF-8F49-8029748B8D39}" type="pres">
      <dgm:prSet presAssocID="{7ABD2B66-AE2A-40EF-9D0F-87BF4DC9BC94}" presName="iconBgRect" presStyleLbl="bgShp" presStyleIdx="0" presStyleCnt="7" custLinFactNeighborX="-16658" custLinFactNeighborY="-2499"/>
      <dgm:spPr/>
    </dgm:pt>
    <dgm:pt modelId="{868D3A80-4F5C-4DAD-9792-8AEE3D0C5F99}" type="pres">
      <dgm:prSet presAssocID="{7ABD2B66-AE2A-40EF-9D0F-87BF4DC9BC94}" presName="iconRect" presStyleLbl="node1" presStyleIdx="0" presStyleCnt="7" custLinFactNeighborX="-8207" custLinFactNeighborY="-4719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Head with Gears"/>
        </a:ext>
      </dgm:extLst>
    </dgm:pt>
    <dgm:pt modelId="{5CEB5AA6-92B0-4C3E-A1DC-A80CD153313E}" type="pres">
      <dgm:prSet presAssocID="{7ABD2B66-AE2A-40EF-9D0F-87BF4DC9BC94}" presName="spaceRect" presStyleCnt="0"/>
      <dgm:spPr/>
    </dgm:pt>
    <dgm:pt modelId="{6EC74F09-A92B-4E35-B563-A8FF2FBCDD50}" type="pres">
      <dgm:prSet presAssocID="{7ABD2B66-AE2A-40EF-9D0F-87BF4DC9BC94}" presName="textRect" presStyleLbl="revTx" presStyleIdx="0" presStyleCnt="7" custScaleX="128768" custLinFactNeighborX="7352">
        <dgm:presLayoutVars>
          <dgm:chMax val="1"/>
          <dgm:chPref val="1"/>
        </dgm:presLayoutVars>
      </dgm:prSet>
      <dgm:spPr/>
    </dgm:pt>
    <dgm:pt modelId="{A7BB765B-EE25-427E-930F-961714535526}" type="pres">
      <dgm:prSet presAssocID="{EFC0DED6-32D2-40E9-9AAE-2B6981C34780}" presName="sibTrans" presStyleLbl="sibTrans2D1" presStyleIdx="0" presStyleCnt="0"/>
      <dgm:spPr/>
    </dgm:pt>
    <dgm:pt modelId="{262FF434-5A12-4CCB-B70E-78AC5C492118}" type="pres">
      <dgm:prSet presAssocID="{60AFBB62-9442-4261-B7B3-46145477B6FA}" presName="compNode" presStyleCnt="0"/>
      <dgm:spPr/>
    </dgm:pt>
    <dgm:pt modelId="{F41DD72C-E348-4268-A783-EE36DC8321CC}" type="pres">
      <dgm:prSet presAssocID="{60AFBB62-9442-4261-B7B3-46145477B6FA}" presName="iconBgRect" presStyleLbl="bgShp" presStyleIdx="1" presStyleCnt="7" custLinFactX="100000" custLinFactNeighborX="128312"/>
      <dgm:spPr/>
    </dgm:pt>
    <dgm:pt modelId="{3F369F67-584C-41FB-B350-DCA723636324}" type="pres">
      <dgm:prSet presAssocID="{60AFBB62-9442-4261-B7B3-46145477B6FA}" presName="iconRect" presStyleLbl="node1" presStyleIdx="1" presStyleCnt="7" custLinFactX="196240" custLinFactNeighborX="200000" custLinFactNeighborY="-1299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Maze"/>
        </a:ext>
      </dgm:extLst>
    </dgm:pt>
    <dgm:pt modelId="{A94C9298-46AE-4AC4-B50C-5718A77B8743}" type="pres">
      <dgm:prSet presAssocID="{60AFBB62-9442-4261-B7B3-46145477B6FA}" presName="spaceRect" presStyleCnt="0"/>
      <dgm:spPr/>
    </dgm:pt>
    <dgm:pt modelId="{2943C821-750C-4CBF-91A0-D4633DB0DCD9}" type="pres">
      <dgm:prSet presAssocID="{60AFBB62-9442-4261-B7B3-46145477B6FA}" presName="textRect" presStyleLbl="revTx" presStyleIdx="1" presStyleCnt="7" custScaleX="155238" custLinFactX="31064" custLinFactNeighborX="100000" custLinFactNeighborY="-3767">
        <dgm:presLayoutVars>
          <dgm:chMax val="1"/>
          <dgm:chPref val="1"/>
        </dgm:presLayoutVars>
      </dgm:prSet>
      <dgm:spPr/>
    </dgm:pt>
    <dgm:pt modelId="{AEF15261-E6B3-4FE4-8734-5001CFF10C60}" type="pres">
      <dgm:prSet presAssocID="{257D43D5-6768-4B59-AE7A-00B1BD75F0AE}" presName="sibTrans" presStyleLbl="sibTrans2D1" presStyleIdx="0" presStyleCnt="0"/>
      <dgm:spPr/>
    </dgm:pt>
    <dgm:pt modelId="{B3C95F00-DD92-4E1A-A220-C8D585A0227C}" type="pres">
      <dgm:prSet presAssocID="{D9090C74-6625-4954-A161-42DD1CF0BD19}" presName="compNode" presStyleCnt="0"/>
      <dgm:spPr/>
    </dgm:pt>
    <dgm:pt modelId="{A4D85365-1EA3-4729-BAA0-3564D1040175}" type="pres">
      <dgm:prSet presAssocID="{D9090C74-6625-4954-A161-42DD1CF0BD19}" presName="iconBgRect" presStyleLbl="bgShp" presStyleIdx="2" presStyleCnt="7"/>
      <dgm:spPr/>
    </dgm:pt>
    <dgm:pt modelId="{F2AA9E97-9964-4B3E-AB2A-BF4EB80B6CED}" type="pres">
      <dgm:prSet presAssocID="{D9090C74-6625-4954-A161-42DD1CF0BD19}" presName="iconRect" presStyleLbl="node1" presStyleIdx="2" presStyleCnt="7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Person with Idea"/>
        </a:ext>
      </dgm:extLst>
    </dgm:pt>
    <dgm:pt modelId="{7E4A1AD3-D716-4A48-9530-F7044645CA88}" type="pres">
      <dgm:prSet presAssocID="{D9090C74-6625-4954-A161-42DD1CF0BD19}" presName="spaceRect" presStyleCnt="0"/>
      <dgm:spPr/>
    </dgm:pt>
    <dgm:pt modelId="{41CDF946-B4C6-4C02-8B37-5F199CC6DE89}" type="pres">
      <dgm:prSet presAssocID="{D9090C74-6625-4954-A161-42DD1CF0BD19}" presName="textRect" presStyleLbl="revTx" presStyleIdx="2" presStyleCnt="7">
        <dgm:presLayoutVars>
          <dgm:chMax val="1"/>
          <dgm:chPref val="1"/>
        </dgm:presLayoutVars>
      </dgm:prSet>
      <dgm:spPr/>
    </dgm:pt>
    <dgm:pt modelId="{FC1CF202-C7FD-48D0-A84F-4D4DD797CDD3}" type="pres">
      <dgm:prSet presAssocID="{7C01BA95-FF12-4A03-8E11-D16984F97037}" presName="sibTrans" presStyleLbl="sibTrans2D1" presStyleIdx="0" presStyleCnt="0"/>
      <dgm:spPr/>
    </dgm:pt>
    <dgm:pt modelId="{E8D46192-5CF5-412A-8948-242210B864F3}" type="pres">
      <dgm:prSet presAssocID="{E1C367B1-BD34-434C-A751-C0354D3D0C5A}" presName="compNode" presStyleCnt="0"/>
      <dgm:spPr/>
    </dgm:pt>
    <dgm:pt modelId="{B79002C2-B91F-429B-A6F4-6E0F0C2E6A4B}" type="pres">
      <dgm:prSet presAssocID="{E1C367B1-BD34-434C-A751-C0354D3D0C5A}" presName="iconBgRect" presStyleLbl="bgShp" presStyleIdx="3" presStyleCnt="7"/>
      <dgm:spPr/>
    </dgm:pt>
    <dgm:pt modelId="{82F741DF-7299-40F1-8F6A-A68F93B0D2C4}" type="pres">
      <dgm:prSet presAssocID="{E1C367B1-BD34-434C-A751-C0354D3D0C5A}" presName="iconRect" presStyleLbl="node1" presStyleIdx="3" presStyleCnt="7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Business Growth"/>
        </a:ext>
      </dgm:extLst>
    </dgm:pt>
    <dgm:pt modelId="{9AA82295-229C-4157-9AA1-E6A057FE90FE}" type="pres">
      <dgm:prSet presAssocID="{E1C367B1-BD34-434C-A751-C0354D3D0C5A}" presName="spaceRect" presStyleCnt="0"/>
      <dgm:spPr/>
    </dgm:pt>
    <dgm:pt modelId="{546B5FB4-F78A-4680-BE06-04B5A41CD819}" type="pres">
      <dgm:prSet presAssocID="{E1C367B1-BD34-434C-A751-C0354D3D0C5A}" presName="textRect" presStyleLbl="revTx" presStyleIdx="3" presStyleCnt="7">
        <dgm:presLayoutVars>
          <dgm:chMax val="1"/>
          <dgm:chPref val="1"/>
        </dgm:presLayoutVars>
      </dgm:prSet>
      <dgm:spPr/>
    </dgm:pt>
    <dgm:pt modelId="{087554D2-BFB8-4812-9D35-0CA646C11F9A}" type="pres">
      <dgm:prSet presAssocID="{EE4AF1C7-2C07-45D4-A1B1-3A636B946193}" presName="sibTrans" presStyleLbl="sibTrans2D1" presStyleIdx="0" presStyleCnt="0"/>
      <dgm:spPr/>
    </dgm:pt>
    <dgm:pt modelId="{3E624FB7-607C-479E-8A58-7167F7764BE8}" type="pres">
      <dgm:prSet presAssocID="{C4F1C67D-B4D4-4076-8B0B-B2B5DB805C61}" presName="compNode" presStyleCnt="0"/>
      <dgm:spPr/>
    </dgm:pt>
    <dgm:pt modelId="{5DAAC0C5-941D-427C-8ADB-EA846ABB0A63}" type="pres">
      <dgm:prSet presAssocID="{C4F1C67D-B4D4-4076-8B0B-B2B5DB805C61}" presName="iconBgRect" presStyleLbl="bgShp" presStyleIdx="4" presStyleCnt="7"/>
      <dgm:spPr/>
    </dgm:pt>
    <dgm:pt modelId="{5C1C1BAF-E0C4-4118-8360-DEF0C76E5480}" type="pres">
      <dgm:prSet presAssocID="{C4F1C67D-B4D4-4076-8B0B-B2B5DB805C61}" presName="iconRect" presStyleLbl="node1" presStyleIdx="4" presStyleCnt="7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Statistics"/>
        </a:ext>
      </dgm:extLst>
    </dgm:pt>
    <dgm:pt modelId="{743598F4-C961-484D-8AB6-303197BA96B4}" type="pres">
      <dgm:prSet presAssocID="{C4F1C67D-B4D4-4076-8B0B-B2B5DB805C61}" presName="spaceRect" presStyleCnt="0"/>
      <dgm:spPr/>
    </dgm:pt>
    <dgm:pt modelId="{D10434C4-DA1E-433D-B21E-6F7FB01498B7}" type="pres">
      <dgm:prSet presAssocID="{C4F1C67D-B4D4-4076-8B0B-B2B5DB805C61}" presName="textRect" presStyleLbl="revTx" presStyleIdx="4" presStyleCnt="7">
        <dgm:presLayoutVars>
          <dgm:chMax val="1"/>
          <dgm:chPref val="1"/>
        </dgm:presLayoutVars>
      </dgm:prSet>
      <dgm:spPr/>
    </dgm:pt>
    <dgm:pt modelId="{B60C0145-0BE5-4B19-8856-AEDA6CC06588}" type="pres">
      <dgm:prSet presAssocID="{09CE661F-8123-4218-93E6-81B88D47A045}" presName="sibTrans" presStyleLbl="sibTrans2D1" presStyleIdx="0" presStyleCnt="0"/>
      <dgm:spPr/>
    </dgm:pt>
    <dgm:pt modelId="{3EA39A25-4DA9-464A-940B-6730972902DC}" type="pres">
      <dgm:prSet presAssocID="{4F245119-44A5-420A-9E34-33C0B7D0FF0D}" presName="compNode" presStyleCnt="0"/>
      <dgm:spPr/>
    </dgm:pt>
    <dgm:pt modelId="{A68FAC10-DCB9-4C34-8485-BBA15E6874A0}" type="pres">
      <dgm:prSet presAssocID="{4F245119-44A5-420A-9E34-33C0B7D0FF0D}" presName="iconBgRect" presStyleLbl="bgShp" presStyleIdx="5" presStyleCnt="7"/>
      <dgm:spPr/>
    </dgm:pt>
    <dgm:pt modelId="{4BA1D57A-B626-4AAA-B003-F6C80D08A91F}" type="pres">
      <dgm:prSet presAssocID="{4F245119-44A5-420A-9E34-33C0B7D0FF0D}" presName="iconRect" presStyleLbl="node1" presStyleIdx="5" presStyleCnt="7"/>
      <dgm:spPr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Playbook"/>
        </a:ext>
      </dgm:extLst>
    </dgm:pt>
    <dgm:pt modelId="{A5711DB0-D8B7-43E5-B010-C797F15A4A1E}" type="pres">
      <dgm:prSet presAssocID="{4F245119-44A5-420A-9E34-33C0B7D0FF0D}" presName="spaceRect" presStyleCnt="0"/>
      <dgm:spPr/>
    </dgm:pt>
    <dgm:pt modelId="{15B49936-327B-4333-9662-69E03CD3AAF6}" type="pres">
      <dgm:prSet presAssocID="{4F245119-44A5-420A-9E34-33C0B7D0FF0D}" presName="textRect" presStyleLbl="revTx" presStyleIdx="5" presStyleCnt="7" custScaleX="180553" custLinFactNeighborX="39439">
        <dgm:presLayoutVars>
          <dgm:chMax val="1"/>
          <dgm:chPref val="1"/>
        </dgm:presLayoutVars>
      </dgm:prSet>
      <dgm:spPr/>
    </dgm:pt>
    <dgm:pt modelId="{4F6D0A95-0AEA-4280-BDCA-CB8F31F7C494}" type="pres">
      <dgm:prSet presAssocID="{70B3211B-9CCB-4297-9B1B-BD1B7F250655}" presName="sibTrans" presStyleLbl="sibTrans2D1" presStyleIdx="0" presStyleCnt="0"/>
      <dgm:spPr/>
    </dgm:pt>
    <dgm:pt modelId="{8C31F566-8160-419B-8DE3-F6B814F23653}" type="pres">
      <dgm:prSet presAssocID="{B16F9CF2-4CD5-4F9B-9501-20548BAA28EC}" presName="compNode" presStyleCnt="0"/>
      <dgm:spPr/>
    </dgm:pt>
    <dgm:pt modelId="{4DF54678-5FA0-45FE-B1DA-ACAD7C038648}" type="pres">
      <dgm:prSet presAssocID="{B16F9CF2-4CD5-4F9B-9501-20548BAA28EC}" presName="iconBgRect" presStyleLbl="bgShp" presStyleIdx="6" presStyleCnt="7" custLinFactX="77441" custLinFactNeighborX="100000" custLinFactNeighborY="9796"/>
      <dgm:spPr/>
    </dgm:pt>
    <dgm:pt modelId="{F6A69A72-32D6-4B85-BD58-A5EE3A63D00E}" type="pres">
      <dgm:prSet presAssocID="{B16F9CF2-4CD5-4F9B-9501-20548BAA28EC}" presName="iconRect" presStyleLbl="node1" presStyleIdx="6" presStyleCnt="7" custLinFactX="110496" custLinFactNeighborX="200000" custLinFactNeighborY="19487"/>
      <dgm:spPr>
        <a:blipFill>
          <a:blip xmlns:r="http://schemas.openxmlformats.org/officeDocument/2006/relationships"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Puzzle"/>
        </a:ext>
      </dgm:extLst>
    </dgm:pt>
    <dgm:pt modelId="{01188E4F-FF4A-4B8B-982F-9325431F5295}" type="pres">
      <dgm:prSet presAssocID="{B16F9CF2-4CD5-4F9B-9501-20548BAA28EC}" presName="spaceRect" presStyleCnt="0"/>
      <dgm:spPr/>
    </dgm:pt>
    <dgm:pt modelId="{931F12C7-23E2-46DB-A889-69FACBE448EE}" type="pres">
      <dgm:prSet presAssocID="{B16F9CF2-4CD5-4F9B-9501-20548BAA28EC}" presName="textRect" presStyleLbl="revTx" presStyleIdx="6" presStyleCnt="7" custLinFactNeighborX="75442" custLinFactNeighborY="753">
        <dgm:presLayoutVars>
          <dgm:chMax val="1"/>
          <dgm:chPref val="1"/>
        </dgm:presLayoutVars>
      </dgm:prSet>
      <dgm:spPr/>
    </dgm:pt>
  </dgm:ptLst>
  <dgm:cxnLst>
    <dgm:cxn modelId="{15247D13-0068-40FA-85A5-835A2B2667E4}" type="presOf" srcId="{7C01BA95-FF12-4A03-8E11-D16984F97037}" destId="{FC1CF202-C7FD-48D0-A84F-4D4DD797CDD3}" srcOrd="0" destOrd="0" presId="urn:microsoft.com/office/officeart/2018/2/layout/IconCircleList"/>
    <dgm:cxn modelId="{83CA5122-FE38-46B5-B22C-5C9343098E16}" srcId="{0C70F9D4-CA77-45C9-8736-BE23D5F99559}" destId="{D9090C74-6625-4954-A161-42DD1CF0BD19}" srcOrd="2" destOrd="0" parTransId="{FA31BECC-9EDE-4E69-B409-8203FB97CA49}" sibTransId="{7C01BA95-FF12-4A03-8E11-D16984F97037}"/>
    <dgm:cxn modelId="{10657B2A-7367-40CB-B14B-D2B92B694548}" type="presOf" srcId="{257D43D5-6768-4B59-AE7A-00B1BD75F0AE}" destId="{AEF15261-E6B3-4FE4-8734-5001CFF10C60}" srcOrd="0" destOrd="0" presId="urn:microsoft.com/office/officeart/2018/2/layout/IconCircleList"/>
    <dgm:cxn modelId="{0919A334-AB05-4050-A393-74442F44EEB5}" type="presOf" srcId="{B16F9CF2-4CD5-4F9B-9501-20548BAA28EC}" destId="{931F12C7-23E2-46DB-A889-69FACBE448EE}" srcOrd="0" destOrd="0" presId="urn:microsoft.com/office/officeart/2018/2/layout/IconCircleList"/>
    <dgm:cxn modelId="{0FB3C85E-D573-4FA4-9722-AE00ED2DEE33}" srcId="{0C70F9D4-CA77-45C9-8736-BE23D5F99559}" destId="{B16F9CF2-4CD5-4F9B-9501-20548BAA28EC}" srcOrd="6" destOrd="0" parTransId="{1B800A7A-EDEB-4565-B1E4-A7936EE45A75}" sibTransId="{2261D37E-875C-4F2A-B1A5-8B37C596F13A}"/>
    <dgm:cxn modelId="{5F2F0261-C3F9-406D-82BA-9ED7F38EF5FF}" srcId="{0C70F9D4-CA77-45C9-8736-BE23D5F99559}" destId="{C4F1C67D-B4D4-4076-8B0B-B2B5DB805C61}" srcOrd="4" destOrd="0" parTransId="{7F5ABD99-3472-4524-A253-0D4BF02221B6}" sibTransId="{09CE661F-8123-4218-93E6-81B88D47A045}"/>
    <dgm:cxn modelId="{00EC5762-0094-41A4-8676-6874B6DDC087}" type="presOf" srcId="{D9090C74-6625-4954-A161-42DD1CF0BD19}" destId="{41CDF946-B4C6-4C02-8B37-5F199CC6DE89}" srcOrd="0" destOrd="0" presId="urn:microsoft.com/office/officeart/2018/2/layout/IconCircleList"/>
    <dgm:cxn modelId="{77AE7568-3FF5-452B-965F-4393A979E23F}" type="presOf" srcId="{4F245119-44A5-420A-9E34-33C0B7D0FF0D}" destId="{15B49936-327B-4333-9662-69E03CD3AAF6}" srcOrd="0" destOrd="0" presId="urn:microsoft.com/office/officeart/2018/2/layout/IconCircleList"/>
    <dgm:cxn modelId="{18723970-520A-488A-8F2C-7F6E3FBD2CCE}" srcId="{0C70F9D4-CA77-45C9-8736-BE23D5F99559}" destId="{4F245119-44A5-420A-9E34-33C0B7D0FF0D}" srcOrd="5" destOrd="0" parTransId="{2974E4F9-DA59-47EE-9A0E-6CDC1735CF51}" sibTransId="{70B3211B-9CCB-4297-9B1B-BD1B7F250655}"/>
    <dgm:cxn modelId="{3ADBDD58-34D5-4DA6-A738-8A9EFAED6799}" type="presOf" srcId="{EFC0DED6-32D2-40E9-9AAE-2B6981C34780}" destId="{A7BB765B-EE25-427E-930F-961714535526}" srcOrd="0" destOrd="0" presId="urn:microsoft.com/office/officeart/2018/2/layout/IconCircleList"/>
    <dgm:cxn modelId="{ABD16182-EEFE-4D81-BFD4-C8F365BF6436}" type="presOf" srcId="{70B3211B-9CCB-4297-9B1B-BD1B7F250655}" destId="{4F6D0A95-0AEA-4280-BDCA-CB8F31F7C494}" srcOrd="0" destOrd="0" presId="urn:microsoft.com/office/officeart/2018/2/layout/IconCircleList"/>
    <dgm:cxn modelId="{C30D8B89-A321-4094-BF84-177BF895B3A0}" srcId="{0C70F9D4-CA77-45C9-8736-BE23D5F99559}" destId="{60AFBB62-9442-4261-B7B3-46145477B6FA}" srcOrd="1" destOrd="0" parTransId="{BD84A933-9D6A-41BE-AB8A-B9361D89E547}" sibTransId="{257D43D5-6768-4B59-AE7A-00B1BD75F0AE}"/>
    <dgm:cxn modelId="{9EE8938F-4E1F-4234-97FE-72510EFCFBD6}" type="presOf" srcId="{EE4AF1C7-2C07-45D4-A1B1-3A636B946193}" destId="{087554D2-BFB8-4812-9D35-0CA646C11F9A}" srcOrd="0" destOrd="0" presId="urn:microsoft.com/office/officeart/2018/2/layout/IconCircleList"/>
    <dgm:cxn modelId="{2E49D791-BF5F-40A2-93AA-C8EE298D86B5}" type="presOf" srcId="{E1C367B1-BD34-434C-A751-C0354D3D0C5A}" destId="{546B5FB4-F78A-4680-BE06-04B5A41CD819}" srcOrd="0" destOrd="0" presId="urn:microsoft.com/office/officeart/2018/2/layout/IconCircleList"/>
    <dgm:cxn modelId="{2B397596-4587-4DE0-A1B5-CA6104BF847B}" type="presOf" srcId="{7ABD2B66-AE2A-40EF-9D0F-87BF4DC9BC94}" destId="{6EC74F09-A92B-4E35-B563-A8FF2FBCDD50}" srcOrd="0" destOrd="0" presId="urn:microsoft.com/office/officeart/2018/2/layout/IconCircleList"/>
    <dgm:cxn modelId="{1C26C09B-6E09-4CFF-B50D-0CD0E01A3164}" srcId="{0C70F9D4-CA77-45C9-8736-BE23D5F99559}" destId="{7ABD2B66-AE2A-40EF-9D0F-87BF4DC9BC94}" srcOrd="0" destOrd="0" parTransId="{86979329-8E15-4D5B-B9CA-EA9103764CCF}" sibTransId="{EFC0DED6-32D2-40E9-9AAE-2B6981C34780}"/>
    <dgm:cxn modelId="{5FDED7B9-1367-469B-B6A3-482B5B3715DF}" type="presOf" srcId="{0C70F9D4-CA77-45C9-8736-BE23D5F99559}" destId="{C1E85859-2C4D-4C72-A1FC-2978EDF5E40D}" srcOrd="0" destOrd="0" presId="urn:microsoft.com/office/officeart/2018/2/layout/IconCircleList"/>
    <dgm:cxn modelId="{859F09C9-F98C-4D98-A8A0-E1C0E0FB4B4C}" type="presOf" srcId="{C4F1C67D-B4D4-4076-8B0B-B2B5DB805C61}" destId="{D10434C4-DA1E-433D-B21E-6F7FB01498B7}" srcOrd="0" destOrd="0" presId="urn:microsoft.com/office/officeart/2018/2/layout/IconCircleList"/>
    <dgm:cxn modelId="{313A0EDA-307F-4C37-99CF-E9E87BE4C194}" srcId="{0C70F9D4-CA77-45C9-8736-BE23D5F99559}" destId="{E1C367B1-BD34-434C-A751-C0354D3D0C5A}" srcOrd="3" destOrd="0" parTransId="{5717D7C0-0F63-4F83-BE60-1793E75E4B2C}" sibTransId="{EE4AF1C7-2C07-45D4-A1B1-3A636B946193}"/>
    <dgm:cxn modelId="{FA53A0E2-00F2-4FC1-95D8-52D4AB67A7BC}" type="presOf" srcId="{60AFBB62-9442-4261-B7B3-46145477B6FA}" destId="{2943C821-750C-4CBF-91A0-D4633DB0DCD9}" srcOrd="0" destOrd="0" presId="urn:microsoft.com/office/officeart/2018/2/layout/IconCircleList"/>
    <dgm:cxn modelId="{051739FA-FD84-4BBA-8B99-311428799FE6}" type="presOf" srcId="{09CE661F-8123-4218-93E6-81B88D47A045}" destId="{B60C0145-0BE5-4B19-8856-AEDA6CC06588}" srcOrd="0" destOrd="0" presId="urn:microsoft.com/office/officeart/2018/2/layout/IconCircleList"/>
    <dgm:cxn modelId="{FD01C745-1A5B-49A6-8178-05A8504B431D}" type="presParOf" srcId="{C1E85859-2C4D-4C72-A1FC-2978EDF5E40D}" destId="{AEDDD6C8-8A1B-49CD-A6D5-90FC9DE15E23}" srcOrd="0" destOrd="0" presId="urn:microsoft.com/office/officeart/2018/2/layout/IconCircleList"/>
    <dgm:cxn modelId="{1649FCC3-7E07-43C1-B280-514A5CD59E2D}" type="presParOf" srcId="{AEDDD6C8-8A1B-49CD-A6D5-90FC9DE15E23}" destId="{74EE0782-4F3F-4D84-B20C-0A6016F1C0EC}" srcOrd="0" destOrd="0" presId="urn:microsoft.com/office/officeart/2018/2/layout/IconCircleList"/>
    <dgm:cxn modelId="{28FF9A3A-9D0E-4459-B95B-C4EEE152A963}" type="presParOf" srcId="{74EE0782-4F3F-4D84-B20C-0A6016F1C0EC}" destId="{CAA5D950-8283-4BEF-8F49-8029748B8D39}" srcOrd="0" destOrd="0" presId="urn:microsoft.com/office/officeart/2018/2/layout/IconCircleList"/>
    <dgm:cxn modelId="{D56733AD-9A80-4066-BF19-C41225EF3104}" type="presParOf" srcId="{74EE0782-4F3F-4D84-B20C-0A6016F1C0EC}" destId="{868D3A80-4F5C-4DAD-9792-8AEE3D0C5F99}" srcOrd="1" destOrd="0" presId="urn:microsoft.com/office/officeart/2018/2/layout/IconCircleList"/>
    <dgm:cxn modelId="{4523896B-9AA7-4900-A80A-F11FD1248AC4}" type="presParOf" srcId="{74EE0782-4F3F-4D84-B20C-0A6016F1C0EC}" destId="{5CEB5AA6-92B0-4C3E-A1DC-A80CD153313E}" srcOrd="2" destOrd="0" presId="urn:microsoft.com/office/officeart/2018/2/layout/IconCircleList"/>
    <dgm:cxn modelId="{8D9CC950-6C93-439F-AFBE-D262C2A1CC03}" type="presParOf" srcId="{74EE0782-4F3F-4D84-B20C-0A6016F1C0EC}" destId="{6EC74F09-A92B-4E35-B563-A8FF2FBCDD50}" srcOrd="3" destOrd="0" presId="urn:microsoft.com/office/officeart/2018/2/layout/IconCircleList"/>
    <dgm:cxn modelId="{EA3AABFF-FD10-4697-B636-57FF1F6826D1}" type="presParOf" srcId="{AEDDD6C8-8A1B-49CD-A6D5-90FC9DE15E23}" destId="{A7BB765B-EE25-427E-930F-961714535526}" srcOrd="1" destOrd="0" presId="urn:microsoft.com/office/officeart/2018/2/layout/IconCircleList"/>
    <dgm:cxn modelId="{77620B3B-9B0D-4E6B-83EE-B8C0517AFE7A}" type="presParOf" srcId="{AEDDD6C8-8A1B-49CD-A6D5-90FC9DE15E23}" destId="{262FF434-5A12-4CCB-B70E-78AC5C492118}" srcOrd="2" destOrd="0" presId="urn:microsoft.com/office/officeart/2018/2/layout/IconCircleList"/>
    <dgm:cxn modelId="{7FFA2177-EF78-4BCA-8A6C-E9C4E7AD2141}" type="presParOf" srcId="{262FF434-5A12-4CCB-B70E-78AC5C492118}" destId="{F41DD72C-E348-4268-A783-EE36DC8321CC}" srcOrd="0" destOrd="0" presId="urn:microsoft.com/office/officeart/2018/2/layout/IconCircleList"/>
    <dgm:cxn modelId="{7A71A9BA-EE07-4981-9A13-A0274184BCD9}" type="presParOf" srcId="{262FF434-5A12-4CCB-B70E-78AC5C492118}" destId="{3F369F67-584C-41FB-B350-DCA723636324}" srcOrd="1" destOrd="0" presId="urn:microsoft.com/office/officeart/2018/2/layout/IconCircleList"/>
    <dgm:cxn modelId="{025D3C71-7D06-4A82-8C2D-061B66B2F249}" type="presParOf" srcId="{262FF434-5A12-4CCB-B70E-78AC5C492118}" destId="{A94C9298-46AE-4AC4-B50C-5718A77B8743}" srcOrd="2" destOrd="0" presId="urn:microsoft.com/office/officeart/2018/2/layout/IconCircleList"/>
    <dgm:cxn modelId="{51EF0188-B3C5-4EE0-B039-8B50E679B5FA}" type="presParOf" srcId="{262FF434-5A12-4CCB-B70E-78AC5C492118}" destId="{2943C821-750C-4CBF-91A0-D4633DB0DCD9}" srcOrd="3" destOrd="0" presId="urn:microsoft.com/office/officeart/2018/2/layout/IconCircleList"/>
    <dgm:cxn modelId="{E6EDBB96-9145-45DD-90DF-DAAB1FC76F29}" type="presParOf" srcId="{AEDDD6C8-8A1B-49CD-A6D5-90FC9DE15E23}" destId="{AEF15261-E6B3-4FE4-8734-5001CFF10C60}" srcOrd="3" destOrd="0" presId="urn:microsoft.com/office/officeart/2018/2/layout/IconCircleList"/>
    <dgm:cxn modelId="{37B35BF1-C72E-47DE-91AE-5F35A06A56FE}" type="presParOf" srcId="{AEDDD6C8-8A1B-49CD-A6D5-90FC9DE15E23}" destId="{B3C95F00-DD92-4E1A-A220-C8D585A0227C}" srcOrd="4" destOrd="0" presId="urn:microsoft.com/office/officeart/2018/2/layout/IconCircleList"/>
    <dgm:cxn modelId="{7AA672D0-2692-4E28-8171-CC0DB706C391}" type="presParOf" srcId="{B3C95F00-DD92-4E1A-A220-C8D585A0227C}" destId="{A4D85365-1EA3-4729-BAA0-3564D1040175}" srcOrd="0" destOrd="0" presId="urn:microsoft.com/office/officeart/2018/2/layout/IconCircleList"/>
    <dgm:cxn modelId="{4FB94FF9-F2E0-4C01-8FE4-AC57075469C2}" type="presParOf" srcId="{B3C95F00-DD92-4E1A-A220-C8D585A0227C}" destId="{F2AA9E97-9964-4B3E-AB2A-BF4EB80B6CED}" srcOrd="1" destOrd="0" presId="urn:microsoft.com/office/officeart/2018/2/layout/IconCircleList"/>
    <dgm:cxn modelId="{F7553252-B571-4714-BE4E-2E02A69DD6D4}" type="presParOf" srcId="{B3C95F00-DD92-4E1A-A220-C8D585A0227C}" destId="{7E4A1AD3-D716-4A48-9530-F7044645CA88}" srcOrd="2" destOrd="0" presId="urn:microsoft.com/office/officeart/2018/2/layout/IconCircleList"/>
    <dgm:cxn modelId="{6A6E144E-6997-428C-ACA3-5894725786C8}" type="presParOf" srcId="{B3C95F00-DD92-4E1A-A220-C8D585A0227C}" destId="{41CDF946-B4C6-4C02-8B37-5F199CC6DE89}" srcOrd="3" destOrd="0" presId="urn:microsoft.com/office/officeart/2018/2/layout/IconCircleList"/>
    <dgm:cxn modelId="{F7586C4E-1D76-4BA5-B7E0-537A4AB9E5E1}" type="presParOf" srcId="{AEDDD6C8-8A1B-49CD-A6D5-90FC9DE15E23}" destId="{FC1CF202-C7FD-48D0-A84F-4D4DD797CDD3}" srcOrd="5" destOrd="0" presId="urn:microsoft.com/office/officeart/2018/2/layout/IconCircleList"/>
    <dgm:cxn modelId="{BA105B88-5B04-4890-9E77-EA25F56288B6}" type="presParOf" srcId="{AEDDD6C8-8A1B-49CD-A6D5-90FC9DE15E23}" destId="{E8D46192-5CF5-412A-8948-242210B864F3}" srcOrd="6" destOrd="0" presId="urn:microsoft.com/office/officeart/2018/2/layout/IconCircleList"/>
    <dgm:cxn modelId="{FB190347-7571-48B5-8CF3-BF9F9658B42D}" type="presParOf" srcId="{E8D46192-5CF5-412A-8948-242210B864F3}" destId="{B79002C2-B91F-429B-A6F4-6E0F0C2E6A4B}" srcOrd="0" destOrd="0" presId="urn:microsoft.com/office/officeart/2018/2/layout/IconCircleList"/>
    <dgm:cxn modelId="{CD2A8BAA-87CF-4AC7-A1A9-203914940D1E}" type="presParOf" srcId="{E8D46192-5CF5-412A-8948-242210B864F3}" destId="{82F741DF-7299-40F1-8F6A-A68F93B0D2C4}" srcOrd="1" destOrd="0" presId="urn:microsoft.com/office/officeart/2018/2/layout/IconCircleList"/>
    <dgm:cxn modelId="{18BE238F-3F0A-48B8-90B7-432FA1202C18}" type="presParOf" srcId="{E8D46192-5CF5-412A-8948-242210B864F3}" destId="{9AA82295-229C-4157-9AA1-E6A057FE90FE}" srcOrd="2" destOrd="0" presId="urn:microsoft.com/office/officeart/2018/2/layout/IconCircleList"/>
    <dgm:cxn modelId="{C21050CF-6D99-453C-A89D-80C6D85E5E9C}" type="presParOf" srcId="{E8D46192-5CF5-412A-8948-242210B864F3}" destId="{546B5FB4-F78A-4680-BE06-04B5A41CD819}" srcOrd="3" destOrd="0" presId="urn:microsoft.com/office/officeart/2018/2/layout/IconCircleList"/>
    <dgm:cxn modelId="{5B4DB2BC-CC88-4DDC-9897-F8105D8EC649}" type="presParOf" srcId="{AEDDD6C8-8A1B-49CD-A6D5-90FC9DE15E23}" destId="{087554D2-BFB8-4812-9D35-0CA646C11F9A}" srcOrd="7" destOrd="0" presId="urn:microsoft.com/office/officeart/2018/2/layout/IconCircleList"/>
    <dgm:cxn modelId="{037A3720-5239-4E02-910E-A848BDD7CAE9}" type="presParOf" srcId="{AEDDD6C8-8A1B-49CD-A6D5-90FC9DE15E23}" destId="{3E624FB7-607C-479E-8A58-7167F7764BE8}" srcOrd="8" destOrd="0" presId="urn:microsoft.com/office/officeart/2018/2/layout/IconCircleList"/>
    <dgm:cxn modelId="{A3931C95-5EEE-44F9-9482-028A81C6FD0F}" type="presParOf" srcId="{3E624FB7-607C-479E-8A58-7167F7764BE8}" destId="{5DAAC0C5-941D-427C-8ADB-EA846ABB0A63}" srcOrd="0" destOrd="0" presId="urn:microsoft.com/office/officeart/2018/2/layout/IconCircleList"/>
    <dgm:cxn modelId="{E8F32840-2151-400B-AE6E-1EE917E60FE9}" type="presParOf" srcId="{3E624FB7-607C-479E-8A58-7167F7764BE8}" destId="{5C1C1BAF-E0C4-4118-8360-DEF0C76E5480}" srcOrd="1" destOrd="0" presId="urn:microsoft.com/office/officeart/2018/2/layout/IconCircleList"/>
    <dgm:cxn modelId="{1E8DB148-EF51-4407-8BED-818FFB9C67EF}" type="presParOf" srcId="{3E624FB7-607C-479E-8A58-7167F7764BE8}" destId="{743598F4-C961-484D-8AB6-303197BA96B4}" srcOrd="2" destOrd="0" presId="urn:microsoft.com/office/officeart/2018/2/layout/IconCircleList"/>
    <dgm:cxn modelId="{90675552-195F-4C85-9528-673FB37D2B4D}" type="presParOf" srcId="{3E624FB7-607C-479E-8A58-7167F7764BE8}" destId="{D10434C4-DA1E-433D-B21E-6F7FB01498B7}" srcOrd="3" destOrd="0" presId="urn:microsoft.com/office/officeart/2018/2/layout/IconCircleList"/>
    <dgm:cxn modelId="{389DA843-B364-47C5-BC7E-E8A439B4D99F}" type="presParOf" srcId="{AEDDD6C8-8A1B-49CD-A6D5-90FC9DE15E23}" destId="{B60C0145-0BE5-4B19-8856-AEDA6CC06588}" srcOrd="9" destOrd="0" presId="urn:microsoft.com/office/officeart/2018/2/layout/IconCircleList"/>
    <dgm:cxn modelId="{44B3071E-E45A-40B4-99CB-F19506F4593F}" type="presParOf" srcId="{AEDDD6C8-8A1B-49CD-A6D5-90FC9DE15E23}" destId="{3EA39A25-4DA9-464A-940B-6730972902DC}" srcOrd="10" destOrd="0" presId="urn:microsoft.com/office/officeart/2018/2/layout/IconCircleList"/>
    <dgm:cxn modelId="{CE8DC7FB-27C6-4F84-A259-716CF28885E8}" type="presParOf" srcId="{3EA39A25-4DA9-464A-940B-6730972902DC}" destId="{A68FAC10-DCB9-4C34-8485-BBA15E6874A0}" srcOrd="0" destOrd="0" presId="urn:microsoft.com/office/officeart/2018/2/layout/IconCircleList"/>
    <dgm:cxn modelId="{EC20EE38-BD81-4028-8116-AED904333370}" type="presParOf" srcId="{3EA39A25-4DA9-464A-940B-6730972902DC}" destId="{4BA1D57A-B626-4AAA-B003-F6C80D08A91F}" srcOrd="1" destOrd="0" presId="urn:microsoft.com/office/officeart/2018/2/layout/IconCircleList"/>
    <dgm:cxn modelId="{7728B70A-D724-40F3-9031-7761A9EA63A4}" type="presParOf" srcId="{3EA39A25-4DA9-464A-940B-6730972902DC}" destId="{A5711DB0-D8B7-43E5-B010-C797F15A4A1E}" srcOrd="2" destOrd="0" presId="urn:microsoft.com/office/officeart/2018/2/layout/IconCircleList"/>
    <dgm:cxn modelId="{1A6CFA88-EEEC-43D8-90CE-B6927F1CED3E}" type="presParOf" srcId="{3EA39A25-4DA9-464A-940B-6730972902DC}" destId="{15B49936-327B-4333-9662-69E03CD3AAF6}" srcOrd="3" destOrd="0" presId="urn:microsoft.com/office/officeart/2018/2/layout/IconCircleList"/>
    <dgm:cxn modelId="{66122C5E-C1A7-4025-9B42-30414290EBDB}" type="presParOf" srcId="{AEDDD6C8-8A1B-49CD-A6D5-90FC9DE15E23}" destId="{4F6D0A95-0AEA-4280-BDCA-CB8F31F7C494}" srcOrd="11" destOrd="0" presId="urn:microsoft.com/office/officeart/2018/2/layout/IconCircleList"/>
    <dgm:cxn modelId="{23106EF7-98DC-4789-8386-5DBA58B6C862}" type="presParOf" srcId="{AEDDD6C8-8A1B-49CD-A6D5-90FC9DE15E23}" destId="{8C31F566-8160-419B-8DE3-F6B814F23653}" srcOrd="12" destOrd="0" presId="urn:microsoft.com/office/officeart/2018/2/layout/IconCircleList"/>
    <dgm:cxn modelId="{7A05460D-391F-41CC-914A-D49C3ADDC406}" type="presParOf" srcId="{8C31F566-8160-419B-8DE3-F6B814F23653}" destId="{4DF54678-5FA0-45FE-B1DA-ACAD7C038648}" srcOrd="0" destOrd="0" presId="urn:microsoft.com/office/officeart/2018/2/layout/IconCircleList"/>
    <dgm:cxn modelId="{4EC91D67-8737-4D88-9D69-3A37D08D8FAF}" type="presParOf" srcId="{8C31F566-8160-419B-8DE3-F6B814F23653}" destId="{F6A69A72-32D6-4B85-BD58-A5EE3A63D00E}" srcOrd="1" destOrd="0" presId="urn:microsoft.com/office/officeart/2018/2/layout/IconCircleList"/>
    <dgm:cxn modelId="{3A5C942E-C531-46E7-8ECC-152BDD8BCAFF}" type="presParOf" srcId="{8C31F566-8160-419B-8DE3-F6B814F23653}" destId="{01188E4F-FF4A-4B8B-982F-9325431F5295}" srcOrd="2" destOrd="0" presId="urn:microsoft.com/office/officeart/2018/2/layout/IconCircleList"/>
    <dgm:cxn modelId="{9766D90F-DD10-431C-A042-DE4A478AF1B5}" type="presParOf" srcId="{8C31F566-8160-419B-8DE3-F6B814F23653}" destId="{931F12C7-23E2-46DB-A889-69FACBE448EE}" srcOrd="3" destOrd="0" presId="urn:microsoft.com/office/officeart/2018/2/layout/IconCircle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191AC5D3-9B5A-4785-B5F1-D85B7C2B522E}" type="doc">
      <dgm:prSet loTypeId="urn:microsoft.com/office/officeart/2018/2/layout/IconLabelList" loCatId="icon" qsTypeId="urn:microsoft.com/office/officeart/2005/8/quickstyle/simple1" qsCatId="simple" csTypeId="urn:microsoft.com/office/officeart/2018/5/colors/Iconchunking_neutralbg_accent2_2" csCatId="accent2" phldr="1"/>
      <dgm:spPr/>
      <dgm:t>
        <a:bodyPr/>
        <a:lstStyle/>
        <a:p>
          <a:endParaRPr lang="en-US"/>
        </a:p>
      </dgm:t>
    </dgm:pt>
    <dgm:pt modelId="{AAB9EC8C-9835-4A00-BED3-9B8D6BAB148C}">
      <dgm:prSet custT="1"/>
      <dgm:spPr/>
      <dgm:t>
        <a:bodyPr/>
        <a:lstStyle/>
        <a:p>
          <a:r>
            <a:rPr lang="en-US" sz="2000" dirty="0">
              <a:latin typeface="Times New Roman" panose="02020603050405020304" pitchFamily="18" charset="0"/>
              <a:cs typeface="Times New Roman" panose="02020603050405020304" pitchFamily="18" charset="0"/>
            </a:rPr>
            <a:t>Data Accessibility and Availability</a:t>
          </a:r>
        </a:p>
      </dgm:t>
    </dgm:pt>
    <dgm:pt modelId="{A3216B00-710C-4C01-ACDD-57FFBC8B3F93}" type="parTrans" cxnId="{41426C46-8FE9-4EAF-B8F3-9DEF667CD320}">
      <dgm:prSet/>
      <dgm:spPr/>
      <dgm:t>
        <a:bodyPr/>
        <a:lstStyle/>
        <a:p>
          <a:endParaRPr lang="en-US"/>
        </a:p>
      </dgm:t>
    </dgm:pt>
    <dgm:pt modelId="{D11281D9-F21D-44D8-9E5D-A11B4B83209D}" type="sibTrans" cxnId="{41426C46-8FE9-4EAF-B8F3-9DEF667CD320}">
      <dgm:prSet/>
      <dgm:spPr/>
      <dgm:t>
        <a:bodyPr/>
        <a:lstStyle/>
        <a:p>
          <a:endParaRPr lang="en-US"/>
        </a:p>
      </dgm:t>
    </dgm:pt>
    <dgm:pt modelId="{096A07FA-7082-4DCB-B714-0B053E4E325F}">
      <dgm:prSet custT="1"/>
      <dgm:spPr/>
      <dgm:t>
        <a:bodyPr/>
        <a:lstStyle/>
        <a:p>
          <a:r>
            <a:rPr lang="en-US" sz="2000" dirty="0">
              <a:latin typeface="Times New Roman" panose="02020603050405020304" pitchFamily="18" charset="0"/>
              <a:cs typeface="Times New Roman" panose="02020603050405020304" pitchFamily="18" charset="0"/>
            </a:rPr>
            <a:t>Contextual</a:t>
          </a:r>
          <a:r>
            <a:rPr lang="en-US" sz="2500" dirty="0"/>
            <a:t> </a:t>
          </a:r>
          <a:r>
            <a:rPr lang="en-US" sz="2000" dirty="0">
              <a:latin typeface="Times New Roman" panose="02020603050405020304" pitchFamily="18" charset="0"/>
              <a:cs typeface="Times New Roman" panose="02020603050405020304" pitchFamily="18" charset="0"/>
            </a:rPr>
            <a:t>Information Is Limited</a:t>
          </a:r>
        </a:p>
      </dgm:t>
    </dgm:pt>
    <dgm:pt modelId="{F61B73DE-1FD2-4C2B-8B0A-8BA760864B2D}" type="parTrans" cxnId="{E9F681EB-0A57-4F2D-A379-DE6B04557DEF}">
      <dgm:prSet/>
      <dgm:spPr/>
      <dgm:t>
        <a:bodyPr/>
        <a:lstStyle/>
        <a:p>
          <a:endParaRPr lang="en-US"/>
        </a:p>
      </dgm:t>
    </dgm:pt>
    <dgm:pt modelId="{A00F87FE-98E5-4F10-82DC-A0376F0F8003}" type="sibTrans" cxnId="{E9F681EB-0A57-4F2D-A379-DE6B04557DEF}">
      <dgm:prSet/>
      <dgm:spPr/>
      <dgm:t>
        <a:bodyPr/>
        <a:lstStyle/>
        <a:p>
          <a:endParaRPr lang="en-US"/>
        </a:p>
      </dgm:t>
    </dgm:pt>
    <dgm:pt modelId="{26F6F5AC-CF4D-492B-A16C-7CB5A79B7643}" type="pres">
      <dgm:prSet presAssocID="{191AC5D3-9B5A-4785-B5F1-D85B7C2B522E}" presName="root" presStyleCnt="0">
        <dgm:presLayoutVars>
          <dgm:dir/>
          <dgm:resizeHandles val="exact"/>
        </dgm:presLayoutVars>
      </dgm:prSet>
      <dgm:spPr/>
    </dgm:pt>
    <dgm:pt modelId="{E62E9928-9ED7-41EE-8521-CA55C8E03776}" type="pres">
      <dgm:prSet presAssocID="{AAB9EC8C-9835-4A00-BED3-9B8D6BAB148C}" presName="compNode" presStyleCnt="0"/>
      <dgm:spPr/>
    </dgm:pt>
    <dgm:pt modelId="{B2E11D86-2C07-4F9D-888A-DAC6B6ECEE3D}" type="pres">
      <dgm:prSet presAssocID="{AAB9EC8C-9835-4A00-BED3-9B8D6BAB148C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A5FC0914-998E-456E-8F2D-E337B98076C6}" type="pres">
      <dgm:prSet presAssocID="{AAB9EC8C-9835-4A00-BED3-9B8D6BAB148C}" presName="spaceRect" presStyleCnt="0"/>
      <dgm:spPr/>
    </dgm:pt>
    <dgm:pt modelId="{09F45A40-CFDA-4497-B9BC-37443ACB8918}" type="pres">
      <dgm:prSet presAssocID="{AAB9EC8C-9835-4A00-BED3-9B8D6BAB148C}" presName="textRect" presStyleLbl="revTx" presStyleIdx="0" presStyleCnt="2">
        <dgm:presLayoutVars>
          <dgm:chMax val="1"/>
          <dgm:chPref val="1"/>
        </dgm:presLayoutVars>
      </dgm:prSet>
      <dgm:spPr/>
    </dgm:pt>
    <dgm:pt modelId="{3A312D31-8B7D-4331-ABE6-3D6518B2D272}" type="pres">
      <dgm:prSet presAssocID="{D11281D9-F21D-44D8-9E5D-A11B4B83209D}" presName="sibTrans" presStyleCnt="0"/>
      <dgm:spPr/>
    </dgm:pt>
    <dgm:pt modelId="{E5921FAF-1654-4277-AE87-3EA407364FA3}" type="pres">
      <dgm:prSet presAssocID="{096A07FA-7082-4DCB-B714-0B053E4E325F}" presName="compNode" presStyleCnt="0"/>
      <dgm:spPr/>
    </dgm:pt>
    <dgm:pt modelId="{04FCD0BC-39EC-43F5-AE5C-AAF47A7946C0}" type="pres">
      <dgm:prSet presAssocID="{096A07FA-7082-4DCB-B714-0B053E4E325F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ead with Gears"/>
        </a:ext>
      </dgm:extLst>
    </dgm:pt>
    <dgm:pt modelId="{CFDA3659-62D9-44DB-9E09-CBD4C88695F8}" type="pres">
      <dgm:prSet presAssocID="{096A07FA-7082-4DCB-B714-0B053E4E325F}" presName="spaceRect" presStyleCnt="0"/>
      <dgm:spPr/>
    </dgm:pt>
    <dgm:pt modelId="{D5B86D83-7DE0-4BEF-8998-DEB006948997}" type="pres">
      <dgm:prSet presAssocID="{096A07FA-7082-4DCB-B714-0B053E4E325F}" presName="textRect" presStyleLbl="revTx" presStyleIdx="1" presStyleCnt="2">
        <dgm:presLayoutVars>
          <dgm:chMax val="1"/>
          <dgm:chPref val="1"/>
        </dgm:presLayoutVars>
      </dgm:prSet>
      <dgm:spPr/>
    </dgm:pt>
  </dgm:ptLst>
  <dgm:cxnLst>
    <dgm:cxn modelId="{ED58FD09-8F51-41B5-84A1-6A4F60F57462}" type="presOf" srcId="{AAB9EC8C-9835-4A00-BED3-9B8D6BAB148C}" destId="{09F45A40-CFDA-4497-B9BC-37443ACB8918}" srcOrd="0" destOrd="0" presId="urn:microsoft.com/office/officeart/2018/2/layout/IconLabelList"/>
    <dgm:cxn modelId="{5F63A165-4982-4BEB-BDAE-BA6431156FDA}" type="presOf" srcId="{096A07FA-7082-4DCB-B714-0B053E4E325F}" destId="{D5B86D83-7DE0-4BEF-8998-DEB006948997}" srcOrd="0" destOrd="0" presId="urn:microsoft.com/office/officeart/2018/2/layout/IconLabelList"/>
    <dgm:cxn modelId="{41426C46-8FE9-4EAF-B8F3-9DEF667CD320}" srcId="{191AC5D3-9B5A-4785-B5F1-D85B7C2B522E}" destId="{AAB9EC8C-9835-4A00-BED3-9B8D6BAB148C}" srcOrd="0" destOrd="0" parTransId="{A3216B00-710C-4C01-ACDD-57FFBC8B3F93}" sibTransId="{D11281D9-F21D-44D8-9E5D-A11B4B83209D}"/>
    <dgm:cxn modelId="{6C81D295-3DDF-4D34-BE09-0FFD312D8AA1}" type="presOf" srcId="{191AC5D3-9B5A-4785-B5F1-D85B7C2B522E}" destId="{26F6F5AC-CF4D-492B-A16C-7CB5A79B7643}" srcOrd="0" destOrd="0" presId="urn:microsoft.com/office/officeart/2018/2/layout/IconLabelList"/>
    <dgm:cxn modelId="{E9F681EB-0A57-4F2D-A379-DE6B04557DEF}" srcId="{191AC5D3-9B5A-4785-B5F1-D85B7C2B522E}" destId="{096A07FA-7082-4DCB-B714-0B053E4E325F}" srcOrd="1" destOrd="0" parTransId="{F61B73DE-1FD2-4C2B-8B0A-8BA760864B2D}" sibTransId="{A00F87FE-98E5-4F10-82DC-A0376F0F8003}"/>
    <dgm:cxn modelId="{726C3194-B450-4C5F-9C3E-E029D789A007}" type="presParOf" srcId="{26F6F5AC-CF4D-492B-A16C-7CB5A79B7643}" destId="{E62E9928-9ED7-41EE-8521-CA55C8E03776}" srcOrd="0" destOrd="0" presId="urn:microsoft.com/office/officeart/2018/2/layout/IconLabelList"/>
    <dgm:cxn modelId="{45C555E3-0DBF-4717-A5B3-177549749C64}" type="presParOf" srcId="{E62E9928-9ED7-41EE-8521-CA55C8E03776}" destId="{B2E11D86-2C07-4F9D-888A-DAC6B6ECEE3D}" srcOrd="0" destOrd="0" presId="urn:microsoft.com/office/officeart/2018/2/layout/IconLabelList"/>
    <dgm:cxn modelId="{A1D613D1-2A34-44DF-8CDB-6473315AEB6F}" type="presParOf" srcId="{E62E9928-9ED7-41EE-8521-CA55C8E03776}" destId="{A5FC0914-998E-456E-8F2D-E337B98076C6}" srcOrd="1" destOrd="0" presId="urn:microsoft.com/office/officeart/2018/2/layout/IconLabelList"/>
    <dgm:cxn modelId="{A5576333-0374-4F18-A3F1-ED80D3234FCA}" type="presParOf" srcId="{E62E9928-9ED7-41EE-8521-CA55C8E03776}" destId="{09F45A40-CFDA-4497-B9BC-37443ACB8918}" srcOrd="2" destOrd="0" presId="urn:microsoft.com/office/officeart/2018/2/layout/IconLabelList"/>
    <dgm:cxn modelId="{75BF0DAF-6BE2-4E13-8E6B-F33DA76B2D84}" type="presParOf" srcId="{26F6F5AC-CF4D-492B-A16C-7CB5A79B7643}" destId="{3A312D31-8B7D-4331-ABE6-3D6518B2D272}" srcOrd="1" destOrd="0" presId="urn:microsoft.com/office/officeart/2018/2/layout/IconLabelList"/>
    <dgm:cxn modelId="{77FA0296-0C31-4CE0-91DD-B8E1BF4BCA1F}" type="presParOf" srcId="{26F6F5AC-CF4D-492B-A16C-7CB5A79B7643}" destId="{E5921FAF-1654-4277-AE87-3EA407364FA3}" srcOrd="2" destOrd="0" presId="urn:microsoft.com/office/officeart/2018/2/layout/IconLabelList"/>
    <dgm:cxn modelId="{8DA7D256-E789-4823-9001-370074F71B0F}" type="presParOf" srcId="{E5921FAF-1654-4277-AE87-3EA407364FA3}" destId="{04FCD0BC-39EC-43F5-AE5C-AAF47A7946C0}" srcOrd="0" destOrd="0" presId="urn:microsoft.com/office/officeart/2018/2/layout/IconLabelList"/>
    <dgm:cxn modelId="{AAFCAD0D-241F-44C2-B054-F0C4F2098B25}" type="presParOf" srcId="{E5921FAF-1654-4277-AE87-3EA407364FA3}" destId="{CFDA3659-62D9-44DB-9E09-CBD4C88695F8}" srcOrd="1" destOrd="0" presId="urn:microsoft.com/office/officeart/2018/2/layout/IconLabelList"/>
    <dgm:cxn modelId="{96D71C7F-49D8-44BC-948E-8C289787CEC3}" type="presParOf" srcId="{E5921FAF-1654-4277-AE87-3EA407364FA3}" destId="{D5B86D83-7DE0-4BEF-8998-DEB006948997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AA5D950-8283-4BEF-8F49-8029748B8D39}">
      <dsp:nvSpPr>
        <dsp:cNvPr id="0" name=""/>
        <dsp:cNvSpPr/>
      </dsp:nvSpPr>
      <dsp:spPr>
        <a:xfrm>
          <a:off x="0" y="248130"/>
          <a:ext cx="1037203" cy="1037203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68D3A80-4F5C-4DAD-9792-8AEE3D0C5F99}">
      <dsp:nvSpPr>
        <dsp:cNvPr id="0" name=""/>
        <dsp:cNvSpPr/>
      </dsp:nvSpPr>
      <dsp:spPr>
        <a:xfrm>
          <a:off x="207753" y="463474"/>
          <a:ext cx="601577" cy="601577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EC74F09-A92B-4E35-B563-A8FF2FBCDD50}">
      <dsp:nvSpPr>
        <dsp:cNvPr id="0" name=""/>
        <dsp:cNvSpPr/>
      </dsp:nvSpPr>
      <dsp:spPr>
        <a:xfrm>
          <a:off x="1126852" y="274049"/>
          <a:ext cx="3148167" cy="103720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0" i="0" kern="1200" dirty="0"/>
            <a:t>Prioritize monitoring subscriber trends to project revenue accurately and inform strategic decisions effectively.</a:t>
          </a:r>
          <a:endParaRPr lang="en-US" sz="18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1126852" y="274049"/>
        <a:ext cx="3148167" cy="1037203"/>
      </dsp:txXfrm>
    </dsp:sp>
    <dsp:sp modelId="{F41DD72C-E348-4268-A783-EE36DC8321CC}">
      <dsp:nvSpPr>
        <dsp:cNvPr id="0" name=""/>
        <dsp:cNvSpPr/>
      </dsp:nvSpPr>
      <dsp:spPr>
        <a:xfrm>
          <a:off x="6889329" y="274049"/>
          <a:ext cx="1037203" cy="1037203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F369F67-584C-41FB-B350-DCA723636324}">
      <dsp:nvSpPr>
        <dsp:cNvPr id="0" name=""/>
        <dsp:cNvSpPr/>
      </dsp:nvSpPr>
      <dsp:spPr>
        <a:xfrm>
          <a:off x="7122775" y="484048"/>
          <a:ext cx="601577" cy="601577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943C821-750C-4CBF-91A0-D4633DB0DCD9}">
      <dsp:nvSpPr>
        <dsp:cNvPr id="0" name=""/>
        <dsp:cNvSpPr/>
      </dsp:nvSpPr>
      <dsp:spPr>
        <a:xfrm>
          <a:off x="8248191" y="234978"/>
          <a:ext cx="3795315" cy="103720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0" i="0" kern="1200" dirty="0"/>
            <a:t>Data visualization tools is essential for effectively sharing insights and enhancing decision-making understanding.</a:t>
          </a:r>
          <a:endParaRPr lang="en-US" sz="18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8248191" y="234978"/>
        <a:ext cx="3795315" cy="1037203"/>
      </dsp:txXfrm>
    </dsp:sp>
    <dsp:sp modelId="{A4D85365-1EA3-4729-BAA0-3564D1040175}">
      <dsp:nvSpPr>
        <dsp:cNvPr id="0" name=""/>
        <dsp:cNvSpPr/>
      </dsp:nvSpPr>
      <dsp:spPr>
        <a:xfrm>
          <a:off x="39312" y="2253905"/>
          <a:ext cx="1037203" cy="1037203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2AA9E97-9964-4B3E-AB2A-BF4EB80B6CED}">
      <dsp:nvSpPr>
        <dsp:cNvPr id="0" name=""/>
        <dsp:cNvSpPr/>
      </dsp:nvSpPr>
      <dsp:spPr>
        <a:xfrm>
          <a:off x="257125" y="2471718"/>
          <a:ext cx="601577" cy="601577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1CDF946-B4C6-4C02-8B37-5F199CC6DE89}">
      <dsp:nvSpPr>
        <dsp:cNvPr id="0" name=""/>
        <dsp:cNvSpPr/>
      </dsp:nvSpPr>
      <dsp:spPr>
        <a:xfrm>
          <a:off x="1298773" y="2253905"/>
          <a:ext cx="2444836" cy="103720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Consider external influences that affect </a:t>
          </a:r>
          <a:r>
            <a:rPr lang="en-US" sz="1800" b="0" i="0" kern="1200" dirty="0"/>
            <a:t>performance enabling strategy adjustment for better outcomes.</a:t>
          </a:r>
          <a:r>
            <a:rPr lang="en-US" sz="18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</a:p>
      </dsp:txBody>
      <dsp:txXfrm>
        <a:off x="1298773" y="2253905"/>
        <a:ext cx="2444836" cy="1037203"/>
      </dsp:txXfrm>
    </dsp:sp>
    <dsp:sp modelId="{B79002C2-B91F-429B-A6F4-6E0F0C2E6A4B}">
      <dsp:nvSpPr>
        <dsp:cNvPr id="0" name=""/>
        <dsp:cNvSpPr/>
      </dsp:nvSpPr>
      <dsp:spPr>
        <a:xfrm>
          <a:off x="4169604" y="2253905"/>
          <a:ext cx="1037203" cy="1037203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2F741DF-7299-40F1-8F6A-A68F93B0D2C4}">
      <dsp:nvSpPr>
        <dsp:cNvPr id="0" name=""/>
        <dsp:cNvSpPr/>
      </dsp:nvSpPr>
      <dsp:spPr>
        <a:xfrm>
          <a:off x="4387417" y="2471718"/>
          <a:ext cx="601577" cy="601577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46B5FB4-F78A-4680-BE06-04B5A41CD819}">
      <dsp:nvSpPr>
        <dsp:cNvPr id="0" name=""/>
        <dsp:cNvSpPr/>
      </dsp:nvSpPr>
      <dsp:spPr>
        <a:xfrm>
          <a:off x="5429065" y="2253905"/>
          <a:ext cx="2444836" cy="103720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Need to proactively address these fluctuations by understanding customer behavior and implementing strategies using analytic tools.</a:t>
          </a:r>
        </a:p>
      </dsp:txBody>
      <dsp:txXfrm>
        <a:off x="5429065" y="2253905"/>
        <a:ext cx="2444836" cy="1037203"/>
      </dsp:txXfrm>
    </dsp:sp>
    <dsp:sp modelId="{5DAAC0C5-941D-427C-8ADB-EA846ABB0A63}">
      <dsp:nvSpPr>
        <dsp:cNvPr id="0" name=""/>
        <dsp:cNvSpPr/>
      </dsp:nvSpPr>
      <dsp:spPr>
        <a:xfrm>
          <a:off x="8299896" y="2253905"/>
          <a:ext cx="1037203" cy="1037203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C1C1BAF-E0C4-4118-8360-DEF0C76E5480}">
      <dsp:nvSpPr>
        <dsp:cNvPr id="0" name=""/>
        <dsp:cNvSpPr/>
      </dsp:nvSpPr>
      <dsp:spPr>
        <a:xfrm>
          <a:off x="8517709" y="2471718"/>
          <a:ext cx="601577" cy="601577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10434C4-DA1E-433D-B21E-6F7FB01498B7}">
      <dsp:nvSpPr>
        <dsp:cNvPr id="0" name=""/>
        <dsp:cNvSpPr/>
      </dsp:nvSpPr>
      <dsp:spPr>
        <a:xfrm>
          <a:off x="9559358" y="2253905"/>
          <a:ext cx="2444836" cy="103720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Should prioritize data quality and alignment with research objectives when selecting datasets for analysis</a:t>
          </a:r>
          <a:r>
            <a:rPr lang="en-US" sz="1300" kern="1200" dirty="0"/>
            <a:t>.</a:t>
          </a:r>
        </a:p>
      </dsp:txBody>
      <dsp:txXfrm>
        <a:off x="9559358" y="2253905"/>
        <a:ext cx="2444836" cy="1037203"/>
      </dsp:txXfrm>
    </dsp:sp>
    <dsp:sp modelId="{A68FAC10-DCB9-4C34-8485-BBA15E6874A0}">
      <dsp:nvSpPr>
        <dsp:cNvPr id="0" name=""/>
        <dsp:cNvSpPr/>
      </dsp:nvSpPr>
      <dsp:spPr>
        <a:xfrm>
          <a:off x="39312" y="4233761"/>
          <a:ext cx="1037203" cy="1037203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BA1D57A-B626-4AAA-B003-F6C80D08A91F}">
      <dsp:nvSpPr>
        <dsp:cNvPr id="0" name=""/>
        <dsp:cNvSpPr/>
      </dsp:nvSpPr>
      <dsp:spPr>
        <a:xfrm>
          <a:off x="257125" y="4451574"/>
          <a:ext cx="601577" cy="601577"/>
        </a:xfrm>
        <a:prstGeom prst="rect">
          <a:avLst/>
        </a:prstGeom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5B49936-327B-4333-9662-69E03CD3AAF6}">
      <dsp:nvSpPr>
        <dsp:cNvPr id="0" name=""/>
        <dsp:cNvSpPr/>
      </dsp:nvSpPr>
      <dsp:spPr>
        <a:xfrm>
          <a:off x="1278298" y="4233761"/>
          <a:ext cx="4414225" cy="103720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Seek to improve approaches, incorporating insights gained from the analysis to enhance decision-making and drive actionable outcomes.</a:t>
          </a:r>
        </a:p>
      </dsp:txBody>
      <dsp:txXfrm>
        <a:off x="1278298" y="4233761"/>
        <a:ext cx="4414225" cy="1037203"/>
      </dsp:txXfrm>
    </dsp:sp>
    <dsp:sp modelId="{4DF54678-5FA0-45FE-B1DA-ACAD7C038648}">
      <dsp:nvSpPr>
        <dsp:cNvPr id="0" name=""/>
        <dsp:cNvSpPr/>
      </dsp:nvSpPr>
      <dsp:spPr>
        <a:xfrm>
          <a:off x="6994723" y="4335366"/>
          <a:ext cx="1037203" cy="1037203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6A69A72-32D6-4B85-BD58-A5EE3A63D00E}">
      <dsp:nvSpPr>
        <dsp:cNvPr id="0" name=""/>
        <dsp:cNvSpPr/>
      </dsp:nvSpPr>
      <dsp:spPr>
        <a:xfrm>
          <a:off x="7239987" y="4568803"/>
          <a:ext cx="601577" cy="601577"/>
        </a:xfrm>
        <a:prstGeom prst="rect">
          <a:avLst/>
        </a:prstGeom>
        <a:blipFill>
          <a:blip xmlns:r="http://schemas.openxmlformats.org/officeDocument/2006/relationships"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31F12C7-23E2-46DB-A889-69FACBE448EE}">
      <dsp:nvSpPr>
        <dsp:cNvPr id="0" name=""/>
        <dsp:cNvSpPr/>
      </dsp:nvSpPr>
      <dsp:spPr>
        <a:xfrm>
          <a:off x="8258194" y="4241571"/>
          <a:ext cx="2444836" cy="103720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Should adapt the niche marketing strategy. </a:t>
          </a:r>
        </a:p>
      </dsp:txBody>
      <dsp:txXfrm>
        <a:off x="8258194" y="4241571"/>
        <a:ext cx="2444836" cy="1037203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2E11D86-2C07-4F9D-888A-DAC6B6ECEE3D}">
      <dsp:nvSpPr>
        <dsp:cNvPr id="0" name=""/>
        <dsp:cNvSpPr/>
      </dsp:nvSpPr>
      <dsp:spPr>
        <a:xfrm>
          <a:off x="1953914" y="529294"/>
          <a:ext cx="1944000" cy="194400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9F45A40-CFDA-4497-B9BC-37443ACB8918}">
      <dsp:nvSpPr>
        <dsp:cNvPr id="0" name=""/>
        <dsp:cNvSpPr/>
      </dsp:nvSpPr>
      <dsp:spPr>
        <a:xfrm>
          <a:off x="765914" y="2943510"/>
          <a:ext cx="432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Data Accessibility and Availability</a:t>
          </a:r>
        </a:p>
      </dsp:txBody>
      <dsp:txXfrm>
        <a:off x="765914" y="2943510"/>
        <a:ext cx="4320000" cy="720000"/>
      </dsp:txXfrm>
    </dsp:sp>
    <dsp:sp modelId="{04FCD0BC-39EC-43F5-AE5C-AAF47A7946C0}">
      <dsp:nvSpPr>
        <dsp:cNvPr id="0" name=""/>
        <dsp:cNvSpPr/>
      </dsp:nvSpPr>
      <dsp:spPr>
        <a:xfrm>
          <a:off x="7029914" y="529294"/>
          <a:ext cx="1944000" cy="194400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5B86D83-7DE0-4BEF-8998-DEB006948997}">
      <dsp:nvSpPr>
        <dsp:cNvPr id="0" name=""/>
        <dsp:cNvSpPr/>
      </dsp:nvSpPr>
      <dsp:spPr>
        <a:xfrm>
          <a:off x="5841914" y="2943510"/>
          <a:ext cx="432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Contextual</a:t>
          </a:r>
          <a:r>
            <a:rPr lang="en-US" sz="2500" kern="1200" dirty="0"/>
            <a:t> </a:t>
          </a:r>
          <a:r>
            <a:rPr lang="en-US" sz="20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Information Is Limited</a:t>
          </a:r>
        </a:p>
      </dsp:txBody>
      <dsp:txXfrm>
        <a:off x="5841914" y="2943510"/>
        <a:ext cx="4320000" cy="72000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CircleList">
  <dgm:title val="Icon Circle List"/>
  <dgm:desc val="Use to show non-sequential or grouped chunks of information accompanied by related visuals. Circular shapes can hold an icon or small picture and corresponding text box shows Level 1 text. Works best for icons or small pictures with medium-length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alg type="sp"/>
    <dgm:shape xmlns:r="http://schemas.openxmlformats.org/officeDocument/2006/relationships" r:blip="">
      <dgm:adjLst/>
    </dgm:shape>
    <dgm:presOf/>
    <dgm:choose name="Name0">
      <dgm:if name="Name1" axis="ch" ptType="node" func="cnt" op="lte" val="3">
        <dgm:constrLst>
          <dgm:constr type="w" for="ch" forName="container" refType="w"/>
          <dgm:constr type="h" for="ch" forName="container" refType="h" fact="0.4"/>
        </dgm:constrLst>
      </dgm:if>
      <dgm:else name="Name2">
        <dgm:constrLst>
          <dgm:constr type="w" for="ch" forName="container" refType="w"/>
          <dgm:constr type="h" for="ch" forName="container" refType="h"/>
        </dgm:constrLst>
      </dgm:else>
    </dgm:choose>
    <dgm:ruleLst>
      <dgm:rule type="h" for="ch" forName="container" val="INF" fact="NaN" max="NaN"/>
    </dgm:ruleLst>
    <dgm:layoutNode name="container">
      <dgm:varLst>
        <dgm:dir/>
        <dgm:resizeHandles val="exact"/>
      </dgm:varLst>
      <dgm:choose name="Name3">
        <dgm:if name="Name4" axis="self" func="var" arg="dir" op="equ" val="norm">
          <dgm:alg type="snake">
            <dgm:param type="grDir" val="tL"/>
            <dgm:param type="flowDir" val="row"/>
            <dgm:param type="contDir" val="sameDir"/>
          </dgm:alg>
        </dgm:if>
        <dgm:else name="Name5">
          <dgm:alg type="snake">
            <dgm:param type="grDir" val="tR"/>
            <dgm:param type="flowDir" val="row"/>
            <dgm:param type="contDir" val="sameDi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Node" refType="w"/>
        <dgm:constr type="h" for="ch" forName="compNode" refType="w" fact="0.28"/>
        <dgm:constr type="w" for="ch" forName="sibTrans" refType="w" refFor="ch" refForName="compNode" fact="0.115"/>
        <dgm:constr type="sp" refType="h" op="equ" fact="0.17"/>
        <dgm:constr type="primFontSz" for="des" ptType="node" op="equ" val="24"/>
        <dgm:constr type="h" for="des" forName="compNode" op="equ"/>
        <dgm:constr type="h" for="des" forName="iconBgRect" op="equ"/>
      </dgm:constrLst>
      <dgm:ruleLst>
        <dgm:rule type="w" for="ch" forName="compNode" val="60" fact="NaN" max="NaN"/>
      </dgm:ruleLst>
      <dgm:forEach name="Name6" axis="ch" ptType="node">
        <dgm:layoutNode name="compNode">
          <dgm:alg type="composite"/>
          <dgm:shape xmlns:r="http://schemas.openxmlformats.org/officeDocument/2006/relationships" r:blip="">
            <dgm:adjLst/>
          </dgm:shape>
          <dgm:presOf axis="self"/>
          <dgm:constrLst>
            <dgm:constr type="w" for="ch" forName="iconBgRect" refType="w" fact="0.28"/>
            <dgm:constr type="h" for="ch" forName="iconBgRect" refType="w" refFor="ch" refForName="iconBgRect"/>
            <dgm:constr type="t" for="ch" forName="iconBgRect"/>
            <dgm:constr type="l" for="ch" forName="iconBgRect"/>
            <dgm:constr type="w" for="ch" forName="iconRect" refType="w" refFor="ch" refForName="iconBgRect" fact="0.58"/>
            <dgm:constr type="h" for="ch" forName="iconRect" refType="w" refFor="ch" refForName="iconRect"/>
            <dgm:constr type="ctrX" for="ch" forName="iconRect" refType="ctrX" refFor="ch" refForName="iconBgRect"/>
            <dgm:constr type="ctrY" for="ch" forName="iconRect" refType="ctrY" refFor="ch" refForName="iconBgRect"/>
            <dgm:constr type="w" for="ch" forName="spaceRect" refType="w" fact="0.06"/>
            <dgm:constr type="h" for="ch" forName="spaceRect" refType="h" refFor="ch" refForName="iconBgRect"/>
            <dgm:constr type="t" for="ch" forName="spaceRect" refType="t" refFor="ch" refForName="iconBgRect"/>
            <dgm:constr type="l" for="ch" forName="spaceRect" refType="r" refFor="ch" refForName="iconBgRect"/>
            <dgm:constr type="h" for="ch" forName="textRect" refType="h" refFor="ch" refForName="iconBgRect"/>
            <dgm:constr type="t" for="ch" forName="textRect" refType="t" refFor="ch" refForName="iconBgRect"/>
            <dgm:constr type="l" for="ch" forName="textRect" refType="r" refFor="ch" refForName="spaceRect"/>
          </dgm:constrLst>
          <dgm:ruleLst/>
          <dgm:layoutNode name="iconBgRect" styleLbl="bgShp">
            <dgm:alg type="sp"/>
            <dgm:shape xmlns:r="http://schemas.openxmlformats.org/officeDocument/2006/relationships" type="ellipse" r:blip="">
              <dgm:adjLst/>
            </dgm:shape>
            <dgm:presOf/>
            <dgm:constrLst/>
            <dgm:ruleLst/>
          </dgm:layoutNode>
          <dgm:layoutNode name="iconRect" styleLbl="node1">
            <dgm:alg type="sp"/>
            <dgm:shape xmlns:r="http://schemas.openxmlformats.org/officeDocument/2006/relationships" type="rect" r:blip="" blipPhldr="1">
              <dgm:adjLst/>
            </dgm:shape>
            <dgm:presOf/>
            <dgm:constrLst/>
            <dgm:ruleLst/>
          </dgm:layoutNode>
          <dgm:layoutNode name="spaceRect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textRect" styleLbl="revTx">
            <dgm:varLst>
              <dgm:chMax val="1"/>
              <dgm:chPref val="1"/>
            </dgm:varLst>
            <dgm:choose name="Name7">
              <dgm:if name="Name8" func="var" arg="dir" op="equ" val="norm">
                <dgm:alg type="tx">
                  <dgm:param type="txAnchorVert" val="mid"/>
                  <dgm:param type="parTxLTRAlign" val="l"/>
                  <dgm:param type="shpTxLTRAlignCh" val="l"/>
                  <dgm:param type="parTxRTLAlign" val="l"/>
                  <dgm:param type="shpTxRTLAlignCh" val="l"/>
                </dgm:alg>
              </dgm:if>
              <dgm:else name="Name9">
                <dgm:alg type="tx">
                  <dgm:param type="txAnchorVert" val="mid"/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self" ptType="node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11" fact="NaN" max="NaN"/>
            </dgm:ruleLst>
          </dgm:layoutNode>
        </dgm:layoutNode>
        <dgm:forEach name="Name10" axis="followSib" ptType="sibTrans" cnt="1">
          <dgm:layoutNode name="sibTrans">
            <dgm:alg type="sp"/>
            <dgm:shape xmlns:r="http://schemas.openxmlformats.org/officeDocument/2006/relationships" type="rect" r:blip="" hideGeom="1">
              <dgm:adjLst/>
            </dgm:shape>
            <dgm:presOf axis="self"/>
            <dgm:constrLst/>
            <dgm:ruleLst/>
          </dgm:layoutNode>
        </dgm:forEach>
      </dgm:forEach>
    </dgm:layoutNode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434EAC-2D10-FA94-FC62-A5C56D8E229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08CDF8-295C-73C0-43BC-65403870C3B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2298AE-7452-4EAE-D468-FC33D1302E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DAF9CB-D402-B745-B461-E89D8DD9995E}" type="datetimeFigureOut">
              <a:rPr lang="en-US" smtClean="0"/>
              <a:t>8/9/2023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BC74A0B-6D54-6D1D-AA37-5CE7F685F1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36EC44-0D84-15E3-4E37-CCFCCD0E2C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A20D2F-9048-7C48-97E7-1895E384C6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28194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E106F4-9375-3D6F-15E0-E225E85492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AF00EC-83DD-F3DB-F204-2213233917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3936EC-F388-43DF-02FC-29C4CD7FAB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DAF9CB-D402-B745-B461-E89D8DD9995E}" type="datetimeFigureOut">
              <a:rPr lang="en-US" smtClean="0"/>
              <a:t>8/9/2023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79B98B-510F-EB64-92D5-51AA1598E0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C7E797-7EC9-15E5-CF75-4501A3682A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A20D2F-9048-7C48-97E7-1895E384C6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92367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6774AC-52AC-0FDE-0FD2-4E7B596C5A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ADDD112-AA34-0B2C-59E6-B33428320B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FDEFCF-B5AE-5552-F054-E1ABE0E8C1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DAF9CB-D402-B745-B461-E89D8DD9995E}" type="datetimeFigureOut">
              <a:rPr lang="en-US" smtClean="0"/>
              <a:t>8/9/2023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EC96A3-C563-3896-B818-16C7FF8434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A85BE6-272D-5686-A5FD-9E1CF1569B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A20D2F-9048-7C48-97E7-1895E384C6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79373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19F453-9A3C-0F19-D644-79F91B6094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C3AC16-5F45-863E-0969-534414E80FA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96BF76C-A069-D635-537C-24644971D68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4A2C058-4BF3-5868-CC59-8946C55183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DAF9CB-D402-B745-B461-E89D8DD9995E}" type="datetimeFigureOut">
              <a:rPr lang="en-US" smtClean="0"/>
              <a:t>8/9/2023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2291EAD-8F80-3ED8-18D3-F8A200FD12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75DF02B-3B2D-634D-5DB3-513353F2B2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A20D2F-9048-7C48-97E7-1895E384C6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73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2D9072-E765-BBB8-52D2-A9B5A1E60E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B20EC32-DF7B-0AF7-DA87-812F775C2D2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F8C6CED-8B64-F692-C418-2302B356C84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38DE3E7-9E8F-1A7A-BAAC-E0B22A68050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8A959CB-2E88-BA60-8F03-EFE6B72E957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3D6F141-8D0B-74F2-4A8B-E7F7F2AB98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DAF9CB-D402-B745-B461-E89D8DD9995E}" type="datetimeFigureOut">
              <a:rPr lang="en-US" smtClean="0"/>
              <a:t>8/9/2023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ADF1D2A-EA6B-BDC0-B115-09474F58A9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4C7E392-AC9E-5E60-9E29-C72BECABDC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A20D2F-9048-7C48-97E7-1895E384C6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56733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E07AD2-1809-7BA7-5268-FE5668546A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A5106AD-3555-3E03-C5FF-AECA4308D4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DAF9CB-D402-B745-B461-E89D8DD9995E}" type="datetimeFigureOut">
              <a:rPr lang="en-US" smtClean="0"/>
              <a:t>8/9/2023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92E3CB5-860E-0A2F-A8AF-21CF62D5F4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700A8F5-C421-3EAB-6EDC-F5B000432A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A20D2F-9048-7C48-97E7-1895E384C6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48162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1C15253-E617-9F41-3B0B-1E412AFC60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DAF9CB-D402-B745-B461-E89D8DD9995E}" type="datetimeFigureOut">
              <a:rPr lang="en-US" smtClean="0"/>
              <a:t>8/9/2023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A4EE0C9-DD81-4818-384D-86EB70DD58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57BA8D2-C899-6194-1E75-0BAA5CA0BC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A20D2F-9048-7C48-97E7-1895E384C6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88720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45427B-AB10-3BFC-0811-6EB43DD193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B1BFDC-C58C-5353-FD8E-2264DD483A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422766E-0FDF-ECA5-DF05-7565880C5FF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182C269-18DE-E375-9EB9-7ED6EC0644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DAF9CB-D402-B745-B461-E89D8DD9995E}" type="datetimeFigureOut">
              <a:rPr lang="en-US" smtClean="0"/>
              <a:t>8/9/2023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337B8F9-A29A-908D-C83E-63E5B2B1EF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7E21584-F934-2923-2EF0-AEC3DB7F17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A20D2F-9048-7C48-97E7-1895E384C6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32143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ADCDEA-7DCA-4744-3039-55F3565E02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F7C14D6-5DAB-D563-8390-C0CA447E2A1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753AFD3-A2AF-820D-5DA7-E1CE98EC2AD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1F5AE99-BFE7-7A1C-92CA-F2EAA8B893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DAF9CB-D402-B745-B461-E89D8DD9995E}" type="datetimeFigureOut">
              <a:rPr lang="en-US" smtClean="0"/>
              <a:t>8/9/2023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4677173-E7B6-A3E9-47BE-62229FA435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32F8B2B-5CC4-F9AB-1ABA-BAA32BBAC8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A20D2F-9048-7C48-97E7-1895E384C6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794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802EEB-2C52-E80D-0E86-4502C529A7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A07A75D-223F-3033-D8AB-88DEE4D5C22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A512FE-4897-FF22-98D6-C5DF0B83FA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DAF9CB-D402-B745-B461-E89D8DD9995E}" type="datetimeFigureOut">
              <a:rPr lang="en-US" smtClean="0"/>
              <a:t>8/9/2023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95CD54-5F68-ADE1-FBA1-1B172F888F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4DB08F-2090-FE69-72B8-8C40DE7A2A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A20D2F-9048-7C48-97E7-1895E384C6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43420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B424A25-F324-A3E0-4353-9DCD78B7FC5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81DC037-BADA-0C89-5801-ABB431D962E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A056FA-F6AB-E29C-01D6-FD640CDC00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DAF9CB-D402-B745-B461-E89D8DD9995E}" type="datetimeFigureOut">
              <a:rPr lang="en-US" smtClean="0"/>
              <a:t>8/9/2023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274A6ED-055C-901C-35FD-EED8E1E0D8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B78DCD-AF04-B36D-201E-2DB937EDFD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A20D2F-9048-7C48-97E7-1895E384C6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71642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72ECFFD-9F43-5C90-BB8D-B04EA15E6F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2D5CF12-46DD-1E6C-5F9D-6FB8E8D109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FA08DC9-E33C-766F-094A-D766B44EFAE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ADAF9CB-D402-B745-B461-E89D8DD9995E}" type="datetimeFigureOut">
              <a:rPr lang="en-US" smtClean="0"/>
              <a:t>8/9/2023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3B68FB-F0EC-E97B-9D5B-F3F64640AEF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40EA04F-DC28-A1CD-542E-0EC1336B853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DA20D2F-9048-7C48-97E7-1895E384C6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12039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sv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F3E416D2-D994-4F7A-8F62-B28B11BEBA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pic>
        <p:nvPicPr>
          <p:cNvPr id="14" name="Picture 13" descr="A 3D pattern of ring shapes connected by lines">
            <a:extLst>
              <a:ext uri="{FF2B5EF4-FFF2-40B4-BE49-F238E27FC236}">
                <a16:creationId xmlns:a16="http://schemas.microsoft.com/office/drawing/2014/main" id="{D88DBC32-6D17-C286-2EEC-92A40D336CA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25"/>
          <a:stretch/>
        </p:blipFill>
        <p:spPr>
          <a:xfrm>
            <a:off x="1524" y="10"/>
            <a:ext cx="12188952" cy="6857990"/>
          </a:xfrm>
          <a:prstGeom prst="rect">
            <a:avLst/>
          </a:prstGeom>
        </p:spPr>
      </p:pic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FB27C166-470E-467E-9E9E-E235EEF3C0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824691" y="0"/>
            <a:ext cx="7365784" cy="6858000"/>
          </a:xfrm>
          <a:custGeom>
            <a:avLst/>
            <a:gdLst>
              <a:gd name="connsiteX0" fmla="*/ 5742761 w 7365784"/>
              <a:gd name="connsiteY0" fmla="*/ 0 h 6858000"/>
              <a:gd name="connsiteX1" fmla="*/ 3076369 w 7365784"/>
              <a:gd name="connsiteY1" fmla="*/ 0 h 6858000"/>
              <a:gd name="connsiteX2" fmla="*/ 1949196 w 7365784"/>
              <a:gd name="connsiteY2" fmla="*/ 0 h 6858000"/>
              <a:gd name="connsiteX3" fmla="*/ 1583228 w 7365784"/>
              <a:gd name="connsiteY3" fmla="*/ 0 h 6858000"/>
              <a:gd name="connsiteX4" fmla="*/ 1457787 w 7365784"/>
              <a:gd name="connsiteY4" fmla="*/ 0 h 6858000"/>
              <a:gd name="connsiteX5" fmla="*/ 1445578 w 7365784"/>
              <a:gd name="connsiteY5" fmla="*/ 0 h 6858000"/>
              <a:gd name="connsiteX6" fmla="*/ 571708 w 7365784"/>
              <a:gd name="connsiteY6" fmla="*/ 0 h 6858000"/>
              <a:gd name="connsiteX7" fmla="*/ 237757 w 7365784"/>
              <a:gd name="connsiteY7" fmla="*/ 0 h 6858000"/>
              <a:gd name="connsiteX8" fmla="*/ 205161 w 7365784"/>
              <a:gd name="connsiteY8" fmla="*/ 0 h 6858000"/>
              <a:gd name="connsiteX9" fmla="*/ 0 w 7365784"/>
              <a:gd name="connsiteY9" fmla="*/ 0 h 6858000"/>
              <a:gd name="connsiteX10" fmla="*/ 0 w 7365784"/>
              <a:gd name="connsiteY10" fmla="*/ 6858000 h 6858000"/>
              <a:gd name="connsiteX11" fmla="*/ 205161 w 7365784"/>
              <a:gd name="connsiteY11" fmla="*/ 6858000 h 6858000"/>
              <a:gd name="connsiteX12" fmla="*/ 237757 w 7365784"/>
              <a:gd name="connsiteY12" fmla="*/ 6858000 h 6858000"/>
              <a:gd name="connsiteX13" fmla="*/ 571708 w 7365784"/>
              <a:gd name="connsiteY13" fmla="*/ 6858000 h 6858000"/>
              <a:gd name="connsiteX14" fmla="*/ 1274834 w 7365784"/>
              <a:gd name="connsiteY14" fmla="*/ 6858000 h 6858000"/>
              <a:gd name="connsiteX15" fmla="*/ 1445578 w 7365784"/>
              <a:gd name="connsiteY15" fmla="*/ 6858000 h 6858000"/>
              <a:gd name="connsiteX16" fmla="*/ 1457787 w 7365784"/>
              <a:gd name="connsiteY16" fmla="*/ 6858000 h 6858000"/>
              <a:gd name="connsiteX17" fmla="*/ 1949196 w 7365784"/>
              <a:gd name="connsiteY17" fmla="*/ 6858000 h 6858000"/>
              <a:gd name="connsiteX18" fmla="*/ 3076369 w 7365784"/>
              <a:gd name="connsiteY18" fmla="*/ 6858000 h 6858000"/>
              <a:gd name="connsiteX19" fmla="*/ 4863030 w 7365784"/>
              <a:gd name="connsiteY19" fmla="*/ 6858000 h 6858000"/>
              <a:gd name="connsiteX20" fmla="*/ 4974786 w 7365784"/>
              <a:gd name="connsiteY20" fmla="*/ 6780599 h 6858000"/>
              <a:gd name="connsiteX21" fmla="*/ 5491434 w 7365784"/>
              <a:gd name="connsiteY21" fmla="*/ 6374814 h 6858000"/>
              <a:gd name="connsiteX22" fmla="*/ 7365784 w 7365784"/>
              <a:gd name="connsiteY22" fmla="*/ 3621656 h 6858000"/>
              <a:gd name="connsiteX23" fmla="*/ 5764885 w 7365784"/>
              <a:gd name="connsiteY23" fmla="*/ 14997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</a:cxnLst>
            <a:rect l="l" t="t" r="r" b="b"/>
            <a:pathLst>
              <a:path w="7365784" h="6858000">
                <a:moveTo>
                  <a:pt x="5742761" y="0"/>
                </a:moveTo>
                <a:lnTo>
                  <a:pt x="3076369" y="0"/>
                </a:lnTo>
                <a:lnTo>
                  <a:pt x="1949196" y="0"/>
                </a:lnTo>
                <a:lnTo>
                  <a:pt x="1583228" y="0"/>
                </a:lnTo>
                <a:lnTo>
                  <a:pt x="1457787" y="0"/>
                </a:lnTo>
                <a:lnTo>
                  <a:pt x="1445578" y="0"/>
                </a:lnTo>
                <a:lnTo>
                  <a:pt x="571708" y="0"/>
                </a:lnTo>
                <a:lnTo>
                  <a:pt x="237757" y="0"/>
                </a:lnTo>
                <a:lnTo>
                  <a:pt x="205161" y="0"/>
                </a:lnTo>
                <a:lnTo>
                  <a:pt x="0" y="0"/>
                </a:lnTo>
                <a:lnTo>
                  <a:pt x="0" y="6858000"/>
                </a:lnTo>
                <a:lnTo>
                  <a:pt x="205161" y="6858000"/>
                </a:lnTo>
                <a:lnTo>
                  <a:pt x="237757" y="6858000"/>
                </a:lnTo>
                <a:lnTo>
                  <a:pt x="571708" y="6858000"/>
                </a:lnTo>
                <a:lnTo>
                  <a:pt x="1274834" y="6858000"/>
                </a:lnTo>
                <a:lnTo>
                  <a:pt x="1445578" y="6858000"/>
                </a:lnTo>
                <a:lnTo>
                  <a:pt x="1457787" y="6858000"/>
                </a:lnTo>
                <a:lnTo>
                  <a:pt x="1949196" y="6858000"/>
                </a:lnTo>
                <a:lnTo>
                  <a:pt x="3076369" y="6858000"/>
                </a:lnTo>
                <a:lnTo>
                  <a:pt x="4863030" y="6858000"/>
                </a:lnTo>
                <a:lnTo>
                  <a:pt x="4974786" y="6780599"/>
                </a:lnTo>
                <a:cubicBezTo>
                  <a:pt x="5148604" y="6653108"/>
                  <a:pt x="5319231" y="6515397"/>
                  <a:pt x="5491434" y="6374814"/>
                </a:cubicBezTo>
                <a:cubicBezTo>
                  <a:pt x="6437059" y="5602839"/>
                  <a:pt x="7365784" y="4969131"/>
                  <a:pt x="7365784" y="3621656"/>
                </a:cubicBezTo>
                <a:cubicBezTo>
                  <a:pt x="7365784" y="2093192"/>
                  <a:pt x="6792048" y="754641"/>
                  <a:pt x="5764885" y="14997"/>
                </a:cubicBezTo>
                <a:close/>
              </a:path>
            </a:pathLst>
          </a:custGeom>
          <a:solidFill>
            <a:srgbClr val="FFFFFF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673636C8-1392-483A-8A7A-CA259E806C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983671" y="0"/>
            <a:ext cx="7208329" cy="6858000"/>
          </a:xfrm>
          <a:custGeom>
            <a:avLst/>
            <a:gdLst>
              <a:gd name="connsiteX0" fmla="*/ 5585306 w 7208329"/>
              <a:gd name="connsiteY0" fmla="*/ 0 h 6858000"/>
              <a:gd name="connsiteX1" fmla="*/ 2918914 w 7208329"/>
              <a:gd name="connsiteY1" fmla="*/ 0 h 6858000"/>
              <a:gd name="connsiteX2" fmla="*/ 1592911 w 7208329"/>
              <a:gd name="connsiteY2" fmla="*/ 0 h 6858000"/>
              <a:gd name="connsiteX3" fmla="*/ 1425773 w 7208329"/>
              <a:gd name="connsiteY3" fmla="*/ 0 h 6858000"/>
              <a:gd name="connsiteX4" fmla="*/ 1300332 w 7208329"/>
              <a:gd name="connsiteY4" fmla="*/ 0 h 6858000"/>
              <a:gd name="connsiteX5" fmla="*/ 1288123 w 7208329"/>
              <a:gd name="connsiteY5" fmla="*/ 0 h 6858000"/>
              <a:gd name="connsiteX6" fmla="*/ 414253 w 7208329"/>
              <a:gd name="connsiteY6" fmla="*/ 0 h 6858000"/>
              <a:gd name="connsiteX7" fmla="*/ 80302 w 7208329"/>
              <a:gd name="connsiteY7" fmla="*/ 0 h 6858000"/>
              <a:gd name="connsiteX8" fmla="*/ 47706 w 7208329"/>
              <a:gd name="connsiteY8" fmla="*/ 0 h 6858000"/>
              <a:gd name="connsiteX9" fmla="*/ 0 w 7208329"/>
              <a:gd name="connsiteY9" fmla="*/ 0 h 6858000"/>
              <a:gd name="connsiteX10" fmla="*/ 0 w 7208329"/>
              <a:gd name="connsiteY10" fmla="*/ 6858000 h 6858000"/>
              <a:gd name="connsiteX11" fmla="*/ 47706 w 7208329"/>
              <a:gd name="connsiteY11" fmla="*/ 6858000 h 6858000"/>
              <a:gd name="connsiteX12" fmla="*/ 80302 w 7208329"/>
              <a:gd name="connsiteY12" fmla="*/ 6858000 h 6858000"/>
              <a:gd name="connsiteX13" fmla="*/ 414253 w 7208329"/>
              <a:gd name="connsiteY13" fmla="*/ 6858000 h 6858000"/>
              <a:gd name="connsiteX14" fmla="*/ 1117379 w 7208329"/>
              <a:gd name="connsiteY14" fmla="*/ 6858000 h 6858000"/>
              <a:gd name="connsiteX15" fmla="*/ 1288123 w 7208329"/>
              <a:gd name="connsiteY15" fmla="*/ 6858000 h 6858000"/>
              <a:gd name="connsiteX16" fmla="*/ 1300332 w 7208329"/>
              <a:gd name="connsiteY16" fmla="*/ 6858000 h 6858000"/>
              <a:gd name="connsiteX17" fmla="*/ 1592911 w 7208329"/>
              <a:gd name="connsiteY17" fmla="*/ 6858000 h 6858000"/>
              <a:gd name="connsiteX18" fmla="*/ 2918914 w 7208329"/>
              <a:gd name="connsiteY18" fmla="*/ 6858000 h 6858000"/>
              <a:gd name="connsiteX19" fmla="*/ 4705575 w 7208329"/>
              <a:gd name="connsiteY19" fmla="*/ 6858000 h 6858000"/>
              <a:gd name="connsiteX20" fmla="*/ 4817331 w 7208329"/>
              <a:gd name="connsiteY20" fmla="*/ 6780599 h 6858000"/>
              <a:gd name="connsiteX21" fmla="*/ 5333979 w 7208329"/>
              <a:gd name="connsiteY21" fmla="*/ 6374814 h 6858000"/>
              <a:gd name="connsiteX22" fmla="*/ 7208329 w 7208329"/>
              <a:gd name="connsiteY22" fmla="*/ 3621656 h 6858000"/>
              <a:gd name="connsiteX23" fmla="*/ 5607430 w 7208329"/>
              <a:gd name="connsiteY23" fmla="*/ 14997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</a:cxnLst>
            <a:rect l="l" t="t" r="r" b="b"/>
            <a:pathLst>
              <a:path w="7208329" h="6858000">
                <a:moveTo>
                  <a:pt x="5585306" y="0"/>
                </a:moveTo>
                <a:lnTo>
                  <a:pt x="2918914" y="0"/>
                </a:lnTo>
                <a:lnTo>
                  <a:pt x="1592911" y="0"/>
                </a:lnTo>
                <a:lnTo>
                  <a:pt x="1425773" y="0"/>
                </a:lnTo>
                <a:lnTo>
                  <a:pt x="1300332" y="0"/>
                </a:lnTo>
                <a:lnTo>
                  <a:pt x="1288123" y="0"/>
                </a:lnTo>
                <a:lnTo>
                  <a:pt x="414253" y="0"/>
                </a:lnTo>
                <a:lnTo>
                  <a:pt x="80302" y="0"/>
                </a:lnTo>
                <a:lnTo>
                  <a:pt x="47706" y="0"/>
                </a:lnTo>
                <a:lnTo>
                  <a:pt x="0" y="0"/>
                </a:lnTo>
                <a:lnTo>
                  <a:pt x="0" y="6858000"/>
                </a:lnTo>
                <a:lnTo>
                  <a:pt x="47706" y="6858000"/>
                </a:lnTo>
                <a:lnTo>
                  <a:pt x="80302" y="6858000"/>
                </a:lnTo>
                <a:lnTo>
                  <a:pt x="414253" y="6858000"/>
                </a:lnTo>
                <a:lnTo>
                  <a:pt x="1117379" y="6858000"/>
                </a:lnTo>
                <a:lnTo>
                  <a:pt x="1288123" y="6858000"/>
                </a:lnTo>
                <a:lnTo>
                  <a:pt x="1300332" y="6858000"/>
                </a:lnTo>
                <a:lnTo>
                  <a:pt x="1592911" y="6858000"/>
                </a:lnTo>
                <a:lnTo>
                  <a:pt x="2918914" y="6858000"/>
                </a:lnTo>
                <a:lnTo>
                  <a:pt x="4705575" y="6858000"/>
                </a:lnTo>
                <a:lnTo>
                  <a:pt x="4817331" y="6780599"/>
                </a:lnTo>
                <a:cubicBezTo>
                  <a:pt x="4991149" y="6653108"/>
                  <a:pt x="5161776" y="6515397"/>
                  <a:pt x="5333979" y="6374814"/>
                </a:cubicBezTo>
                <a:cubicBezTo>
                  <a:pt x="6279604" y="5602839"/>
                  <a:pt x="7208329" y="4969131"/>
                  <a:pt x="7208329" y="3621656"/>
                </a:cubicBezTo>
                <a:cubicBezTo>
                  <a:pt x="7208329" y="2093192"/>
                  <a:pt x="6634593" y="754641"/>
                  <a:pt x="5607430" y="14997"/>
                </a:cubicBezTo>
                <a:close/>
              </a:path>
            </a:pathLst>
          </a:custGeom>
          <a:solidFill>
            <a:schemeClr val="bg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7539A79B-DFBA-4781-B0DE-4044B07226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611396" y="0"/>
            <a:ext cx="2529723" cy="6858000"/>
          </a:xfrm>
          <a:custGeom>
            <a:avLst/>
            <a:gdLst>
              <a:gd name="connsiteX0" fmla="*/ 1258269 w 2529723"/>
              <a:gd name="connsiteY0" fmla="*/ 0 h 6858000"/>
              <a:gd name="connsiteX1" fmla="*/ 1275627 w 2529723"/>
              <a:gd name="connsiteY1" fmla="*/ 0 h 6858000"/>
              <a:gd name="connsiteX2" fmla="*/ 1302560 w 2529723"/>
              <a:gd name="connsiteY2" fmla="*/ 24338 h 6858000"/>
              <a:gd name="connsiteX3" fmla="*/ 2522825 w 2529723"/>
              <a:gd name="connsiteY3" fmla="*/ 3678515 h 6858000"/>
              <a:gd name="connsiteX4" fmla="*/ 557500 w 2529723"/>
              <a:gd name="connsiteY4" fmla="*/ 6451411 h 6858000"/>
              <a:gd name="connsiteX5" fmla="*/ 32482 w 2529723"/>
              <a:gd name="connsiteY5" fmla="*/ 6849373 h 6858000"/>
              <a:gd name="connsiteX6" fmla="*/ 19531 w 2529723"/>
              <a:gd name="connsiteY6" fmla="*/ 6858000 h 6858000"/>
              <a:gd name="connsiteX7" fmla="*/ 0 w 2529723"/>
              <a:gd name="connsiteY7" fmla="*/ 6858000 h 6858000"/>
              <a:gd name="connsiteX8" fmla="*/ 14202 w 2529723"/>
              <a:gd name="connsiteY8" fmla="*/ 6848540 h 6858000"/>
              <a:gd name="connsiteX9" fmla="*/ 539221 w 2529723"/>
              <a:gd name="connsiteY9" fmla="*/ 6450578 h 6858000"/>
              <a:gd name="connsiteX10" fmla="*/ 2504546 w 2529723"/>
              <a:gd name="connsiteY10" fmla="*/ 3677682 h 6858000"/>
              <a:gd name="connsiteX11" fmla="*/ 1284280 w 2529723"/>
              <a:gd name="connsiteY11" fmla="*/ 23504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529723" h="6858000">
                <a:moveTo>
                  <a:pt x="1258269" y="0"/>
                </a:moveTo>
                <a:lnTo>
                  <a:pt x="1275627" y="0"/>
                </a:lnTo>
                <a:lnTo>
                  <a:pt x="1302560" y="24338"/>
                </a:lnTo>
                <a:cubicBezTo>
                  <a:pt x="2156831" y="855667"/>
                  <a:pt x="2590622" y="2191755"/>
                  <a:pt x="2522825" y="3678515"/>
                </a:cubicBezTo>
                <a:cubicBezTo>
                  <a:pt x="2459072" y="5076606"/>
                  <a:pt x="1519830" y="5692656"/>
                  <a:pt x="557500" y="6451411"/>
                </a:cubicBezTo>
                <a:cubicBezTo>
                  <a:pt x="382255" y="6589587"/>
                  <a:pt x="208689" y="6724853"/>
                  <a:pt x="32482" y="6849373"/>
                </a:cubicBezTo>
                <a:lnTo>
                  <a:pt x="19531" y="6858000"/>
                </a:lnTo>
                <a:lnTo>
                  <a:pt x="0" y="6858000"/>
                </a:lnTo>
                <a:lnTo>
                  <a:pt x="14202" y="6848540"/>
                </a:lnTo>
                <a:cubicBezTo>
                  <a:pt x="190409" y="6724020"/>
                  <a:pt x="363976" y="6588754"/>
                  <a:pt x="539221" y="6450578"/>
                </a:cubicBezTo>
                <a:cubicBezTo>
                  <a:pt x="1501550" y="5691822"/>
                  <a:pt x="2440792" y="5075773"/>
                  <a:pt x="2504546" y="3677682"/>
                </a:cubicBezTo>
                <a:cubicBezTo>
                  <a:pt x="2572343" y="2190921"/>
                  <a:pt x="2138551" y="854834"/>
                  <a:pt x="1284280" y="23504"/>
                </a:cubicBezTo>
                <a:close/>
              </a:path>
            </a:pathLst>
          </a:custGeom>
          <a:solidFill>
            <a:srgbClr val="FFFFFF">
              <a:alpha val="7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EDF9F14-B9A9-7275-022C-0713C3B28C0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09037" y="175098"/>
            <a:ext cx="6482963" cy="4301486"/>
          </a:xfrm>
        </p:spPr>
        <p:txBody>
          <a:bodyPr>
            <a:normAutofit/>
          </a:bodyPr>
          <a:lstStyle/>
          <a:p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DATA-DRIVEN INSIGHTS: EXPLORING OPPORTUNITY/ CHALLENGE IN THE INFORMATION AND CULTURAL INDUSTRY</a:t>
            </a:r>
            <a:br>
              <a:rPr lang="en-CA" sz="2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29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4AE0793-2E78-9685-1E1C-B2D0E70EB2E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623435" y="4534232"/>
            <a:ext cx="5050791" cy="1812896"/>
          </a:xfrm>
        </p:spPr>
        <p:txBody>
          <a:bodyPr>
            <a:normAutofit fontScale="47500" lnSpcReduction="20000"/>
          </a:bodyPr>
          <a:lstStyle/>
          <a:p>
            <a:r>
              <a:rPr lang="en-US" sz="62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Submitted By(Group 2):</a:t>
            </a:r>
          </a:p>
          <a:p>
            <a:r>
              <a:rPr lang="en-US" sz="6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Ashweeni Karmacharya</a:t>
            </a:r>
          </a:p>
          <a:p>
            <a:r>
              <a:rPr lang="en-US" sz="6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Bikesh Man </a:t>
            </a:r>
            <a:r>
              <a:rPr lang="en-US" sz="6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Chipalu</a:t>
            </a:r>
            <a:endParaRPr lang="en-US" sz="6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6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Saroj </a:t>
            </a:r>
            <a:r>
              <a:rPr lang="en-US" sz="6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Dhaubanja</a:t>
            </a:r>
            <a:endParaRPr lang="en-CA" sz="6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658638D-79FA-EE89-B0B6-B5EE629A94E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9768"/>
            <a:ext cx="4893013" cy="222885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33630368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7" name="Rectangle 26">
            <a:extLst>
              <a:ext uri="{FF2B5EF4-FFF2-40B4-BE49-F238E27FC236}">
                <a16:creationId xmlns:a16="http://schemas.microsoft.com/office/drawing/2014/main" id="{04C21BAE-6866-4C7A-A7EC-C1B2E572D5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3" name="Picture 22" descr="Desk with productivity items">
            <a:extLst>
              <a:ext uri="{FF2B5EF4-FFF2-40B4-BE49-F238E27FC236}">
                <a16:creationId xmlns:a16="http://schemas.microsoft.com/office/drawing/2014/main" id="{C4F3B3D9-F395-2D47-23E2-114B90B2417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15730"/>
          <a:stretch/>
        </p:blipFill>
        <p:spPr>
          <a:xfrm>
            <a:off x="1" y="1"/>
            <a:ext cx="12192000" cy="6857999"/>
          </a:xfrm>
          <a:prstGeom prst="rect">
            <a:avLst/>
          </a:prstGeom>
        </p:spPr>
      </p:pic>
      <p:sp useBgFill="1">
        <p:nvSpPr>
          <p:cNvPr id="29" name="Freeform: Shape 28">
            <a:extLst>
              <a:ext uri="{FF2B5EF4-FFF2-40B4-BE49-F238E27FC236}">
                <a16:creationId xmlns:a16="http://schemas.microsoft.com/office/drawing/2014/main" id="{7E7D0C94-08B4-48AE-8813-CC4D60294F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23899" y="609600"/>
            <a:ext cx="5372101" cy="5513767"/>
          </a:xfrm>
          <a:custGeom>
            <a:avLst/>
            <a:gdLst>
              <a:gd name="connsiteX0" fmla="*/ 0 w 5372101"/>
              <a:gd name="connsiteY0" fmla="*/ 0 h 5513767"/>
              <a:gd name="connsiteX1" fmla="*/ 5372101 w 5372101"/>
              <a:gd name="connsiteY1" fmla="*/ 0 h 5513767"/>
              <a:gd name="connsiteX2" fmla="*/ 5372101 w 5372101"/>
              <a:gd name="connsiteY2" fmla="*/ 5513767 h 5513767"/>
              <a:gd name="connsiteX3" fmla="*/ 5363126 w 5372101"/>
              <a:gd name="connsiteY3" fmla="*/ 5512835 h 5513767"/>
              <a:gd name="connsiteX4" fmla="*/ 5316714 w 5372101"/>
              <a:gd name="connsiteY4" fmla="*/ 5491247 h 5513767"/>
              <a:gd name="connsiteX5" fmla="*/ 5198331 w 5372101"/>
              <a:gd name="connsiteY5" fmla="*/ 5470092 h 5513767"/>
              <a:gd name="connsiteX6" fmla="*/ 5150428 w 5372101"/>
              <a:gd name="connsiteY6" fmla="*/ 5472506 h 5513767"/>
              <a:gd name="connsiteX7" fmla="*/ 5085506 w 5372101"/>
              <a:gd name="connsiteY7" fmla="*/ 5468851 h 5513767"/>
              <a:gd name="connsiteX8" fmla="*/ 4968663 w 5372101"/>
              <a:gd name="connsiteY8" fmla="*/ 5470487 h 5513767"/>
              <a:gd name="connsiteX9" fmla="*/ 4815623 w 5372101"/>
              <a:gd name="connsiteY9" fmla="*/ 5458622 h 5513767"/>
              <a:gd name="connsiteX10" fmla="*/ 4716679 w 5372101"/>
              <a:gd name="connsiteY10" fmla="*/ 5405365 h 5513767"/>
              <a:gd name="connsiteX11" fmla="*/ 4704891 w 5372101"/>
              <a:gd name="connsiteY11" fmla="*/ 5411529 h 5513767"/>
              <a:gd name="connsiteX12" fmla="*/ 4630496 w 5372101"/>
              <a:gd name="connsiteY12" fmla="*/ 5396532 h 5513767"/>
              <a:gd name="connsiteX13" fmla="*/ 4506964 w 5372101"/>
              <a:gd name="connsiteY13" fmla="*/ 5396685 h 5513767"/>
              <a:gd name="connsiteX14" fmla="*/ 4427135 w 5372101"/>
              <a:gd name="connsiteY14" fmla="*/ 5358585 h 5513767"/>
              <a:gd name="connsiteX15" fmla="*/ 4028338 w 5372101"/>
              <a:gd name="connsiteY15" fmla="*/ 5313494 h 5513767"/>
              <a:gd name="connsiteX16" fmla="*/ 4015367 w 5372101"/>
              <a:gd name="connsiteY16" fmla="*/ 5320766 h 5513767"/>
              <a:gd name="connsiteX17" fmla="*/ 4002837 w 5372101"/>
              <a:gd name="connsiteY17" fmla="*/ 5322294 h 5513767"/>
              <a:gd name="connsiteX18" fmla="*/ 3997650 w 5372101"/>
              <a:gd name="connsiteY18" fmla="*/ 5329513 h 5513767"/>
              <a:gd name="connsiteX19" fmla="*/ 3991991 w 5372101"/>
              <a:gd name="connsiteY19" fmla="*/ 5331908 h 5513767"/>
              <a:gd name="connsiteX20" fmla="*/ 3925210 w 5372101"/>
              <a:gd name="connsiteY20" fmla="*/ 5319395 h 5513767"/>
              <a:gd name="connsiteX21" fmla="*/ 3837014 w 5372101"/>
              <a:gd name="connsiteY21" fmla="*/ 5289023 h 5513767"/>
              <a:gd name="connsiteX22" fmla="*/ 3798765 w 5372101"/>
              <a:gd name="connsiteY22" fmla="*/ 5299431 h 5513767"/>
              <a:gd name="connsiteX23" fmla="*/ 3792144 w 5372101"/>
              <a:gd name="connsiteY23" fmla="*/ 5301616 h 5513767"/>
              <a:gd name="connsiteX24" fmla="*/ 3766249 w 5372101"/>
              <a:gd name="connsiteY24" fmla="*/ 5301869 h 5513767"/>
              <a:gd name="connsiteX25" fmla="*/ 3718651 w 5372101"/>
              <a:gd name="connsiteY25" fmla="*/ 5320541 h 5513767"/>
              <a:gd name="connsiteX26" fmla="*/ 3671207 w 5372101"/>
              <a:gd name="connsiteY26" fmla="*/ 5318046 h 5513767"/>
              <a:gd name="connsiteX27" fmla="*/ 3446863 w 5372101"/>
              <a:gd name="connsiteY27" fmla="*/ 5294348 h 5513767"/>
              <a:gd name="connsiteX28" fmla="*/ 3312000 w 5372101"/>
              <a:gd name="connsiteY28" fmla="*/ 5286923 h 5513767"/>
              <a:gd name="connsiteX29" fmla="*/ 3259756 w 5372101"/>
              <a:gd name="connsiteY29" fmla="*/ 5294712 h 5513767"/>
              <a:gd name="connsiteX30" fmla="*/ 3187481 w 5372101"/>
              <a:gd name="connsiteY30" fmla="*/ 5298457 h 5513767"/>
              <a:gd name="connsiteX31" fmla="*/ 3124115 w 5372101"/>
              <a:gd name="connsiteY31" fmla="*/ 5294626 h 5513767"/>
              <a:gd name="connsiteX32" fmla="*/ 3099907 w 5372101"/>
              <a:gd name="connsiteY32" fmla="*/ 5302443 h 5513767"/>
              <a:gd name="connsiteX33" fmla="*/ 3017494 w 5372101"/>
              <a:gd name="connsiteY33" fmla="*/ 5301439 h 5513767"/>
              <a:gd name="connsiteX34" fmla="*/ 3010848 w 5372101"/>
              <a:gd name="connsiteY34" fmla="*/ 5307225 h 5513767"/>
              <a:gd name="connsiteX35" fmla="*/ 2994286 w 5372101"/>
              <a:gd name="connsiteY35" fmla="*/ 5309060 h 5513767"/>
              <a:gd name="connsiteX36" fmla="*/ 2988160 w 5372101"/>
              <a:gd name="connsiteY36" fmla="*/ 5310041 h 5513767"/>
              <a:gd name="connsiteX37" fmla="*/ 2984260 w 5372101"/>
              <a:gd name="connsiteY37" fmla="*/ 5307528 h 5513767"/>
              <a:gd name="connsiteX38" fmla="*/ 2979127 w 5372101"/>
              <a:gd name="connsiteY38" fmla="*/ 5308389 h 5513767"/>
              <a:gd name="connsiteX39" fmla="*/ 2978660 w 5372101"/>
              <a:gd name="connsiteY39" fmla="*/ 5311563 h 5513767"/>
              <a:gd name="connsiteX40" fmla="*/ 2946326 w 5372101"/>
              <a:gd name="connsiteY40" fmla="*/ 5316745 h 5513767"/>
              <a:gd name="connsiteX41" fmla="*/ 2713134 w 5372101"/>
              <a:gd name="connsiteY41" fmla="*/ 5331381 h 5513767"/>
              <a:gd name="connsiteX42" fmla="*/ 2352072 w 5372101"/>
              <a:gd name="connsiteY42" fmla="*/ 5342761 h 5513767"/>
              <a:gd name="connsiteX43" fmla="*/ 2260922 w 5372101"/>
              <a:gd name="connsiteY43" fmla="*/ 5328122 h 5513767"/>
              <a:gd name="connsiteX44" fmla="*/ 2178497 w 5372101"/>
              <a:gd name="connsiteY44" fmla="*/ 5351065 h 5513767"/>
              <a:gd name="connsiteX45" fmla="*/ 2034408 w 5372101"/>
              <a:gd name="connsiteY45" fmla="*/ 5307958 h 5513767"/>
              <a:gd name="connsiteX46" fmla="*/ 1831505 w 5372101"/>
              <a:gd name="connsiteY46" fmla="*/ 5312691 h 5513767"/>
              <a:gd name="connsiteX47" fmla="*/ 1710387 w 5372101"/>
              <a:gd name="connsiteY47" fmla="*/ 5308705 h 5513767"/>
              <a:gd name="connsiteX48" fmla="*/ 1664816 w 5372101"/>
              <a:gd name="connsiteY48" fmla="*/ 5296479 h 5513767"/>
              <a:gd name="connsiteX49" fmla="*/ 1600883 w 5372101"/>
              <a:gd name="connsiteY49" fmla="*/ 5286607 h 5513767"/>
              <a:gd name="connsiteX50" fmla="*/ 1488397 w 5372101"/>
              <a:gd name="connsiteY50" fmla="*/ 5260898 h 5513767"/>
              <a:gd name="connsiteX51" fmla="*/ 1336670 w 5372101"/>
              <a:gd name="connsiteY51" fmla="*/ 5240770 h 5513767"/>
              <a:gd name="connsiteX52" fmla="*/ 1224297 w 5372101"/>
              <a:gd name="connsiteY52" fmla="*/ 5271845 h 5513767"/>
              <a:gd name="connsiteX53" fmla="*/ 1214830 w 5372101"/>
              <a:gd name="connsiteY53" fmla="*/ 5263450 h 5513767"/>
              <a:gd name="connsiteX54" fmla="*/ 1138181 w 5372101"/>
              <a:gd name="connsiteY54" fmla="*/ 5262590 h 5513767"/>
              <a:gd name="connsiteX55" fmla="*/ 943575 w 5372101"/>
              <a:gd name="connsiteY55" fmla="*/ 5290808 h 5513767"/>
              <a:gd name="connsiteX56" fmla="*/ 529813 w 5372101"/>
              <a:gd name="connsiteY56" fmla="*/ 5218555 h 5513767"/>
              <a:gd name="connsiteX57" fmla="*/ 519546 w 5372101"/>
              <a:gd name="connsiteY57" fmla="*/ 5208845 h 5513767"/>
              <a:gd name="connsiteX58" fmla="*/ 507906 w 5372101"/>
              <a:gd name="connsiteY58" fmla="*/ 5204779 h 5513767"/>
              <a:gd name="connsiteX59" fmla="*/ 505153 w 5372101"/>
              <a:gd name="connsiteY59" fmla="*/ 5196726 h 5513767"/>
              <a:gd name="connsiteX60" fmla="*/ 500429 w 5372101"/>
              <a:gd name="connsiteY60" fmla="*/ 5193241 h 5513767"/>
              <a:gd name="connsiteX61" fmla="*/ 431923 w 5372101"/>
              <a:gd name="connsiteY61" fmla="*/ 5191553 h 5513767"/>
              <a:gd name="connsiteX62" fmla="*/ 337115 w 5372101"/>
              <a:gd name="connsiteY62" fmla="*/ 5202714 h 5513767"/>
              <a:gd name="connsiteX63" fmla="*/ 303383 w 5372101"/>
              <a:gd name="connsiteY63" fmla="*/ 5184750 h 5513767"/>
              <a:gd name="connsiteX64" fmla="*/ 297664 w 5372101"/>
              <a:gd name="connsiteY64" fmla="*/ 5181269 h 5513767"/>
              <a:gd name="connsiteX65" fmla="*/ 272701 w 5372101"/>
              <a:gd name="connsiteY65" fmla="*/ 5175678 h 5513767"/>
              <a:gd name="connsiteX66" fmla="*/ 268242 w 5372101"/>
              <a:gd name="connsiteY66" fmla="*/ 5163678 h 5513767"/>
              <a:gd name="connsiteX67" fmla="*/ 232517 w 5372101"/>
              <a:gd name="connsiteY67" fmla="*/ 5147792 h 5513767"/>
              <a:gd name="connsiteX68" fmla="*/ 185851 w 5372101"/>
              <a:gd name="connsiteY68" fmla="*/ 5140408 h 5513767"/>
              <a:gd name="connsiteX69" fmla="*/ 20337 w 5372101"/>
              <a:gd name="connsiteY69" fmla="*/ 5113040 h 5513767"/>
              <a:gd name="connsiteX70" fmla="*/ 0 w 5372101"/>
              <a:gd name="connsiteY70" fmla="*/ 5112243 h 55137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</a:cxnLst>
            <a:rect l="l" t="t" r="r" b="b"/>
            <a:pathLst>
              <a:path w="5372101" h="5513767">
                <a:moveTo>
                  <a:pt x="0" y="0"/>
                </a:moveTo>
                <a:lnTo>
                  <a:pt x="5372101" y="0"/>
                </a:lnTo>
                <a:lnTo>
                  <a:pt x="5372101" y="5513767"/>
                </a:lnTo>
                <a:lnTo>
                  <a:pt x="5363126" y="5512835"/>
                </a:lnTo>
                <a:cubicBezTo>
                  <a:pt x="5345779" y="5509071"/>
                  <a:pt x="5329767" y="5502649"/>
                  <a:pt x="5316714" y="5491247"/>
                </a:cubicBezTo>
                <a:cubicBezTo>
                  <a:pt x="5295689" y="5478131"/>
                  <a:pt x="5219502" y="5459909"/>
                  <a:pt x="5198331" y="5470092"/>
                </a:cubicBezTo>
                <a:cubicBezTo>
                  <a:pt x="5181052" y="5469102"/>
                  <a:pt x="5165047" y="5459569"/>
                  <a:pt x="5150428" y="5472506"/>
                </a:cubicBezTo>
                <a:cubicBezTo>
                  <a:pt x="5129562" y="5487248"/>
                  <a:pt x="5088050" y="5445894"/>
                  <a:pt x="5085506" y="5468851"/>
                </a:cubicBezTo>
                <a:cubicBezTo>
                  <a:pt x="5055692" y="5440170"/>
                  <a:pt x="5006122" y="5469577"/>
                  <a:pt x="4968663" y="5470487"/>
                </a:cubicBezTo>
                <a:cubicBezTo>
                  <a:pt x="4947085" y="5444049"/>
                  <a:pt x="4889767" y="5472037"/>
                  <a:pt x="4815623" y="5458622"/>
                </a:cubicBezTo>
                <a:cubicBezTo>
                  <a:pt x="4792418" y="5428488"/>
                  <a:pt x="4765548" y="5449887"/>
                  <a:pt x="4716679" y="5405365"/>
                </a:cubicBezTo>
                <a:cubicBezTo>
                  <a:pt x="4713235" y="5407807"/>
                  <a:pt x="4709266" y="5409883"/>
                  <a:pt x="4704891" y="5411529"/>
                </a:cubicBezTo>
                <a:cubicBezTo>
                  <a:pt x="4679473" y="5421092"/>
                  <a:pt x="4646164" y="5414379"/>
                  <a:pt x="4630496" y="5396532"/>
                </a:cubicBezTo>
                <a:cubicBezTo>
                  <a:pt x="4590205" y="5365061"/>
                  <a:pt x="4548419" y="5412094"/>
                  <a:pt x="4506964" y="5396685"/>
                </a:cubicBezTo>
                <a:lnTo>
                  <a:pt x="4427135" y="5358585"/>
                </a:lnTo>
                <a:cubicBezTo>
                  <a:pt x="4319267" y="5308575"/>
                  <a:pt x="4152341" y="5340956"/>
                  <a:pt x="4028338" y="5313494"/>
                </a:cubicBezTo>
                <a:lnTo>
                  <a:pt x="4015367" y="5320766"/>
                </a:lnTo>
                <a:lnTo>
                  <a:pt x="4002837" y="5322294"/>
                </a:lnTo>
                <a:lnTo>
                  <a:pt x="3997650" y="5329513"/>
                </a:lnTo>
                <a:lnTo>
                  <a:pt x="3991991" y="5331908"/>
                </a:lnTo>
                <a:cubicBezTo>
                  <a:pt x="3969659" y="5338581"/>
                  <a:pt x="3978880" y="5316131"/>
                  <a:pt x="3925210" y="5319395"/>
                </a:cubicBezTo>
                <a:cubicBezTo>
                  <a:pt x="3947765" y="5277139"/>
                  <a:pt x="3837331" y="5338342"/>
                  <a:pt x="3837014" y="5289023"/>
                </a:cubicBezTo>
                <a:cubicBezTo>
                  <a:pt x="3824001" y="5291376"/>
                  <a:pt x="3811407" y="5295212"/>
                  <a:pt x="3798765" y="5299431"/>
                </a:cubicBezTo>
                <a:lnTo>
                  <a:pt x="3792144" y="5301616"/>
                </a:lnTo>
                <a:lnTo>
                  <a:pt x="3766249" y="5301869"/>
                </a:lnTo>
                <a:lnTo>
                  <a:pt x="3718651" y="5320541"/>
                </a:lnTo>
                <a:cubicBezTo>
                  <a:pt x="3703968" y="5321892"/>
                  <a:pt x="3688308" y="5321427"/>
                  <a:pt x="3671207" y="5318046"/>
                </a:cubicBezTo>
                <a:cubicBezTo>
                  <a:pt x="3616458" y="5288532"/>
                  <a:pt x="3514048" y="5333307"/>
                  <a:pt x="3446863" y="5294348"/>
                </a:cubicBezTo>
                <a:cubicBezTo>
                  <a:pt x="3420930" y="5283822"/>
                  <a:pt x="3333157" y="5274511"/>
                  <a:pt x="3312000" y="5286923"/>
                </a:cubicBezTo>
                <a:cubicBezTo>
                  <a:pt x="3292759" y="5287903"/>
                  <a:pt x="3273112" y="5280334"/>
                  <a:pt x="3259756" y="5294712"/>
                </a:cubicBezTo>
                <a:cubicBezTo>
                  <a:pt x="3239905" y="5311572"/>
                  <a:pt x="3185410" y="5275588"/>
                  <a:pt x="3187481" y="5298457"/>
                </a:cubicBezTo>
                <a:cubicBezTo>
                  <a:pt x="3168018" y="5286036"/>
                  <a:pt x="3146200" y="5288458"/>
                  <a:pt x="3124115" y="5294626"/>
                </a:cubicBezTo>
                <a:lnTo>
                  <a:pt x="3099907" y="5302443"/>
                </a:lnTo>
                <a:lnTo>
                  <a:pt x="3017494" y="5301439"/>
                </a:lnTo>
                <a:lnTo>
                  <a:pt x="3010848" y="5307225"/>
                </a:lnTo>
                <a:lnTo>
                  <a:pt x="2994286" y="5309060"/>
                </a:lnTo>
                <a:lnTo>
                  <a:pt x="2988160" y="5310041"/>
                </a:lnTo>
                <a:lnTo>
                  <a:pt x="2984260" y="5307528"/>
                </a:lnTo>
                <a:cubicBezTo>
                  <a:pt x="2981957" y="5306419"/>
                  <a:pt x="2980273" y="5306402"/>
                  <a:pt x="2979127" y="5308389"/>
                </a:cubicBezTo>
                <a:cubicBezTo>
                  <a:pt x="2978971" y="5309447"/>
                  <a:pt x="2978816" y="5310505"/>
                  <a:pt x="2978660" y="5311563"/>
                </a:cubicBezTo>
                <a:lnTo>
                  <a:pt x="2946326" y="5316745"/>
                </a:lnTo>
                <a:lnTo>
                  <a:pt x="2713134" y="5331381"/>
                </a:lnTo>
                <a:cubicBezTo>
                  <a:pt x="2610698" y="5372328"/>
                  <a:pt x="2466037" y="5325762"/>
                  <a:pt x="2352072" y="5342761"/>
                </a:cubicBezTo>
                <a:cubicBezTo>
                  <a:pt x="2293501" y="5293708"/>
                  <a:pt x="2324138" y="5338538"/>
                  <a:pt x="2260922" y="5328122"/>
                </a:cubicBezTo>
                <a:cubicBezTo>
                  <a:pt x="2275681" y="5372347"/>
                  <a:pt x="2185007" y="5301703"/>
                  <a:pt x="2178497" y="5351065"/>
                </a:cubicBezTo>
                <a:cubicBezTo>
                  <a:pt x="2133294" y="5337229"/>
                  <a:pt x="2097074" y="5300208"/>
                  <a:pt x="2034408" y="5307958"/>
                </a:cubicBezTo>
                <a:cubicBezTo>
                  <a:pt x="1981894" y="5332879"/>
                  <a:pt x="1896288" y="5279365"/>
                  <a:pt x="1831505" y="5312691"/>
                </a:cubicBezTo>
                <a:cubicBezTo>
                  <a:pt x="1807063" y="5321035"/>
                  <a:pt x="1727674" y="5322925"/>
                  <a:pt x="1710387" y="5308705"/>
                </a:cubicBezTo>
                <a:cubicBezTo>
                  <a:pt x="1693367" y="5306094"/>
                  <a:pt x="1674901" y="5312009"/>
                  <a:pt x="1664816" y="5296479"/>
                </a:cubicBezTo>
                <a:cubicBezTo>
                  <a:pt x="1649255" y="5277912"/>
                  <a:pt x="1596152" y="5309335"/>
                  <a:pt x="1600883" y="5286607"/>
                </a:cubicBezTo>
                <a:cubicBezTo>
                  <a:pt x="1563066" y="5308189"/>
                  <a:pt x="1524339" y="5269513"/>
                  <a:pt x="1488397" y="5260898"/>
                </a:cubicBezTo>
                <a:cubicBezTo>
                  <a:pt x="1459246" y="5282011"/>
                  <a:pt x="1412580" y="5243108"/>
                  <a:pt x="1336670" y="5240770"/>
                </a:cubicBezTo>
                <a:cubicBezTo>
                  <a:pt x="1304792" y="5265122"/>
                  <a:pt x="1285508" y="5238878"/>
                  <a:pt x="1224297" y="5271845"/>
                </a:cubicBezTo>
                <a:cubicBezTo>
                  <a:pt x="1221731" y="5268771"/>
                  <a:pt x="1218543" y="5265944"/>
                  <a:pt x="1214830" y="5263450"/>
                </a:cubicBezTo>
                <a:cubicBezTo>
                  <a:pt x="1193241" y="5248952"/>
                  <a:pt x="1158925" y="5248567"/>
                  <a:pt x="1138181" y="5262590"/>
                </a:cubicBezTo>
                <a:lnTo>
                  <a:pt x="943575" y="5290808"/>
                </a:lnTo>
                <a:cubicBezTo>
                  <a:pt x="823587" y="5316899"/>
                  <a:pt x="658340" y="5217603"/>
                  <a:pt x="529813" y="5218555"/>
                </a:cubicBezTo>
                <a:lnTo>
                  <a:pt x="519546" y="5208845"/>
                </a:lnTo>
                <a:lnTo>
                  <a:pt x="507906" y="5204779"/>
                </a:lnTo>
                <a:lnTo>
                  <a:pt x="505153" y="5196726"/>
                </a:lnTo>
                <a:lnTo>
                  <a:pt x="500429" y="5193241"/>
                </a:lnTo>
                <a:cubicBezTo>
                  <a:pt x="480923" y="5182176"/>
                  <a:pt x="482807" y="5205793"/>
                  <a:pt x="431923" y="5191553"/>
                </a:cubicBezTo>
                <a:cubicBezTo>
                  <a:pt x="440499" y="5237077"/>
                  <a:pt x="352872" y="5155083"/>
                  <a:pt x="337115" y="5202714"/>
                </a:cubicBezTo>
                <a:cubicBezTo>
                  <a:pt x="325265" y="5197752"/>
                  <a:pt x="314288" y="5191441"/>
                  <a:pt x="303383" y="5184750"/>
                </a:cubicBezTo>
                <a:lnTo>
                  <a:pt x="297664" y="5181269"/>
                </a:lnTo>
                <a:lnTo>
                  <a:pt x="272701" y="5175678"/>
                </a:lnTo>
                <a:lnTo>
                  <a:pt x="268242" y="5163678"/>
                </a:lnTo>
                <a:lnTo>
                  <a:pt x="232517" y="5147792"/>
                </a:lnTo>
                <a:cubicBezTo>
                  <a:pt x="218741" y="5143453"/>
                  <a:pt x="203450" y="5140668"/>
                  <a:pt x="185851" y="5140408"/>
                </a:cubicBezTo>
                <a:cubicBezTo>
                  <a:pt x="139207" y="5153337"/>
                  <a:pt x="79723" y="5120316"/>
                  <a:pt x="20337" y="5113040"/>
                </a:cubicBezTo>
                <a:lnTo>
                  <a:pt x="0" y="5112243"/>
                </a:lnTo>
                <a:close/>
              </a:path>
            </a:pathLst>
          </a:custGeom>
          <a:ln>
            <a:noFill/>
          </a:ln>
          <a:effectLst>
            <a:outerShdw blurRad="25400" dist="12700" dir="3000000" algn="tl" rotWithShape="0">
              <a:prstClr val="black">
                <a:alpha val="27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F0AF0DF-4266-F0FA-3215-51D6086CFC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7809" y="1071350"/>
            <a:ext cx="4775162" cy="1339382"/>
          </a:xfrm>
        </p:spPr>
        <p:txBody>
          <a:bodyPr>
            <a:normAutofit/>
          </a:bodyPr>
          <a:lstStyle/>
          <a:p>
            <a:pPr algn="ctr"/>
            <a:r>
              <a:rPr lang="en-US" sz="3600" b="1">
                <a:latin typeface="Times New Roman" panose="02020603050405020304" pitchFamily="18" charset="0"/>
                <a:cs typeface="Times New Roman" panose="02020603050405020304" pitchFamily="18" charset="0"/>
              </a:rPr>
              <a:t>AGENDA</a:t>
            </a:r>
          </a:p>
        </p:txBody>
      </p:sp>
      <p:sp>
        <p:nvSpPr>
          <p:cNvPr id="31" name="Rectangle 6">
            <a:extLst>
              <a:ext uri="{FF2B5EF4-FFF2-40B4-BE49-F238E27FC236}">
                <a16:creationId xmlns:a16="http://schemas.microsoft.com/office/drawing/2014/main" id="{F0C518C2-0AA4-470C-87B9-9CBF428FBA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564666" y="399531"/>
            <a:ext cx="1707751" cy="428984"/>
          </a:xfrm>
          <a:custGeom>
            <a:avLst/>
            <a:gdLst>
              <a:gd name="connsiteX0" fmla="*/ 0 w 2142503"/>
              <a:gd name="connsiteY0" fmla="*/ 0 h 571500"/>
              <a:gd name="connsiteX1" fmla="*/ 2142503 w 2142503"/>
              <a:gd name="connsiteY1" fmla="*/ 0 h 571500"/>
              <a:gd name="connsiteX2" fmla="*/ 2142503 w 2142503"/>
              <a:gd name="connsiteY2" fmla="*/ 571500 h 571500"/>
              <a:gd name="connsiteX3" fmla="*/ 0 w 2142503"/>
              <a:gd name="connsiteY3" fmla="*/ 571500 h 571500"/>
              <a:gd name="connsiteX4" fmla="*/ 0 w 2142503"/>
              <a:gd name="connsiteY4" fmla="*/ 0 h 571500"/>
              <a:gd name="connsiteX0" fmla="*/ 0 w 2142503"/>
              <a:gd name="connsiteY0" fmla="*/ 0 h 582145"/>
              <a:gd name="connsiteX1" fmla="*/ 2142503 w 2142503"/>
              <a:gd name="connsiteY1" fmla="*/ 0 h 582145"/>
              <a:gd name="connsiteX2" fmla="*/ 2142503 w 2142503"/>
              <a:gd name="connsiteY2" fmla="*/ 571500 h 582145"/>
              <a:gd name="connsiteX3" fmla="*/ 2050917 w 2142503"/>
              <a:gd name="connsiteY3" fmla="*/ 582088 h 582145"/>
              <a:gd name="connsiteX4" fmla="*/ 0 w 2142503"/>
              <a:gd name="connsiteY4" fmla="*/ 571500 h 582145"/>
              <a:gd name="connsiteX5" fmla="*/ 0 w 2142503"/>
              <a:gd name="connsiteY5" fmla="*/ 0 h 582145"/>
              <a:gd name="connsiteX0" fmla="*/ 0 w 2159832"/>
              <a:gd name="connsiteY0" fmla="*/ 0 h 582145"/>
              <a:gd name="connsiteX1" fmla="*/ 2142503 w 2159832"/>
              <a:gd name="connsiteY1" fmla="*/ 0 h 582145"/>
              <a:gd name="connsiteX2" fmla="*/ 2159829 w 2159832"/>
              <a:gd name="connsiteY2" fmla="*/ 96526 h 582145"/>
              <a:gd name="connsiteX3" fmla="*/ 2142503 w 2159832"/>
              <a:gd name="connsiteY3" fmla="*/ 571500 h 582145"/>
              <a:gd name="connsiteX4" fmla="*/ 2050917 w 2159832"/>
              <a:gd name="connsiteY4" fmla="*/ 582088 h 582145"/>
              <a:gd name="connsiteX5" fmla="*/ 0 w 2159832"/>
              <a:gd name="connsiteY5" fmla="*/ 571500 h 582145"/>
              <a:gd name="connsiteX6" fmla="*/ 0 w 2159832"/>
              <a:gd name="connsiteY6" fmla="*/ 0 h 582145"/>
              <a:gd name="connsiteX0" fmla="*/ 0 w 2159832"/>
              <a:gd name="connsiteY0" fmla="*/ 12386 h 594531"/>
              <a:gd name="connsiteX1" fmla="*/ 67826 w 2159832"/>
              <a:gd name="connsiteY1" fmla="*/ 0 h 594531"/>
              <a:gd name="connsiteX2" fmla="*/ 2142503 w 2159832"/>
              <a:gd name="connsiteY2" fmla="*/ 12386 h 594531"/>
              <a:gd name="connsiteX3" fmla="*/ 2159829 w 2159832"/>
              <a:gd name="connsiteY3" fmla="*/ 108912 h 594531"/>
              <a:gd name="connsiteX4" fmla="*/ 2142503 w 2159832"/>
              <a:gd name="connsiteY4" fmla="*/ 583886 h 594531"/>
              <a:gd name="connsiteX5" fmla="*/ 2050917 w 2159832"/>
              <a:gd name="connsiteY5" fmla="*/ 594474 h 594531"/>
              <a:gd name="connsiteX6" fmla="*/ 0 w 2159832"/>
              <a:gd name="connsiteY6" fmla="*/ 583886 h 594531"/>
              <a:gd name="connsiteX7" fmla="*/ 0 w 2159832"/>
              <a:gd name="connsiteY7" fmla="*/ 12386 h 594531"/>
              <a:gd name="connsiteX0" fmla="*/ 0 w 2168908"/>
              <a:gd name="connsiteY0" fmla="*/ 26000 h 594531"/>
              <a:gd name="connsiteX1" fmla="*/ 76902 w 2168908"/>
              <a:gd name="connsiteY1" fmla="*/ 0 h 594531"/>
              <a:gd name="connsiteX2" fmla="*/ 2151579 w 2168908"/>
              <a:gd name="connsiteY2" fmla="*/ 12386 h 594531"/>
              <a:gd name="connsiteX3" fmla="*/ 2168905 w 2168908"/>
              <a:gd name="connsiteY3" fmla="*/ 108912 h 594531"/>
              <a:gd name="connsiteX4" fmla="*/ 2151579 w 2168908"/>
              <a:gd name="connsiteY4" fmla="*/ 583886 h 594531"/>
              <a:gd name="connsiteX5" fmla="*/ 2059993 w 2168908"/>
              <a:gd name="connsiteY5" fmla="*/ 594474 h 594531"/>
              <a:gd name="connsiteX6" fmla="*/ 9076 w 2168908"/>
              <a:gd name="connsiteY6" fmla="*/ 583886 h 594531"/>
              <a:gd name="connsiteX7" fmla="*/ 0 w 2168908"/>
              <a:gd name="connsiteY7" fmla="*/ 26000 h 594531"/>
              <a:gd name="connsiteX0" fmla="*/ 5393 w 2174301"/>
              <a:gd name="connsiteY0" fmla="*/ 26000 h 594531"/>
              <a:gd name="connsiteX1" fmla="*/ 82295 w 2174301"/>
              <a:gd name="connsiteY1" fmla="*/ 0 h 594531"/>
              <a:gd name="connsiteX2" fmla="*/ 2156972 w 2174301"/>
              <a:gd name="connsiteY2" fmla="*/ 12386 h 594531"/>
              <a:gd name="connsiteX3" fmla="*/ 2174298 w 2174301"/>
              <a:gd name="connsiteY3" fmla="*/ 108912 h 594531"/>
              <a:gd name="connsiteX4" fmla="*/ 2156972 w 2174301"/>
              <a:gd name="connsiteY4" fmla="*/ 583886 h 594531"/>
              <a:gd name="connsiteX5" fmla="*/ 2065386 w 2174301"/>
              <a:gd name="connsiteY5" fmla="*/ 594474 h 594531"/>
              <a:gd name="connsiteX6" fmla="*/ 14469 w 2174301"/>
              <a:gd name="connsiteY6" fmla="*/ 583886 h 594531"/>
              <a:gd name="connsiteX7" fmla="*/ 5393 w 2174301"/>
              <a:gd name="connsiteY7" fmla="*/ 26000 h 594531"/>
              <a:gd name="connsiteX0" fmla="*/ 5393 w 2174301"/>
              <a:gd name="connsiteY0" fmla="*/ 26000 h 594531"/>
              <a:gd name="connsiteX1" fmla="*/ 82295 w 2174301"/>
              <a:gd name="connsiteY1" fmla="*/ 0 h 594531"/>
              <a:gd name="connsiteX2" fmla="*/ 2156972 w 2174301"/>
              <a:gd name="connsiteY2" fmla="*/ 12386 h 594531"/>
              <a:gd name="connsiteX3" fmla="*/ 2174298 w 2174301"/>
              <a:gd name="connsiteY3" fmla="*/ 108912 h 594531"/>
              <a:gd name="connsiteX4" fmla="*/ 2156972 w 2174301"/>
              <a:gd name="connsiteY4" fmla="*/ 583886 h 594531"/>
              <a:gd name="connsiteX5" fmla="*/ 2065386 w 2174301"/>
              <a:gd name="connsiteY5" fmla="*/ 594474 h 594531"/>
              <a:gd name="connsiteX6" fmla="*/ 14469 w 2174301"/>
              <a:gd name="connsiteY6" fmla="*/ 583886 h 594531"/>
              <a:gd name="connsiteX7" fmla="*/ 5393 w 2174301"/>
              <a:gd name="connsiteY7" fmla="*/ 26000 h 594531"/>
              <a:gd name="connsiteX0" fmla="*/ 5393 w 2174301"/>
              <a:gd name="connsiteY0" fmla="*/ 26000 h 594531"/>
              <a:gd name="connsiteX1" fmla="*/ 82295 w 2174301"/>
              <a:gd name="connsiteY1" fmla="*/ 0 h 594531"/>
              <a:gd name="connsiteX2" fmla="*/ 2156972 w 2174301"/>
              <a:gd name="connsiteY2" fmla="*/ 12386 h 594531"/>
              <a:gd name="connsiteX3" fmla="*/ 2174298 w 2174301"/>
              <a:gd name="connsiteY3" fmla="*/ 108912 h 594531"/>
              <a:gd name="connsiteX4" fmla="*/ 2156972 w 2174301"/>
              <a:gd name="connsiteY4" fmla="*/ 583886 h 594531"/>
              <a:gd name="connsiteX5" fmla="*/ 2065386 w 2174301"/>
              <a:gd name="connsiteY5" fmla="*/ 594474 h 594531"/>
              <a:gd name="connsiteX6" fmla="*/ 14469 w 2174301"/>
              <a:gd name="connsiteY6" fmla="*/ 583886 h 594531"/>
              <a:gd name="connsiteX7" fmla="*/ 5393 w 2174301"/>
              <a:gd name="connsiteY7" fmla="*/ 26000 h 594531"/>
              <a:gd name="connsiteX0" fmla="*/ 5393 w 2174301"/>
              <a:gd name="connsiteY0" fmla="*/ 26000 h 594531"/>
              <a:gd name="connsiteX1" fmla="*/ 82295 w 2174301"/>
              <a:gd name="connsiteY1" fmla="*/ 0 h 594531"/>
              <a:gd name="connsiteX2" fmla="*/ 2156972 w 2174301"/>
              <a:gd name="connsiteY2" fmla="*/ 12386 h 594531"/>
              <a:gd name="connsiteX3" fmla="*/ 2174298 w 2174301"/>
              <a:gd name="connsiteY3" fmla="*/ 108912 h 594531"/>
              <a:gd name="connsiteX4" fmla="*/ 2156972 w 2174301"/>
              <a:gd name="connsiteY4" fmla="*/ 583886 h 594531"/>
              <a:gd name="connsiteX5" fmla="*/ 2065386 w 2174301"/>
              <a:gd name="connsiteY5" fmla="*/ 594474 h 594531"/>
              <a:gd name="connsiteX6" fmla="*/ 14469 w 2174301"/>
              <a:gd name="connsiteY6" fmla="*/ 583886 h 594531"/>
              <a:gd name="connsiteX7" fmla="*/ 5393 w 2174301"/>
              <a:gd name="connsiteY7" fmla="*/ 26000 h 594531"/>
              <a:gd name="connsiteX0" fmla="*/ 147197 w 2316105"/>
              <a:gd name="connsiteY0" fmla="*/ 26000 h 594531"/>
              <a:gd name="connsiteX1" fmla="*/ 224099 w 2316105"/>
              <a:gd name="connsiteY1" fmla="*/ 0 h 594531"/>
              <a:gd name="connsiteX2" fmla="*/ 2298776 w 2316105"/>
              <a:gd name="connsiteY2" fmla="*/ 12386 h 594531"/>
              <a:gd name="connsiteX3" fmla="*/ 2316102 w 2316105"/>
              <a:gd name="connsiteY3" fmla="*/ 108912 h 594531"/>
              <a:gd name="connsiteX4" fmla="*/ 2298776 w 2316105"/>
              <a:gd name="connsiteY4" fmla="*/ 583886 h 594531"/>
              <a:gd name="connsiteX5" fmla="*/ 2207190 w 2316105"/>
              <a:gd name="connsiteY5" fmla="*/ 594474 h 594531"/>
              <a:gd name="connsiteX6" fmla="*/ 156273 w 2316105"/>
              <a:gd name="connsiteY6" fmla="*/ 583886 h 594531"/>
              <a:gd name="connsiteX7" fmla="*/ 142416 w 2316105"/>
              <a:gd name="connsiteY7" fmla="*/ 235975 h 594531"/>
              <a:gd name="connsiteX8" fmla="*/ 147197 w 2316105"/>
              <a:gd name="connsiteY8" fmla="*/ 26000 h 594531"/>
              <a:gd name="connsiteX0" fmla="*/ 154684 w 2323592"/>
              <a:gd name="connsiteY0" fmla="*/ 26000 h 594531"/>
              <a:gd name="connsiteX1" fmla="*/ 231586 w 2323592"/>
              <a:gd name="connsiteY1" fmla="*/ 0 h 594531"/>
              <a:gd name="connsiteX2" fmla="*/ 2306263 w 2323592"/>
              <a:gd name="connsiteY2" fmla="*/ 12386 h 594531"/>
              <a:gd name="connsiteX3" fmla="*/ 2323589 w 2323592"/>
              <a:gd name="connsiteY3" fmla="*/ 108912 h 594531"/>
              <a:gd name="connsiteX4" fmla="*/ 2306263 w 2323592"/>
              <a:gd name="connsiteY4" fmla="*/ 583886 h 594531"/>
              <a:gd name="connsiteX5" fmla="*/ 2214677 w 2323592"/>
              <a:gd name="connsiteY5" fmla="*/ 594474 h 594531"/>
              <a:gd name="connsiteX6" fmla="*/ 163760 w 2323592"/>
              <a:gd name="connsiteY6" fmla="*/ 583886 h 594531"/>
              <a:gd name="connsiteX7" fmla="*/ 158979 w 2323592"/>
              <a:gd name="connsiteY7" fmla="*/ 403879 h 594531"/>
              <a:gd name="connsiteX8" fmla="*/ 149903 w 2323592"/>
              <a:gd name="connsiteY8" fmla="*/ 235975 h 594531"/>
              <a:gd name="connsiteX9" fmla="*/ 154684 w 2323592"/>
              <a:gd name="connsiteY9" fmla="*/ 26000 h 594531"/>
              <a:gd name="connsiteX0" fmla="*/ 13665 w 2182573"/>
              <a:gd name="connsiteY0" fmla="*/ 26000 h 594531"/>
              <a:gd name="connsiteX1" fmla="*/ 90567 w 2182573"/>
              <a:gd name="connsiteY1" fmla="*/ 0 h 594531"/>
              <a:gd name="connsiteX2" fmla="*/ 2165244 w 2182573"/>
              <a:gd name="connsiteY2" fmla="*/ 12386 h 594531"/>
              <a:gd name="connsiteX3" fmla="*/ 2182570 w 2182573"/>
              <a:gd name="connsiteY3" fmla="*/ 108912 h 594531"/>
              <a:gd name="connsiteX4" fmla="*/ 2165244 w 2182573"/>
              <a:gd name="connsiteY4" fmla="*/ 583886 h 594531"/>
              <a:gd name="connsiteX5" fmla="*/ 2073658 w 2182573"/>
              <a:gd name="connsiteY5" fmla="*/ 594474 h 594531"/>
              <a:gd name="connsiteX6" fmla="*/ 22741 w 2182573"/>
              <a:gd name="connsiteY6" fmla="*/ 583886 h 594531"/>
              <a:gd name="connsiteX7" fmla="*/ 17960 w 2182573"/>
              <a:gd name="connsiteY7" fmla="*/ 403879 h 594531"/>
              <a:gd name="connsiteX8" fmla="*/ 8884 w 2182573"/>
              <a:gd name="connsiteY8" fmla="*/ 235975 h 594531"/>
              <a:gd name="connsiteX9" fmla="*/ 13665 w 2182573"/>
              <a:gd name="connsiteY9" fmla="*/ 26000 h 594531"/>
              <a:gd name="connsiteX0" fmla="*/ 13665 w 2202120"/>
              <a:gd name="connsiteY0" fmla="*/ 26000 h 594531"/>
              <a:gd name="connsiteX1" fmla="*/ 90567 w 2202120"/>
              <a:gd name="connsiteY1" fmla="*/ 0 h 594531"/>
              <a:gd name="connsiteX2" fmla="*/ 2165244 w 2202120"/>
              <a:gd name="connsiteY2" fmla="*/ 12386 h 594531"/>
              <a:gd name="connsiteX3" fmla="*/ 2182570 w 2202120"/>
              <a:gd name="connsiteY3" fmla="*/ 108912 h 594531"/>
              <a:gd name="connsiteX4" fmla="*/ 2192471 w 2202120"/>
              <a:gd name="connsiteY4" fmla="*/ 583886 h 594531"/>
              <a:gd name="connsiteX5" fmla="*/ 2073658 w 2202120"/>
              <a:gd name="connsiteY5" fmla="*/ 594474 h 594531"/>
              <a:gd name="connsiteX6" fmla="*/ 22741 w 2202120"/>
              <a:gd name="connsiteY6" fmla="*/ 583886 h 594531"/>
              <a:gd name="connsiteX7" fmla="*/ 17960 w 2202120"/>
              <a:gd name="connsiteY7" fmla="*/ 403879 h 594531"/>
              <a:gd name="connsiteX8" fmla="*/ 8884 w 2202120"/>
              <a:gd name="connsiteY8" fmla="*/ 235975 h 594531"/>
              <a:gd name="connsiteX9" fmla="*/ 13665 w 2202120"/>
              <a:gd name="connsiteY9" fmla="*/ 26000 h 594531"/>
              <a:gd name="connsiteX0" fmla="*/ 13665 w 2202036"/>
              <a:gd name="connsiteY0" fmla="*/ 26000 h 594531"/>
              <a:gd name="connsiteX1" fmla="*/ 90567 w 2202036"/>
              <a:gd name="connsiteY1" fmla="*/ 0 h 594531"/>
              <a:gd name="connsiteX2" fmla="*/ 2165244 w 2202036"/>
              <a:gd name="connsiteY2" fmla="*/ 12386 h 594531"/>
              <a:gd name="connsiteX3" fmla="*/ 2182570 w 2202036"/>
              <a:gd name="connsiteY3" fmla="*/ 108912 h 594531"/>
              <a:gd name="connsiteX4" fmla="*/ 2191645 w 2202036"/>
              <a:gd name="connsiteY4" fmla="*/ 422031 h 594531"/>
              <a:gd name="connsiteX5" fmla="*/ 2192471 w 2202036"/>
              <a:gd name="connsiteY5" fmla="*/ 583886 h 594531"/>
              <a:gd name="connsiteX6" fmla="*/ 2073658 w 2202036"/>
              <a:gd name="connsiteY6" fmla="*/ 594474 h 594531"/>
              <a:gd name="connsiteX7" fmla="*/ 22741 w 2202036"/>
              <a:gd name="connsiteY7" fmla="*/ 583886 h 594531"/>
              <a:gd name="connsiteX8" fmla="*/ 17960 w 2202036"/>
              <a:gd name="connsiteY8" fmla="*/ 403879 h 594531"/>
              <a:gd name="connsiteX9" fmla="*/ 8884 w 2202036"/>
              <a:gd name="connsiteY9" fmla="*/ 235975 h 594531"/>
              <a:gd name="connsiteX10" fmla="*/ 13665 w 2202036"/>
              <a:gd name="connsiteY10" fmla="*/ 26000 h 594531"/>
              <a:gd name="connsiteX0" fmla="*/ 142254 w 2330625"/>
              <a:gd name="connsiteY0" fmla="*/ 26000 h 594531"/>
              <a:gd name="connsiteX1" fmla="*/ 219156 w 2330625"/>
              <a:gd name="connsiteY1" fmla="*/ 0 h 594531"/>
              <a:gd name="connsiteX2" fmla="*/ 2293833 w 2330625"/>
              <a:gd name="connsiteY2" fmla="*/ 12386 h 594531"/>
              <a:gd name="connsiteX3" fmla="*/ 2311159 w 2330625"/>
              <a:gd name="connsiteY3" fmla="*/ 108912 h 594531"/>
              <a:gd name="connsiteX4" fmla="*/ 2320234 w 2330625"/>
              <a:gd name="connsiteY4" fmla="*/ 422031 h 594531"/>
              <a:gd name="connsiteX5" fmla="*/ 2321060 w 2330625"/>
              <a:gd name="connsiteY5" fmla="*/ 583886 h 594531"/>
              <a:gd name="connsiteX6" fmla="*/ 2202247 w 2330625"/>
              <a:gd name="connsiteY6" fmla="*/ 594474 h 594531"/>
              <a:gd name="connsiteX7" fmla="*/ 151330 w 2330625"/>
              <a:gd name="connsiteY7" fmla="*/ 583886 h 594531"/>
              <a:gd name="connsiteX8" fmla="*/ 155624 w 2330625"/>
              <a:gd name="connsiteY8" fmla="*/ 512790 h 594531"/>
              <a:gd name="connsiteX9" fmla="*/ 146549 w 2330625"/>
              <a:gd name="connsiteY9" fmla="*/ 403879 h 594531"/>
              <a:gd name="connsiteX10" fmla="*/ 137473 w 2330625"/>
              <a:gd name="connsiteY10" fmla="*/ 235975 h 594531"/>
              <a:gd name="connsiteX11" fmla="*/ 142254 w 2330625"/>
              <a:gd name="connsiteY11" fmla="*/ 26000 h 594531"/>
              <a:gd name="connsiteX0" fmla="*/ 13413 w 2201784"/>
              <a:gd name="connsiteY0" fmla="*/ 26000 h 594531"/>
              <a:gd name="connsiteX1" fmla="*/ 90315 w 2201784"/>
              <a:gd name="connsiteY1" fmla="*/ 0 h 594531"/>
              <a:gd name="connsiteX2" fmla="*/ 2164992 w 2201784"/>
              <a:gd name="connsiteY2" fmla="*/ 12386 h 594531"/>
              <a:gd name="connsiteX3" fmla="*/ 2182318 w 2201784"/>
              <a:gd name="connsiteY3" fmla="*/ 108912 h 594531"/>
              <a:gd name="connsiteX4" fmla="*/ 2191393 w 2201784"/>
              <a:gd name="connsiteY4" fmla="*/ 422031 h 594531"/>
              <a:gd name="connsiteX5" fmla="*/ 2192219 w 2201784"/>
              <a:gd name="connsiteY5" fmla="*/ 583886 h 594531"/>
              <a:gd name="connsiteX6" fmla="*/ 2073406 w 2201784"/>
              <a:gd name="connsiteY6" fmla="*/ 594474 h 594531"/>
              <a:gd name="connsiteX7" fmla="*/ 22489 w 2201784"/>
              <a:gd name="connsiteY7" fmla="*/ 583886 h 594531"/>
              <a:gd name="connsiteX8" fmla="*/ 26783 w 2201784"/>
              <a:gd name="connsiteY8" fmla="*/ 512790 h 594531"/>
              <a:gd name="connsiteX9" fmla="*/ 17708 w 2201784"/>
              <a:gd name="connsiteY9" fmla="*/ 403879 h 594531"/>
              <a:gd name="connsiteX10" fmla="*/ 8632 w 2201784"/>
              <a:gd name="connsiteY10" fmla="*/ 235975 h 594531"/>
              <a:gd name="connsiteX11" fmla="*/ 13413 w 2201784"/>
              <a:gd name="connsiteY11" fmla="*/ 26000 h 5945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201784" h="594531">
                <a:moveTo>
                  <a:pt x="13413" y="26000"/>
                </a:moveTo>
                <a:cubicBezTo>
                  <a:pt x="37534" y="24897"/>
                  <a:pt x="66194" y="1103"/>
                  <a:pt x="90315" y="0"/>
                </a:cubicBezTo>
                <a:lnTo>
                  <a:pt x="2164992" y="12386"/>
                </a:lnTo>
                <a:cubicBezTo>
                  <a:pt x="2164717" y="43049"/>
                  <a:pt x="2182593" y="78249"/>
                  <a:pt x="2182318" y="108912"/>
                </a:cubicBezTo>
                <a:cubicBezTo>
                  <a:pt x="2188231" y="177186"/>
                  <a:pt x="2189743" y="342869"/>
                  <a:pt x="2191393" y="422031"/>
                </a:cubicBezTo>
                <a:cubicBezTo>
                  <a:pt x="2193043" y="501193"/>
                  <a:pt x="2213396" y="555146"/>
                  <a:pt x="2192219" y="583886"/>
                </a:cubicBezTo>
                <a:cubicBezTo>
                  <a:pt x="2172279" y="582877"/>
                  <a:pt x="2093346" y="595483"/>
                  <a:pt x="2073406" y="594474"/>
                </a:cubicBezTo>
                <a:lnTo>
                  <a:pt x="22489" y="583886"/>
                </a:lnTo>
                <a:cubicBezTo>
                  <a:pt x="5849" y="592962"/>
                  <a:pt x="27580" y="542791"/>
                  <a:pt x="26783" y="512790"/>
                </a:cubicBezTo>
                <a:cubicBezTo>
                  <a:pt x="25986" y="482789"/>
                  <a:pt x="18464" y="450015"/>
                  <a:pt x="17708" y="403879"/>
                </a:cubicBezTo>
                <a:cubicBezTo>
                  <a:pt x="16952" y="357743"/>
                  <a:pt x="-14855" y="308787"/>
                  <a:pt x="8632" y="235975"/>
                </a:cubicBezTo>
                <a:cubicBezTo>
                  <a:pt x="7119" y="142994"/>
                  <a:pt x="-201" y="65329"/>
                  <a:pt x="13413" y="26000"/>
                </a:cubicBezTo>
                <a:close/>
              </a:path>
            </a:pathLst>
          </a:custGeom>
          <a:solidFill>
            <a:srgbClr val="D9D4D0">
              <a:alpha val="60000"/>
            </a:srgbClr>
          </a:solidFill>
          <a:ln>
            <a:noFill/>
          </a:ln>
          <a:effectLst>
            <a:softEdge rad="635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5D9D3E-FC4A-6699-7030-18AABED08C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89319" y="2547257"/>
            <a:ext cx="4458446" cy="310974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1700"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Data Collection and Research Methodology</a:t>
            </a:r>
            <a:endParaRPr lang="en-US" sz="17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700"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Delving into Analysis</a:t>
            </a:r>
            <a:endParaRPr lang="en-US" sz="17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700"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Revealing Results and Insights</a:t>
            </a:r>
            <a:endParaRPr lang="en-US" sz="17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700"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Conclusions</a:t>
            </a:r>
            <a:endParaRPr lang="en-US" sz="17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700"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Recommendations</a:t>
            </a:r>
            <a:endParaRPr lang="en-US" sz="17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700"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Navigating Business Analytics Implications for Manager</a:t>
            </a:r>
          </a:p>
          <a:p>
            <a:r>
              <a:rPr lang="en-US" sz="1700"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Acknowledging Limitations</a:t>
            </a:r>
            <a:endParaRPr lang="en-US" sz="17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700"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References</a:t>
            </a:r>
            <a:endParaRPr lang="en-US" sz="17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086316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7" name="Rectangle 46">
            <a:extLst>
              <a:ext uri="{FF2B5EF4-FFF2-40B4-BE49-F238E27FC236}">
                <a16:creationId xmlns:a16="http://schemas.microsoft.com/office/drawing/2014/main" id="{3BA513B0-82FF-4F41-8178-885375D1CF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8" name="Picture 4" descr="Molecular structure and periodic table on a desk">
            <a:extLst>
              <a:ext uri="{FF2B5EF4-FFF2-40B4-BE49-F238E27FC236}">
                <a16:creationId xmlns:a16="http://schemas.microsoft.com/office/drawing/2014/main" id="{D49B43C4-6687-D533-D86C-5EC2A309C12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-1" b="42823"/>
          <a:stretch/>
        </p:blipFill>
        <p:spPr>
          <a:xfrm>
            <a:off x="-1" y="10"/>
            <a:ext cx="12228129" cy="4666928"/>
          </a:xfrm>
          <a:prstGeom prst="rect">
            <a:avLst/>
          </a:prstGeom>
        </p:spPr>
      </p:pic>
      <p:grpSp>
        <p:nvGrpSpPr>
          <p:cNvPr id="49" name="Group 48">
            <a:extLst>
              <a:ext uri="{FF2B5EF4-FFF2-40B4-BE49-F238E27FC236}">
                <a16:creationId xmlns:a16="http://schemas.microsoft.com/office/drawing/2014/main" id="{93DB8501-F9F2-4ACD-B56A-9019CD5006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305" y="2987478"/>
            <a:ext cx="12228128" cy="1828800"/>
            <a:chOff x="-305" y="2987478"/>
            <a:chExt cx="12188952" cy="1828800"/>
          </a:xfrm>
        </p:grpSpPr>
        <p:sp>
          <p:nvSpPr>
            <p:cNvPr id="50" name="Freeform: Shape 49">
              <a:extLst>
                <a:ext uri="{FF2B5EF4-FFF2-40B4-BE49-F238E27FC236}">
                  <a16:creationId xmlns:a16="http://schemas.microsoft.com/office/drawing/2014/main" id="{DD03A94A-ADF5-4334-86B1-DBA5F70ACDA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2987478"/>
              <a:ext cx="12188952" cy="1099712"/>
            </a:xfrm>
            <a:custGeom>
              <a:avLst/>
              <a:gdLst>
                <a:gd name="connsiteX0" fmla="*/ 9182100 w 9182100"/>
                <a:gd name="connsiteY0" fmla="*/ 396420 h 932744"/>
                <a:gd name="connsiteX1" fmla="*/ 9103805 w 9182100"/>
                <a:gd name="connsiteY1" fmla="*/ 392229 h 932744"/>
                <a:gd name="connsiteX2" fmla="*/ 8712422 w 9182100"/>
                <a:gd name="connsiteY2" fmla="*/ 359749 h 932744"/>
                <a:gd name="connsiteX3" fmla="*/ 8322755 w 9182100"/>
                <a:gd name="connsiteY3" fmla="*/ 313362 h 932744"/>
                <a:gd name="connsiteX4" fmla="*/ 8134826 w 9182100"/>
                <a:gd name="connsiteY4" fmla="*/ 283930 h 932744"/>
                <a:gd name="connsiteX5" fmla="*/ 8090916 w 9182100"/>
                <a:gd name="connsiteY5" fmla="*/ 275643 h 932744"/>
                <a:gd name="connsiteX6" fmla="*/ 8069485 w 9182100"/>
                <a:gd name="connsiteY6" fmla="*/ 271262 h 932744"/>
                <a:gd name="connsiteX7" fmla="*/ 8041862 w 9182100"/>
                <a:gd name="connsiteY7" fmla="*/ 266595 h 932744"/>
                <a:gd name="connsiteX8" fmla="*/ 7986903 w 9182100"/>
                <a:gd name="connsiteY8" fmla="*/ 257546 h 932744"/>
                <a:gd name="connsiteX9" fmla="*/ 7934230 w 9182100"/>
                <a:gd name="connsiteY9" fmla="*/ 249640 h 932744"/>
                <a:gd name="connsiteX10" fmla="*/ 7727537 w 9182100"/>
                <a:gd name="connsiteY10" fmla="*/ 221922 h 932744"/>
                <a:gd name="connsiteX11" fmla="*/ 7625239 w 9182100"/>
                <a:gd name="connsiteY11" fmla="*/ 209730 h 932744"/>
                <a:gd name="connsiteX12" fmla="*/ 7523227 w 9182100"/>
                <a:gd name="connsiteY12" fmla="*/ 198110 h 932744"/>
                <a:gd name="connsiteX13" fmla="*/ 7115651 w 9182100"/>
                <a:gd name="connsiteY13" fmla="*/ 158010 h 932744"/>
                <a:gd name="connsiteX14" fmla="*/ 6706839 w 9182100"/>
                <a:gd name="connsiteY14" fmla="*/ 126958 h 932744"/>
                <a:gd name="connsiteX15" fmla="*/ 6604064 w 9182100"/>
                <a:gd name="connsiteY15" fmla="*/ 120862 h 932744"/>
                <a:gd name="connsiteX16" fmla="*/ 6501003 w 9182100"/>
                <a:gd name="connsiteY16" fmla="*/ 115338 h 932744"/>
                <a:gd name="connsiteX17" fmla="*/ 6397467 w 9182100"/>
                <a:gd name="connsiteY17" fmla="*/ 110385 h 932744"/>
                <a:gd name="connsiteX18" fmla="*/ 6293168 w 9182100"/>
                <a:gd name="connsiteY18" fmla="*/ 106860 h 932744"/>
                <a:gd name="connsiteX19" fmla="*/ 6079712 w 9182100"/>
                <a:gd name="connsiteY19" fmla="*/ 103908 h 932744"/>
                <a:gd name="connsiteX20" fmla="*/ 6024563 w 9182100"/>
                <a:gd name="connsiteY20" fmla="*/ 104479 h 932744"/>
                <a:gd name="connsiteX21" fmla="*/ 5968080 w 9182100"/>
                <a:gd name="connsiteY21" fmla="*/ 106479 h 932744"/>
                <a:gd name="connsiteX22" fmla="*/ 5855875 w 9182100"/>
                <a:gd name="connsiteY22" fmla="*/ 113242 h 932744"/>
                <a:gd name="connsiteX23" fmla="*/ 5439251 w 9182100"/>
                <a:gd name="connsiteY23" fmla="*/ 160105 h 932744"/>
                <a:gd name="connsiteX24" fmla="*/ 5075396 w 9182100"/>
                <a:gd name="connsiteY24" fmla="*/ 186585 h 932744"/>
                <a:gd name="connsiteX25" fmla="*/ 4712780 w 9182100"/>
                <a:gd name="connsiteY25" fmla="*/ 171249 h 932744"/>
                <a:gd name="connsiteX26" fmla="*/ 4666679 w 9182100"/>
                <a:gd name="connsiteY26" fmla="*/ 166773 h 932744"/>
                <a:gd name="connsiteX27" fmla="*/ 4620292 w 9182100"/>
                <a:gd name="connsiteY27" fmla="*/ 161629 h 932744"/>
                <a:gd name="connsiteX28" fmla="*/ 4573810 w 9182100"/>
                <a:gd name="connsiteY28" fmla="*/ 156009 h 932744"/>
                <a:gd name="connsiteX29" fmla="*/ 4550569 w 9182100"/>
                <a:gd name="connsiteY29" fmla="*/ 153057 h 932744"/>
                <a:gd name="connsiteX30" fmla="*/ 4538948 w 9182100"/>
                <a:gd name="connsiteY30" fmla="*/ 151628 h 932744"/>
                <a:gd name="connsiteX31" fmla="*/ 4526566 w 9182100"/>
                <a:gd name="connsiteY31" fmla="*/ 149913 h 932744"/>
                <a:gd name="connsiteX32" fmla="*/ 4327779 w 9182100"/>
                <a:gd name="connsiteY32" fmla="*/ 122862 h 932744"/>
                <a:gd name="connsiteX33" fmla="*/ 3929729 w 9182100"/>
                <a:gd name="connsiteY33" fmla="*/ 68189 h 932744"/>
                <a:gd name="connsiteX34" fmla="*/ 3729133 w 9182100"/>
                <a:gd name="connsiteY34" fmla="*/ 41900 h 932744"/>
                <a:gd name="connsiteX35" fmla="*/ 3628930 w 9182100"/>
                <a:gd name="connsiteY35" fmla="*/ 28946 h 932744"/>
                <a:gd name="connsiteX36" fmla="*/ 3573399 w 9182100"/>
                <a:gd name="connsiteY36" fmla="*/ 22278 h 932744"/>
                <a:gd name="connsiteX37" fmla="*/ 3516916 w 9182100"/>
                <a:gd name="connsiteY37" fmla="*/ 16468 h 932744"/>
                <a:gd name="connsiteX38" fmla="*/ 3074670 w 9182100"/>
                <a:gd name="connsiteY38" fmla="*/ 752 h 932744"/>
                <a:gd name="connsiteX39" fmla="*/ 2858738 w 9182100"/>
                <a:gd name="connsiteY39" fmla="*/ 8753 h 932744"/>
                <a:gd name="connsiteX40" fmla="*/ 2645474 w 9182100"/>
                <a:gd name="connsiteY40" fmla="*/ 25326 h 932744"/>
                <a:gd name="connsiteX41" fmla="*/ 1810798 w 9182100"/>
                <a:gd name="connsiteY41" fmla="*/ 158010 h 932744"/>
                <a:gd name="connsiteX42" fmla="*/ 1602772 w 9182100"/>
                <a:gd name="connsiteY42" fmla="*/ 208111 h 932744"/>
                <a:gd name="connsiteX43" fmla="*/ 1548860 w 9182100"/>
                <a:gd name="connsiteY43" fmla="*/ 222780 h 932744"/>
                <a:gd name="connsiteX44" fmla="*/ 1501331 w 9182100"/>
                <a:gd name="connsiteY44" fmla="*/ 236115 h 932744"/>
                <a:gd name="connsiteX45" fmla="*/ 1411224 w 9182100"/>
                <a:gd name="connsiteY45" fmla="*/ 260880 h 932744"/>
                <a:gd name="connsiteX46" fmla="*/ 1050893 w 9182100"/>
                <a:gd name="connsiteY46" fmla="*/ 338032 h 932744"/>
                <a:gd name="connsiteX47" fmla="*/ 871252 w 9182100"/>
                <a:gd name="connsiteY47" fmla="*/ 360511 h 932744"/>
                <a:gd name="connsiteX48" fmla="*/ 781812 w 9182100"/>
                <a:gd name="connsiteY48" fmla="*/ 366512 h 932744"/>
                <a:gd name="connsiteX49" fmla="*/ 692563 w 9182100"/>
                <a:gd name="connsiteY49" fmla="*/ 369655 h 932744"/>
                <a:gd name="connsiteX50" fmla="*/ 515017 w 9182100"/>
                <a:gd name="connsiteY50" fmla="*/ 363940 h 932744"/>
                <a:gd name="connsiteX51" fmla="*/ 337661 w 9182100"/>
                <a:gd name="connsiteY51" fmla="*/ 341937 h 932744"/>
                <a:gd name="connsiteX52" fmla="*/ 156972 w 9182100"/>
                <a:gd name="connsiteY52" fmla="*/ 303456 h 932744"/>
                <a:gd name="connsiteX53" fmla="*/ 0 w 9182100"/>
                <a:gd name="connsiteY53" fmla="*/ 261642 h 932744"/>
                <a:gd name="connsiteX54" fmla="*/ 0 w 9182100"/>
                <a:gd name="connsiteY54" fmla="*/ 713412 h 932744"/>
                <a:gd name="connsiteX55" fmla="*/ 9144 w 9182100"/>
                <a:gd name="connsiteY55" fmla="*/ 717699 h 932744"/>
                <a:gd name="connsiteX56" fmla="*/ 213360 w 9182100"/>
                <a:gd name="connsiteY56" fmla="*/ 801042 h 932744"/>
                <a:gd name="connsiteX57" fmla="*/ 653510 w 9182100"/>
                <a:gd name="connsiteY57" fmla="*/ 908199 h 932744"/>
                <a:gd name="connsiteX58" fmla="*/ 1101947 w 9182100"/>
                <a:gd name="connsiteY58" fmla="*/ 930773 h 932744"/>
                <a:gd name="connsiteX59" fmla="*/ 1540002 w 9182100"/>
                <a:gd name="connsiteY59" fmla="*/ 889434 h 932744"/>
                <a:gd name="connsiteX60" fmla="*/ 1647158 w 9182100"/>
                <a:gd name="connsiteY60" fmla="*/ 871242 h 932744"/>
                <a:gd name="connsiteX61" fmla="*/ 1698117 w 9182100"/>
                <a:gd name="connsiteY61" fmla="*/ 862193 h 932744"/>
                <a:gd name="connsiteX62" fmla="*/ 1742789 w 9182100"/>
                <a:gd name="connsiteY62" fmla="*/ 854668 h 932744"/>
                <a:gd name="connsiteX63" fmla="*/ 1931003 w 9182100"/>
                <a:gd name="connsiteY63" fmla="*/ 826950 h 932744"/>
                <a:gd name="connsiteX64" fmla="*/ 2314861 w 9182100"/>
                <a:gd name="connsiteY64" fmla="*/ 783897 h 932744"/>
                <a:gd name="connsiteX65" fmla="*/ 2506885 w 9182100"/>
                <a:gd name="connsiteY65" fmla="*/ 768086 h 932744"/>
                <a:gd name="connsiteX66" fmla="*/ 2602611 w 9182100"/>
                <a:gd name="connsiteY66" fmla="*/ 762085 h 932744"/>
                <a:gd name="connsiteX67" fmla="*/ 2698052 w 9182100"/>
                <a:gd name="connsiteY67" fmla="*/ 756846 h 932744"/>
                <a:gd name="connsiteX68" fmla="*/ 2887980 w 9182100"/>
                <a:gd name="connsiteY68" fmla="*/ 750846 h 932744"/>
                <a:gd name="connsiteX69" fmla="*/ 3075813 w 9182100"/>
                <a:gd name="connsiteY69" fmla="*/ 750179 h 932744"/>
                <a:gd name="connsiteX70" fmla="*/ 3168587 w 9182100"/>
                <a:gd name="connsiteY70" fmla="*/ 752751 h 932744"/>
                <a:gd name="connsiteX71" fmla="*/ 3260408 w 9182100"/>
                <a:gd name="connsiteY71" fmla="*/ 756656 h 932744"/>
                <a:gd name="connsiteX72" fmla="*/ 3440049 w 9182100"/>
                <a:gd name="connsiteY72" fmla="*/ 771610 h 932744"/>
                <a:gd name="connsiteX73" fmla="*/ 3483864 w 9182100"/>
                <a:gd name="connsiteY73" fmla="*/ 776849 h 932744"/>
                <a:gd name="connsiteX74" fmla="*/ 3528536 w 9182100"/>
                <a:gd name="connsiteY74" fmla="*/ 782469 h 932744"/>
                <a:gd name="connsiteX75" fmla="*/ 3628549 w 9182100"/>
                <a:gd name="connsiteY75" fmla="*/ 796089 h 932744"/>
                <a:gd name="connsiteX76" fmla="*/ 3828574 w 9182100"/>
                <a:gd name="connsiteY76" fmla="*/ 823140 h 932744"/>
                <a:gd name="connsiteX77" fmla="*/ 4231196 w 9182100"/>
                <a:gd name="connsiteY77" fmla="*/ 874099 h 932744"/>
                <a:gd name="connsiteX78" fmla="*/ 4433126 w 9182100"/>
                <a:gd name="connsiteY78" fmla="*/ 897435 h 932744"/>
                <a:gd name="connsiteX79" fmla="*/ 4485990 w 9182100"/>
                <a:gd name="connsiteY79" fmla="*/ 903246 h 932744"/>
                <a:gd name="connsiteX80" fmla="*/ 4539806 w 9182100"/>
                <a:gd name="connsiteY80" fmla="*/ 908961 h 932744"/>
                <a:gd name="connsiteX81" fmla="*/ 4593908 w 9182100"/>
                <a:gd name="connsiteY81" fmla="*/ 914199 h 932744"/>
                <a:gd name="connsiteX82" fmla="*/ 4648296 w 9182100"/>
                <a:gd name="connsiteY82" fmla="*/ 918771 h 932744"/>
                <a:gd name="connsiteX83" fmla="*/ 5092446 w 9182100"/>
                <a:gd name="connsiteY83" fmla="*/ 931154 h 932744"/>
                <a:gd name="connsiteX84" fmla="*/ 5533168 w 9182100"/>
                <a:gd name="connsiteY84" fmla="*/ 891816 h 932744"/>
                <a:gd name="connsiteX85" fmla="*/ 5918169 w 9182100"/>
                <a:gd name="connsiteY85" fmla="*/ 840666 h 932744"/>
                <a:gd name="connsiteX86" fmla="*/ 6007323 w 9182100"/>
                <a:gd name="connsiteY86" fmla="*/ 833237 h 932744"/>
                <a:gd name="connsiteX87" fmla="*/ 6051709 w 9182100"/>
                <a:gd name="connsiteY87" fmla="*/ 830570 h 932744"/>
                <a:gd name="connsiteX88" fmla="*/ 6097429 w 9182100"/>
                <a:gd name="connsiteY88" fmla="*/ 828379 h 932744"/>
                <a:gd name="connsiteX89" fmla="*/ 6287834 w 9182100"/>
                <a:gd name="connsiteY89" fmla="*/ 822569 h 932744"/>
                <a:gd name="connsiteX90" fmla="*/ 6681597 w 9182100"/>
                <a:gd name="connsiteY90" fmla="*/ 821235 h 932744"/>
                <a:gd name="connsiteX91" fmla="*/ 7079647 w 9182100"/>
                <a:gd name="connsiteY91" fmla="*/ 826569 h 932744"/>
                <a:gd name="connsiteX92" fmla="*/ 7478173 w 9182100"/>
                <a:gd name="connsiteY92" fmla="*/ 836094 h 932744"/>
                <a:gd name="connsiteX93" fmla="*/ 7871937 w 9182100"/>
                <a:gd name="connsiteY93" fmla="*/ 851430 h 932744"/>
                <a:gd name="connsiteX94" fmla="*/ 7919657 w 9182100"/>
                <a:gd name="connsiteY94" fmla="*/ 854097 h 932744"/>
                <a:gd name="connsiteX95" fmla="*/ 7964901 w 9182100"/>
                <a:gd name="connsiteY95" fmla="*/ 857240 h 932744"/>
                <a:gd name="connsiteX96" fmla="*/ 8015955 w 9182100"/>
                <a:gd name="connsiteY96" fmla="*/ 861050 h 932744"/>
                <a:gd name="connsiteX97" fmla="*/ 8072247 w 9182100"/>
                <a:gd name="connsiteY97" fmla="*/ 864384 h 932744"/>
                <a:gd name="connsiteX98" fmla="*/ 8286750 w 9182100"/>
                <a:gd name="connsiteY98" fmla="*/ 868384 h 932744"/>
                <a:gd name="connsiteX99" fmla="*/ 8704040 w 9182100"/>
                <a:gd name="connsiteY99" fmla="*/ 853716 h 932744"/>
                <a:gd name="connsiteX100" fmla="*/ 9120188 w 9182100"/>
                <a:gd name="connsiteY100" fmla="*/ 814092 h 932744"/>
                <a:gd name="connsiteX101" fmla="*/ 9181909 w 9182100"/>
                <a:gd name="connsiteY101" fmla="*/ 805519 h 932744"/>
                <a:gd name="connsiteX102" fmla="*/ 9181909 w 9182100"/>
                <a:gd name="connsiteY102" fmla="*/ 396420 h 9327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</a:cxnLst>
              <a:rect l="l" t="t" r="r" b="b"/>
              <a:pathLst>
                <a:path w="9182100" h="932744">
                  <a:moveTo>
                    <a:pt x="9182100" y="396420"/>
                  </a:moveTo>
                  <a:cubicBezTo>
                    <a:pt x="9156097" y="395182"/>
                    <a:pt x="9129999" y="393753"/>
                    <a:pt x="9103805" y="392229"/>
                  </a:cubicBezTo>
                  <a:cubicBezTo>
                    <a:pt x="8974169" y="384419"/>
                    <a:pt x="8843105" y="372989"/>
                    <a:pt x="8712422" y="359749"/>
                  </a:cubicBezTo>
                  <a:cubicBezTo>
                    <a:pt x="8581739" y="346319"/>
                    <a:pt x="8451056" y="331269"/>
                    <a:pt x="8322755" y="313362"/>
                  </a:cubicBezTo>
                  <a:cubicBezTo>
                    <a:pt x="8258747" y="304695"/>
                    <a:pt x="8195120" y="294979"/>
                    <a:pt x="8134826" y="283930"/>
                  </a:cubicBezTo>
                  <a:cubicBezTo>
                    <a:pt x="8119872" y="281168"/>
                    <a:pt x="8105013" y="278501"/>
                    <a:pt x="8090916" y="275643"/>
                  </a:cubicBezTo>
                  <a:lnTo>
                    <a:pt x="8069485" y="271262"/>
                  </a:lnTo>
                  <a:lnTo>
                    <a:pt x="8041862" y="266595"/>
                  </a:lnTo>
                  <a:cubicBezTo>
                    <a:pt x="8023574" y="263547"/>
                    <a:pt x="8004524" y="260213"/>
                    <a:pt x="7986903" y="257546"/>
                  </a:cubicBezTo>
                  <a:lnTo>
                    <a:pt x="7934230" y="249640"/>
                  </a:lnTo>
                  <a:cubicBezTo>
                    <a:pt x="7864221" y="239258"/>
                    <a:pt x="7795832" y="230209"/>
                    <a:pt x="7727537" y="221922"/>
                  </a:cubicBezTo>
                  <a:lnTo>
                    <a:pt x="7625239" y="209730"/>
                  </a:lnTo>
                  <a:lnTo>
                    <a:pt x="7523227" y="198110"/>
                  </a:lnTo>
                  <a:cubicBezTo>
                    <a:pt x="7387209" y="183060"/>
                    <a:pt x="7251573" y="170392"/>
                    <a:pt x="7115651" y="158010"/>
                  </a:cubicBezTo>
                  <a:cubicBezTo>
                    <a:pt x="6979730" y="146580"/>
                    <a:pt x="6843522" y="135721"/>
                    <a:pt x="6706839" y="126958"/>
                  </a:cubicBezTo>
                  <a:lnTo>
                    <a:pt x="6604064" y="120862"/>
                  </a:lnTo>
                  <a:cubicBezTo>
                    <a:pt x="6569869" y="118767"/>
                    <a:pt x="6535484" y="116862"/>
                    <a:pt x="6501003" y="115338"/>
                  </a:cubicBezTo>
                  <a:lnTo>
                    <a:pt x="6397467" y="110385"/>
                  </a:lnTo>
                  <a:lnTo>
                    <a:pt x="6293168" y="106860"/>
                  </a:lnTo>
                  <a:cubicBezTo>
                    <a:pt x="6222969" y="105146"/>
                    <a:pt x="6152769" y="103527"/>
                    <a:pt x="6079712" y="103908"/>
                  </a:cubicBezTo>
                  <a:cubicBezTo>
                    <a:pt x="6061710" y="103908"/>
                    <a:pt x="6043708" y="103812"/>
                    <a:pt x="6024563" y="104479"/>
                  </a:cubicBezTo>
                  <a:cubicBezTo>
                    <a:pt x="6005703" y="104955"/>
                    <a:pt x="5986844" y="105527"/>
                    <a:pt x="5968080" y="106479"/>
                  </a:cubicBezTo>
                  <a:cubicBezTo>
                    <a:pt x="5930456" y="108003"/>
                    <a:pt x="5893023" y="110385"/>
                    <a:pt x="5855875" y="113242"/>
                  </a:cubicBezTo>
                  <a:cubicBezTo>
                    <a:pt x="5706904" y="124577"/>
                    <a:pt x="5565934" y="145151"/>
                    <a:pt x="5439251" y="160105"/>
                  </a:cubicBezTo>
                  <a:cubicBezTo>
                    <a:pt x="5311902" y="175536"/>
                    <a:pt x="5194745" y="184680"/>
                    <a:pt x="5075396" y="186585"/>
                  </a:cubicBezTo>
                  <a:cubicBezTo>
                    <a:pt x="4956429" y="188490"/>
                    <a:pt x="4835748" y="182775"/>
                    <a:pt x="4712780" y="171249"/>
                  </a:cubicBezTo>
                  <a:lnTo>
                    <a:pt x="4666679" y="166773"/>
                  </a:lnTo>
                  <a:lnTo>
                    <a:pt x="4620292" y="161629"/>
                  </a:lnTo>
                  <a:cubicBezTo>
                    <a:pt x="4604862" y="160010"/>
                    <a:pt x="4589336" y="157914"/>
                    <a:pt x="4573810" y="156009"/>
                  </a:cubicBezTo>
                  <a:lnTo>
                    <a:pt x="4550569" y="153057"/>
                  </a:lnTo>
                  <a:lnTo>
                    <a:pt x="4538948" y="151628"/>
                  </a:lnTo>
                  <a:lnTo>
                    <a:pt x="4526566" y="149913"/>
                  </a:lnTo>
                  <a:lnTo>
                    <a:pt x="4327779" y="122862"/>
                  </a:lnTo>
                  <a:lnTo>
                    <a:pt x="3929729" y="68189"/>
                  </a:lnTo>
                  <a:lnTo>
                    <a:pt x="3729133" y="41900"/>
                  </a:lnTo>
                  <a:lnTo>
                    <a:pt x="3628930" y="28946"/>
                  </a:lnTo>
                  <a:lnTo>
                    <a:pt x="3573399" y="22278"/>
                  </a:lnTo>
                  <a:cubicBezTo>
                    <a:pt x="3554445" y="19992"/>
                    <a:pt x="3535585" y="17992"/>
                    <a:pt x="3516916" y="16468"/>
                  </a:cubicBezTo>
                  <a:cubicBezTo>
                    <a:pt x="3366611" y="2752"/>
                    <a:pt x="3219736" y="-2010"/>
                    <a:pt x="3074670" y="752"/>
                  </a:cubicBezTo>
                  <a:cubicBezTo>
                    <a:pt x="3002280" y="2181"/>
                    <a:pt x="2930176" y="4467"/>
                    <a:pt x="2858738" y="8753"/>
                  </a:cubicBezTo>
                  <a:cubicBezTo>
                    <a:pt x="2787206" y="13039"/>
                    <a:pt x="2716149" y="18754"/>
                    <a:pt x="2645474" y="25326"/>
                  </a:cubicBezTo>
                  <a:cubicBezTo>
                    <a:pt x="2362581" y="52473"/>
                    <a:pt x="2085975" y="97145"/>
                    <a:pt x="1810798" y="158010"/>
                  </a:cubicBezTo>
                  <a:cubicBezTo>
                    <a:pt x="1741837" y="173345"/>
                    <a:pt x="1673066" y="189442"/>
                    <a:pt x="1602772" y="208111"/>
                  </a:cubicBezTo>
                  <a:lnTo>
                    <a:pt x="1548860" y="222780"/>
                  </a:lnTo>
                  <a:lnTo>
                    <a:pt x="1501331" y="236115"/>
                  </a:lnTo>
                  <a:cubicBezTo>
                    <a:pt x="1471327" y="244497"/>
                    <a:pt x="1441228" y="253450"/>
                    <a:pt x="1411224" y="260880"/>
                  </a:cubicBezTo>
                  <a:cubicBezTo>
                    <a:pt x="1291209" y="293074"/>
                    <a:pt x="1170813" y="318982"/>
                    <a:pt x="1050893" y="338032"/>
                  </a:cubicBezTo>
                  <a:cubicBezTo>
                    <a:pt x="990790" y="347557"/>
                    <a:pt x="931069" y="354796"/>
                    <a:pt x="871252" y="360511"/>
                  </a:cubicBezTo>
                  <a:cubicBezTo>
                    <a:pt x="841438" y="362702"/>
                    <a:pt x="811530" y="365559"/>
                    <a:pt x="781812" y="366512"/>
                  </a:cubicBezTo>
                  <a:cubicBezTo>
                    <a:pt x="751904" y="368512"/>
                    <a:pt x="722376" y="368893"/>
                    <a:pt x="692563" y="369655"/>
                  </a:cubicBezTo>
                  <a:cubicBezTo>
                    <a:pt x="633222" y="370036"/>
                    <a:pt x="574167" y="368131"/>
                    <a:pt x="515017" y="363940"/>
                  </a:cubicBezTo>
                  <a:cubicBezTo>
                    <a:pt x="455867" y="359749"/>
                    <a:pt x="397097" y="351748"/>
                    <a:pt x="337661" y="341937"/>
                  </a:cubicBezTo>
                  <a:cubicBezTo>
                    <a:pt x="278225" y="331936"/>
                    <a:pt x="218599" y="318696"/>
                    <a:pt x="156972" y="303456"/>
                  </a:cubicBezTo>
                  <a:cubicBezTo>
                    <a:pt x="106680" y="290883"/>
                    <a:pt x="55150" y="276405"/>
                    <a:pt x="0" y="261642"/>
                  </a:cubicBezTo>
                  <a:lnTo>
                    <a:pt x="0" y="713412"/>
                  </a:lnTo>
                  <a:cubicBezTo>
                    <a:pt x="3048" y="714841"/>
                    <a:pt x="6096" y="716270"/>
                    <a:pt x="9144" y="717699"/>
                  </a:cubicBezTo>
                  <a:cubicBezTo>
                    <a:pt x="74295" y="747798"/>
                    <a:pt x="142875" y="775896"/>
                    <a:pt x="213360" y="801042"/>
                  </a:cubicBezTo>
                  <a:cubicBezTo>
                    <a:pt x="354521" y="851715"/>
                    <a:pt x="503873" y="887244"/>
                    <a:pt x="653510" y="908199"/>
                  </a:cubicBezTo>
                  <a:cubicBezTo>
                    <a:pt x="803338" y="928773"/>
                    <a:pt x="953929" y="935631"/>
                    <a:pt x="1101947" y="930773"/>
                  </a:cubicBezTo>
                  <a:cubicBezTo>
                    <a:pt x="1250252" y="926582"/>
                    <a:pt x="1396365" y="911437"/>
                    <a:pt x="1540002" y="889434"/>
                  </a:cubicBezTo>
                  <a:cubicBezTo>
                    <a:pt x="1576197" y="884386"/>
                    <a:pt x="1611535" y="877433"/>
                    <a:pt x="1647158" y="871242"/>
                  </a:cubicBezTo>
                  <a:lnTo>
                    <a:pt x="1698117" y="862193"/>
                  </a:lnTo>
                  <a:lnTo>
                    <a:pt x="1742789" y="854668"/>
                  </a:lnTo>
                  <a:cubicBezTo>
                    <a:pt x="1804035" y="845048"/>
                    <a:pt x="1867472" y="835428"/>
                    <a:pt x="1931003" y="826950"/>
                  </a:cubicBezTo>
                  <a:cubicBezTo>
                    <a:pt x="2058353" y="810282"/>
                    <a:pt x="2186750" y="795327"/>
                    <a:pt x="2314861" y="783897"/>
                  </a:cubicBezTo>
                  <a:cubicBezTo>
                    <a:pt x="2378964" y="778087"/>
                    <a:pt x="2442972" y="772467"/>
                    <a:pt x="2506885" y="768086"/>
                  </a:cubicBezTo>
                  <a:cubicBezTo>
                    <a:pt x="2538794" y="765990"/>
                    <a:pt x="2570798" y="763800"/>
                    <a:pt x="2602611" y="762085"/>
                  </a:cubicBezTo>
                  <a:cubicBezTo>
                    <a:pt x="2634520" y="760180"/>
                    <a:pt x="2666333" y="758370"/>
                    <a:pt x="2698052" y="756846"/>
                  </a:cubicBezTo>
                  <a:cubicBezTo>
                    <a:pt x="2761583" y="753894"/>
                    <a:pt x="2825020" y="751703"/>
                    <a:pt x="2887980" y="750846"/>
                  </a:cubicBezTo>
                  <a:cubicBezTo>
                    <a:pt x="2951036" y="749417"/>
                    <a:pt x="3013615" y="749322"/>
                    <a:pt x="3075813" y="750179"/>
                  </a:cubicBezTo>
                  <a:cubicBezTo>
                    <a:pt x="3106865" y="750846"/>
                    <a:pt x="3137916" y="751417"/>
                    <a:pt x="3168587" y="752751"/>
                  </a:cubicBezTo>
                  <a:cubicBezTo>
                    <a:pt x="3199448" y="753703"/>
                    <a:pt x="3229928" y="755227"/>
                    <a:pt x="3260408" y="756656"/>
                  </a:cubicBezTo>
                  <a:cubicBezTo>
                    <a:pt x="3320987" y="760466"/>
                    <a:pt x="3381470" y="764562"/>
                    <a:pt x="3440049" y="771610"/>
                  </a:cubicBezTo>
                  <a:cubicBezTo>
                    <a:pt x="3454908" y="773039"/>
                    <a:pt x="3469386" y="775039"/>
                    <a:pt x="3483864" y="776849"/>
                  </a:cubicBezTo>
                  <a:lnTo>
                    <a:pt x="3528536" y="782469"/>
                  </a:lnTo>
                  <a:lnTo>
                    <a:pt x="3628549" y="796089"/>
                  </a:lnTo>
                  <a:lnTo>
                    <a:pt x="3828574" y="823140"/>
                  </a:lnTo>
                  <a:cubicBezTo>
                    <a:pt x="3962019" y="840190"/>
                    <a:pt x="4095750" y="858573"/>
                    <a:pt x="4231196" y="874099"/>
                  </a:cubicBezTo>
                  <a:lnTo>
                    <a:pt x="4433126" y="897435"/>
                  </a:lnTo>
                  <a:lnTo>
                    <a:pt x="4485990" y="903246"/>
                  </a:lnTo>
                  <a:cubicBezTo>
                    <a:pt x="4503897" y="905151"/>
                    <a:pt x="4521708" y="907341"/>
                    <a:pt x="4539806" y="908961"/>
                  </a:cubicBezTo>
                  <a:lnTo>
                    <a:pt x="4593908" y="914199"/>
                  </a:lnTo>
                  <a:lnTo>
                    <a:pt x="4648296" y="918771"/>
                  </a:lnTo>
                  <a:cubicBezTo>
                    <a:pt x="4793456" y="930392"/>
                    <a:pt x="4942237" y="935631"/>
                    <a:pt x="5092446" y="931154"/>
                  </a:cubicBezTo>
                  <a:cubicBezTo>
                    <a:pt x="5242274" y="927249"/>
                    <a:pt x="5393627" y="911437"/>
                    <a:pt x="5533168" y="891816"/>
                  </a:cubicBezTo>
                  <a:cubicBezTo>
                    <a:pt x="5673471" y="872289"/>
                    <a:pt x="5798820" y="851906"/>
                    <a:pt x="5918169" y="840666"/>
                  </a:cubicBezTo>
                  <a:cubicBezTo>
                    <a:pt x="5948077" y="837809"/>
                    <a:pt x="5977795" y="835237"/>
                    <a:pt x="6007323" y="833237"/>
                  </a:cubicBezTo>
                  <a:cubicBezTo>
                    <a:pt x="6022086" y="832094"/>
                    <a:pt x="6036945" y="831332"/>
                    <a:pt x="6051709" y="830570"/>
                  </a:cubicBezTo>
                  <a:lnTo>
                    <a:pt x="6097429" y="828379"/>
                  </a:lnTo>
                  <a:cubicBezTo>
                    <a:pt x="6158960" y="825236"/>
                    <a:pt x="6223445" y="823807"/>
                    <a:pt x="6287834" y="822569"/>
                  </a:cubicBezTo>
                  <a:cubicBezTo>
                    <a:pt x="6417374" y="820664"/>
                    <a:pt x="6549485" y="820188"/>
                    <a:pt x="6681597" y="821235"/>
                  </a:cubicBezTo>
                  <a:cubicBezTo>
                    <a:pt x="6813899" y="822378"/>
                    <a:pt x="6946773" y="823617"/>
                    <a:pt x="7079647" y="826569"/>
                  </a:cubicBezTo>
                  <a:cubicBezTo>
                    <a:pt x="7212520" y="828951"/>
                    <a:pt x="7345585" y="831903"/>
                    <a:pt x="7478173" y="836094"/>
                  </a:cubicBezTo>
                  <a:cubicBezTo>
                    <a:pt x="7610475" y="839714"/>
                    <a:pt x="7743539" y="844953"/>
                    <a:pt x="7871937" y="851430"/>
                  </a:cubicBezTo>
                  <a:lnTo>
                    <a:pt x="7919657" y="854097"/>
                  </a:lnTo>
                  <a:cubicBezTo>
                    <a:pt x="7935564" y="854954"/>
                    <a:pt x="7949756" y="856192"/>
                    <a:pt x="7964901" y="857240"/>
                  </a:cubicBezTo>
                  <a:lnTo>
                    <a:pt x="8015955" y="861050"/>
                  </a:lnTo>
                  <a:cubicBezTo>
                    <a:pt x="8035195" y="862383"/>
                    <a:pt x="8053769" y="863622"/>
                    <a:pt x="8072247" y="864384"/>
                  </a:cubicBezTo>
                  <a:cubicBezTo>
                    <a:pt x="8145780" y="867527"/>
                    <a:pt x="8216456" y="868479"/>
                    <a:pt x="8286750" y="868384"/>
                  </a:cubicBezTo>
                  <a:cubicBezTo>
                    <a:pt x="8427148" y="867527"/>
                    <a:pt x="8565452" y="862574"/>
                    <a:pt x="8704040" y="853716"/>
                  </a:cubicBezTo>
                  <a:cubicBezTo>
                    <a:pt x="8842534" y="844762"/>
                    <a:pt x="8980741" y="832284"/>
                    <a:pt x="9120188" y="814092"/>
                  </a:cubicBezTo>
                  <a:cubicBezTo>
                    <a:pt x="9140761" y="811425"/>
                    <a:pt x="9161336" y="808567"/>
                    <a:pt x="9181909" y="805519"/>
                  </a:cubicBezTo>
                  <a:lnTo>
                    <a:pt x="9181909" y="396420"/>
                  </a:ln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1" name="Freeform: Shape 50">
              <a:extLst>
                <a:ext uri="{FF2B5EF4-FFF2-40B4-BE49-F238E27FC236}">
                  <a16:creationId xmlns:a16="http://schemas.microsoft.com/office/drawing/2014/main" id="{385A18E1-CBE3-4BBD-B1B7-CDBCA685E01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3199381"/>
              <a:ext cx="12188952" cy="902694"/>
            </a:xfrm>
            <a:custGeom>
              <a:avLst/>
              <a:gdLst>
                <a:gd name="connsiteX0" fmla="*/ 9182100 w 9182100"/>
                <a:gd name="connsiteY0" fmla="*/ 351088 h 765639"/>
                <a:gd name="connsiteX1" fmla="*/ 9178480 w 9182100"/>
                <a:gd name="connsiteY1" fmla="*/ 350993 h 765639"/>
                <a:gd name="connsiteX2" fmla="*/ 8783955 w 9182100"/>
                <a:gd name="connsiteY2" fmla="*/ 327561 h 765639"/>
                <a:gd name="connsiteX3" fmla="*/ 8390763 w 9182100"/>
                <a:gd name="connsiteY3" fmla="*/ 288795 h 765639"/>
                <a:gd name="connsiteX4" fmla="*/ 8199502 w 9182100"/>
                <a:gd name="connsiteY4" fmla="*/ 262601 h 765639"/>
                <a:gd name="connsiteX5" fmla="*/ 8153972 w 9182100"/>
                <a:gd name="connsiteY5" fmla="*/ 254886 h 765639"/>
                <a:gd name="connsiteX6" fmla="*/ 8131588 w 9182100"/>
                <a:gd name="connsiteY6" fmla="*/ 250790 h 765639"/>
                <a:gd name="connsiteX7" fmla="*/ 8104632 w 9182100"/>
                <a:gd name="connsiteY7" fmla="*/ 246504 h 765639"/>
                <a:gd name="connsiteX8" fmla="*/ 8050911 w 9182100"/>
                <a:gd name="connsiteY8" fmla="*/ 238217 h 765639"/>
                <a:gd name="connsiteX9" fmla="*/ 7998810 w 9182100"/>
                <a:gd name="connsiteY9" fmla="*/ 230978 h 765639"/>
                <a:gd name="connsiteX10" fmla="*/ 7589902 w 9182100"/>
                <a:gd name="connsiteY10" fmla="*/ 183925 h 765639"/>
                <a:gd name="connsiteX11" fmla="*/ 7183469 w 9182100"/>
                <a:gd name="connsiteY11" fmla="*/ 147634 h 765639"/>
                <a:gd name="connsiteX12" fmla="*/ 6775990 w 9182100"/>
                <a:gd name="connsiteY12" fmla="*/ 119821 h 765639"/>
                <a:gd name="connsiteX13" fmla="*/ 6364795 w 9182100"/>
                <a:gd name="connsiteY13" fmla="*/ 102391 h 765639"/>
                <a:gd name="connsiteX14" fmla="*/ 6154293 w 9182100"/>
                <a:gd name="connsiteY14" fmla="*/ 100581 h 765639"/>
                <a:gd name="connsiteX15" fmla="*/ 6100287 w 9182100"/>
                <a:gd name="connsiteY15" fmla="*/ 101343 h 765639"/>
                <a:gd name="connsiteX16" fmla="*/ 6045327 w 9182100"/>
                <a:gd name="connsiteY16" fmla="*/ 103438 h 765639"/>
                <a:gd name="connsiteX17" fmla="*/ 5935980 w 9182100"/>
                <a:gd name="connsiteY17" fmla="*/ 110296 h 765639"/>
                <a:gd name="connsiteX18" fmla="*/ 5523357 w 9182100"/>
                <a:gd name="connsiteY18" fmla="*/ 157635 h 765639"/>
                <a:gd name="connsiteX19" fmla="*/ 5149882 w 9182100"/>
                <a:gd name="connsiteY19" fmla="*/ 185639 h 765639"/>
                <a:gd name="connsiteX20" fmla="*/ 4777073 w 9182100"/>
                <a:gd name="connsiteY20" fmla="*/ 170685 h 765639"/>
                <a:gd name="connsiteX21" fmla="*/ 4729925 w 9182100"/>
                <a:gd name="connsiteY21" fmla="*/ 166208 h 765639"/>
                <a:gd name="connsiteX22" fmla="*/ 4682585 w 9182100"/>
                <a:gd name="connsiteY22" fmla="*/ 161064 h 765639"/>
                <a:gd name="connsiteX23" fmla="*/ 4635151 w 9182100"/>
                <a:gd name="connsiteY23" fmla="*/ 155445 h 765639"/>
                <a:gd name="connsiteX24" fmla="*/ 4611434 w 9182100"/>
                <a:gd name="connsiteY24" fmla="*/ 152492 h 765639"/>
                <a:gd name="connsiteX25" fmla="*/ 4587145 w 9182100"/>
                <a:gd name="connsiteY25" fmla="*/ 149349 h 765639"/>
                <a:gd name="connsiteX26" fmla="*/ 4387977 w 9182100"/>
                <a:gd name="connsiteY26" fmla="*/ 122774 h 765639"/>
                <a:gd name="connsiteX27" fmla="*/ 3989356 w 9182100"/>
                <a:gd name="connsiteY27" fmla="*/ 68577 h 765639"/>
                <a:gd name="connsiteX28" fmla="*/ 3789140 w 9182100"/>
                <a:gd name="connsiteY28" fmla="*/ 42192 h 765639"/>
                <a:gd name="connsiteX29" fmla="*/ 3689033 w 9182100"/>
                <a:gd name="connsiteY29" fmla="*/ 29143 h 765639"/>
                <a:gd name="connsiteX30" fmla="*/ 3634835 w 9182100"/>
                <a:gd name="connsiteY30" fmla="*/ 22571 h 765639"/>
                <a:gd name="connsiteX31" fmla="*/ 3579876 w 9182100"/>
                <a:gd name="connsiteY31" fmla="*/ 16856 h 765639"/>
                <a:gd name="connsiteX32" fmla="*/ 3147441 w 9182100"/>
                <a:gd name="connsiteY32" fmla="*/ 473 h 765639"/>
                <a:gd name="connsiteX33" fmla="*/ 2724722 w 9182100"/>
                <a:gd name="connsiteY33" fmla="*/ 22857 h 765639"/>
                <a:gd name="connsiteX34" fmla="*/ 1898428 w 9182100"/>
                <a:gd name="connsiteY34" fmla="*/ 147730 h 765639"/>
                <a:gd name="connsiteX35" fmla="*/ 1692878 w 9182100"/>
                <a:gd name="connsiteY35" fmla="*/ 195069 h 765639"/>
                <a:gd name="connsiteX36" fmla="*/ 1640205 w 9182100"/>
                <a:gd name="connsiteY36" fmla="*/ 208785 h 765639"/>
                <a:gd name="connsiteX37" fmla="*/ 1592294 w 9182100"/>
                <a:gd name="connsiteY37" fmla="*/ 221643 h 765639"/>
                <a:gd name="connsiteX38" fmla="*/ 1500092 w 9182100"/>
                <a:gd name="connsiteY38" fmla="*/ 245551 h 765639"/>
                <a:gd name="connsiteX39" fmla="*/ 1130046 w 9182100"/>
                <a:gd name="connsiteY39" fmla="*/ 318227 h 765639"/>
                <a:gd name="connsiteX40" fmla="*/ 944880 w 9182100"/>
                <a:gd name="connsiteY40" fmla="*/ 337658 h 765639"/>
                <a:gd name="connsiteX41" fmla="*/ 852583 w 9182100"/>
                <a:gd name="connsiteY41" fmla="*/ 341944 h 765639"/>
                <a:gd name="connsiteX42" fmla="*/ 760476 w 9182100"/>
                <a:gd name="connsiteY42" fmla="*/ 343087 h 765639"/>
                <a:gd name="connsiteX43" fmla="*/ 577215 w 9182100"/>
                <a:gd name="connsiteY43" fmla="*/ 332800 h 765639"/>
                <a:gd name="connsiteX44" fmla="*/ 394907 w 9182100"/>
                <a:gd name="connsiteY44" fmla="*/ 305463 h 765639"/>
                <a:gd name="connsiteX45" fmla="*/ 211265 w 9182100"/>
                <a:gd name="connsiteY45" fmla="*/ 261363 h 765639"/>
                <a:gd name="connsiteX46" fmla="*/ 17526 w 9182100"/>
                <a:gd name="connsiteY46" fmla="*/ 204880 h 765639"/>
                <a:gd name="connsiteX47" fmla="*/ 0 w 9182100"/>
                <a:gd name="connsiteY47" fmla="*/ 199927 h 765639"/>
                <a:gd name="connsiteX48" fmla="*/ 0 w 9182100"/>
                <a:gd name="connsiteY48" fmla="*/ 526920 h 765639"/>
                <a:gd name="connsiteX49" fmla="*/ 100298 w 9182100"/>
                <a:gd name="connsiteY49" fmla="*/ 571973 h 765639"/>
                <a:gd name="connsiteX50" fmla="*/ 301562 w 9182100"/>
                <a:gd name="connsiteY50" fmla="*/ 649697 h 765639"/>
                <a:gd name="connsiteX51" fmla="*/ 731044 w 9182100"/>
                <a:gd name="connsiteY51" fmla="*/ 746947 h 765639"/>
                <a:gd name="connsiteX52" fmla="*/ 1168241 w 9182100"/>
                <a:gd name="connsiteY52" fmla="*/ 762759 h 765639"/>
                <a:gd name="connsiteX53" fmla="*/ 1596581 w 9182100"/>
                <a:gd name="connsiteY53" fmla="*/ 716944 h 765639"/>
                <a:gd name="connsiteX54" fmla="*/ 1701641 w 9182100"/>
                <a:gd name="connsiteY54" fmla="*/ 697894 h 765639"/>
                <a:gd name="connsiteX55" fmla="*/ 1752124 w 9182100"/>
                <a:gd name="connsiteY55" fmla="*/ 688273 h 765639"/>
                <a:gd name="connsiteX56" fmla="*/ 1797939 w 9182100"/>
                <a:gd name="connsiteY56" fmla="*/ 679891 h 765639"/>
                <a:gd name="connsiteX57" fmla="*/ 1988630 w 9182100"/>
                <a:gd name="connsiteY57" fmla="*/ 649316 h 765639"/>
                <a:gd name="connsiteX58" fmla="*/ 2376297 w 9182100"/>
                <a:gd name="connsiteY58" fmla="*/ 601691 h 765639"/>
                <a:gd name="connsiteX59" fmla="*/ 2570416 w 9182100"/>
                <a:gd name="connsiteY59" fmla="*/ 584165 h 765639"/>
                <a:gd name="connsiteX60" fmla="*/ 2764155 w 9182100"/>
                <a:gd name="connsiteY60" fmla="*/ 571497 h 765639"/>
                <a:gd name="connsiteX61" fmla="*/ 2956941 w 9182100"/>
                <a:gd name="connsiteY61" fmla="*/ 564163 h 765639"/>
                <a:gd name="connsiteX62" fmla="*/ 3148298 w 9182100"/>
                <a:gd name="connsiteY62" fmla="*/ 562639 h 765639"/>
                <a:gd name="connsiteX63" fmla="*/ 3337274 w 9182100"/>
                <a:gd name="connsiteY63" fmla="*/ 568544 h 765639"/>
                <a:gd name="connsiteX64" fmla="*/ 3522345 w 9182100"/>
                <a:gd name="connsiteY64" fmla="*/ 583308 h 765639"/>
                <a:gd name="connsiteX65" fmla="*/ 3567779 w 9182100"/>
                <a:gd name="connsiteY65" fmla="*/ 588642 h 765639"/>
                <a:gd name="connsiteX66" fmla="*/ 3613785 w 9182100"/>
                <a:gd name="connsiteY66" fmla="*/ 594357 h 765639"/>
                <a:gd name="connsiteX67" fmla="*/ 3713798 w 9182100"/>
                <a:gd name="connsiteY67" fmla="*/ 607882 h 765639"/>
                <a:gd name="connsiteX68" fmla="*/ 3913823 w 9182100"/>
                <a:gd name="connsiteY68" fmla="*/ 634838 h 765639"/>
                <a:gd name="connsiteX69" fmla="*/ 4315873 w 9182100"/>
                <a:gd name="connsiteY69" fmla="*/ 686273 h 765639"/>
                <a:gd name="connsiteX70" fmla="*/ 4517422 w 9182100"/>
                <a:gd name="connsiteY70" fmla="*/ 710086 h 765639"/>
                <a:gd name="connsiteX71" fmla="*/ 4728972 w 9182100"/>
                <a:gd name="connsiteY71" fmla="*/ 731422 h 765639"/>
                <a:gd name="connsiteX72" fmla="*/ 5162931 w 9182100"/>
                <a:gd name="connsiteY72" fmla="*/ 744185 h 765639"/>
                <a:gd name="connsiteX73" fmla="*/ 5594033 w 9182100"/>
                <a:gd name="connsiteY73" fmla="*/ 706466 h 765639"/>
                <a:gd name="connsiteX74" fmla="*/ 5982939 w 9182100"/>
                <a:gd name="connsiteY74" fmla="*/ 655793 h 765639"/>
                <a:gd name="connsiteX75" fmla="*/ 6075045 w 9182100"/>
                <a:gd name="connsiteY75" fmla="*/ 648459 h 765639"/>
                <a:gd name="connsiteX76" fmla="*/ 6167819 w 9182100"/>
                <a:gd name="connsiteY76" fmla="*/ 643887 h 765639"/>
                <a:gd name="connsiteX77" fmla="*/ 6361081 w 9182100"/>
                <a:gd name="connsiteY77" fmla="*/ 639124 h 765639"/>
                <a:gd name="connsiteX78" fmla="*/ 6757321 w 9182100"/>
                <a:gd name="connsiteY78" fmla="*/ 640458 h 765639"/>
                <a:gd name="connsiteX79" fmla="*/ 7156704 w 9182100"/>
                <a:gd name="connsiteY79" fmla="*/ 649030 h 765639"/>
                <a:gd name="connsiteX80" fmla="*/ 7556373 w 9182100"/>
                <a:gd name="connsiteY80" fmla="*/ 662365 h 765639"/>
                <a:gd name="connsiteX81" fmla="*/ 7952328 w 9182100"/>
                <a:gd name="connsiteY81" fmla="*/ 682177 h 765639"/>
                <a:gd name="connsiteX82" fmla="*/ 8000714 w 9182100"/>
                <a:gd name="connsiteY82" fmla="*/ 685511 h 765639"/>
                <a:gd name="connsiteX83" fmla="*/ 8047196 w 9182100"/>
                <a:gd name="connsiteY83" fmla="*/ 689416 h 765639"/>
                <a:gd name="connsiteX84" fmla="*/ 8097965 w 9182100"/>
                <a:gd name="connsiteY84" fmla="*/ 693893 h 765639"/>
                <a:gd name="connsiteX85" fmla="*/ 8152733 w 9182100"/>
                <a:gd name="connsiteY85" fmla="*/ 697894 h 765639"/>
                <a:gd name="connsiteX86" fmla="*/ 8363903 w 9182100"/>
                <a:gd name="connsiteY86" fmla="*/ 705133 h 765639"/>
                <a:gd name="connsiteX87" fmla="*/ 8777764 w 9182100"/>
                <a:gd name="connsiteY87" fmla="*/ 698084 h 765639"/>
                <a:gd name="connsiteX88" fmla="*/ 9182005 w 9182100"/>
                <a:gd name="connsiteY88" fmla="*/ 668366 h 765639"/>
                <a:gd name="connsiteX89" fmla="*/ 9182005 w 9182100"/>
                <a:gd name="connsiteY89" fmla="*/ 351088 h 7656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</a:cxnLst>
              <a:rect l="l" t="t" r="r" b="b"/>
              <a:pathLst>
                <a:path w="9182100" h="765639">
                  <a:moveTo>
                    <a:pt x="9182100" y="351088"/>
                  </a:moveTo>
                  <a:cubicBezTo>
                    <a:pt x="9180862" y="351088"/>
                    <a:pt x="9179719" y="350993"/>
                    <a:pt x="9178480" y="350993"/>
                  </a:cubicBezTo>
                  <a:cubicBezTo>
                    <a:pt x="9047607" y="346421"/>
                    <a:pt x="8915591" y="337944"/>
                    <a:pt x="8783955" y="327561"/>
                  </a:cubicBezTo>
                  <a:cubicBezTo>
                    <a:pt x="8652320" y="316894"/>
                    <a:pt x="8520589" y="304416"/>
                    <a:pt x="8390763" y="288795"/>
                  </a:cubicBezTo>
                  <a:cubicBezTo>
                    <a:pt x="8325898" y="281175"/>
                    <a:pt x="8261509" y="272602"/>
                    <a:pt x="8199502" y="262601"/>
                  </a:cubicBezTo>
                  <a:cubicBezTo>
                    <a:pt x="8184070" y="260029"/>
                    <a:pt x="8168831" y="257553"/>
                    <a:pt x="8153972" y="254886"/>
                  </a:cubicBezTo>
                  <a:lnTo>
                    <a:pt x="8131588" y="250790"/>
                  </a:lnTo>
                  <a:lnTo>
                    <a:pt x="8104632" y="246504"/>
                  </a:lnTo>
                  <a:cubicBezTo>
                    <a:pt x="8086725" y="243741"/>
                    <a:pt x="8068247" y="240598"/>
                    <a:pt x="8050911" y="238217"/>
                  </a:cubicBezTo>
                  <a:lnTo>
                    <a:pt x="7998810" y="230978"/>
                  </a:lnTo>
                  <a:cubicBezTo>
                    <a:pt x="7860697" y="212023"/>
                    <a:pt x="7725633" y="198021"/>
                    <a:pt x="7589902" y="183925"/>
                  </a:cubicBezTo>
                  <a:cubicBezTo>
                    <a:pt x="7454360" y="170304"/>
                    <a:pt x="7319010" y="158779"/>
                    <a:pt x="7183469" y="147634"/>
                  </a:cubicBezTo>
                  <a:cubicBezTo>
                    <a:pt x="7047929" y="137252"/>
                    <a:pt x="6912198" y="127632"/>
                    <a:pt x="6775990" y="119821"/>
                  </a:cubicBezTo>
                  <a:cubicBezTo>
                    <a:pt x="6639592" y="112582"/>
                    <a:pt x="6503194" y="105439"/>
                    <a:pt x="6364795" y="102391"/>
                  </a:cubicBezTo>
                  <a:cubicBezTo>
                    <a:pt x="6295263" y="101057"/>
                    <a:pt x="6225826" y="99819"/>
                    <a:pt x="6154293" y="100581"/>
                  </a:cubicBezTo>
                  <a:cubicBezTo>
                    <a:pt x="6136577" y="100581"/>
                    <a:pt x="6118860" y="100581"/>
                    <a:pt x="6100287" y="101343"/>
                  </a:cubicBezTo>
                  <a:cubicBezTo>
                    <a:pt x="6081903" y="101819"/>
                    <a:pt x="6063615" y="102486"/>
                    <a:pt x="6045327" y="103438"/>
                  </a:cubicBezTo>
                  <a:cubicBezTo>
                    <a:pt x="6008656" y="104962"/>
                    <a:pt x="5972175" y="107439"/>
                    <a:pt x="5935980" y="110296"/>
                  </a:cubicBezTo>
                  <a:cubicBezTo>
                    <a:pt x="5790724" y="121631"/>
                    <a:pt x="5651659" y="142110"/>
                    <a:pt x="5523357" y="157635"/>
                  </a:cubicBezTo>
                  <a:cubicBezTo>
                    <a:pt x="5394484" y="173542"/>
                    <a:pt x="5273040" y="183543"/>
                    <a:pt x="5149882" y="185639"/>
                  </a:cubicBezTo>
                  <a:cubicBezTo>
                    <a:pt x="5027010" y="187925"/>
                    <a:pt x="4902803" y="182210"/>
                    <a:pt x="4777073" y="170685"/>
                  </a:cubicBezTo>
                  <a:lnTo>
                    <a:pt x="4729925" y="166208"/>
                  </a:lnTo>
                  <a:lnTo>
                    <a:pt x="4682585" y="161064"/>
                  </a:lnTo>
                  <a:cubicBezTo>
                    <a:pt x="4666869" y="159445"/>
                    <a:pt x="4650963" y="157350"/>
                    <a:pt x="4635151" y="155445"/>
                  </a:cubicBezTo>
                  <a:lnTo>
                    <a:pt x="4611434" y="152492"/>
                  </a:lnTo>
                  <a:cubicBezTo>
                    <a:pt x="4603623" y="151539"/>
                    <a:pt x="4595622" y="150587"/>
                    <a:pt x="4587145" y="149349"/>
                  </a:cubicBezTo>
                  <a:lnTo>
                    <a:pt x="4387977" y="122774"/>
                  </a:lnTo>
                  <a:lnTo>
                    <a:pt x="3989356" y="68577"/>
                  </a:lnTo>
                  <a:lnTo>
                    <a:pt x="3789140" y="42192"/>
                  </a:lnTo>
                  <a:lnTo>
                    <a:pt x="3689033" y="29143"/>
                  </a:lnTo>
                  <a:lnTo>
                    <a:pt x="3634835" y="22571"/>
                  </a:lnTo>
                  <a:cubicBezTo>
                    <a:pt x="3616452" y="20285"/>
                    <a:pt x="3598069" y="18380"/>
                    <a:pt x="3579876" y="16856"/>
                  </a:cubicBezTo>
                  <a:cubicBezTo>
                    <a:pt x="3433667" y="3140"/>
                    <a:pt x="3289840" y="-1622"/>
                    <a:pt x="3147441" y="473"/>
                  </a:cubicBezTo>
                  <a:cubicBezTo>
                    <a:pt x="3005138" y="2283"/>
                    <a:pt x="2864263" y="10188"/>
                    <a:pt x="2724722" y="22857"/>
                  </a:cubicBezTo>
                  <a:cubicBezTo>
                    <a:pt x="2445353" y="48098"/>
                    <a:pt x="2171129" y="90198"/>
                    <a:pt x="1898428" y="147730"/>
                  </a:cubicBezTo>
                  <a:cubicBezTo>
                    <a:pt x="1830134" y="162208"/>
                    <a:pt x="1762030" y="177448"/>
                    <a:pt x="1692878" y="195069"/>
                  </a:cubicBezTo>
                  <a:lnTo>
                    <a:pt x="1640205" y="208785"/>
                  </a:lnTo>
                  <a:lnTo>
                    <a:pt x="1592294" y="221643"/>
                  </a:lnTo>
                  <a:cubicBezTo>
                    <a:pt x="1561624" y="229740"/>
                    <a:pt x="1530858" y="238503"/>
                    <a:pt x="1500092" y="245551"/>
                  </a:cubicBezTo>
                  <a:cubicBezTo>
                    <a:pt x="1377125" y="276412"/>
                    <a:pt x="1253490" y="300987"/>
                    <a:pt x="1130046" y="318227"/>
                  </a:cubicBezTo>
                  <a:cubicBezTo>
                    <a:pt x="1068229" y="326895"/>
                    <a:pt x="1006602" y="333086"/>
                    <a:pt x="944880" y="337658"/>
                  </a:cubicBezTo>
                  <a:cubicBezTo>
                    <a:pt x="914114" y="339277"/>
                    <a:pt x="883253" y="341563"/>
                    <a:pt x="852583" y="341944"/>
                  </a:cubicBezTo>
                  <a:cubicBezTo>
                    <a:pt x="821817" y="343278"/>
                    <a:pt x="791147" y="342992"/>
                    <a:pt x="760476" y="343087"/>
                  </a:cubicBezTo>
                  <a:cubicBezTo>
                    <a:pt x="699230" y="342135"/>
                    <a:pt x="638175" y="338706"/>
                    <a:pt x="577215" y="332800"/>
                  </a:cubicBezTo>
                  <a:cubicBezTo>
                    <a:pt x="516255" y="326895"/>
                    <a:pt x="455771" y="317179"/>
                    <a:pt x="394907" y="305463"/>
                  </a:cubicBezTo>
                  <a:cubicBezTo>
                    <a:pt x="334137" y="293557"/>
                    <a:pt x="273368" y="278412"/>
                    <a:pt x="211265" y="261363"/>
                  </a:cubicBezTo>
                  <a:cubicBezTo>
                    <a:pt x="149066" y="244123"/>
                    <a:pt x="85820" y="224310"/>
                    <a:pt x="17526" y="204880"/>
                  </a:cubicBezTo>
                  <a:cubicBezTo>
                    <a:pt x="11716" y="203165"/>
                    <a:pt x="5906" y="201546"/>
                    <a:pt x="0" y="199927"/>
                  </a:cubicBezTo>
                  <a:lnTo>
                    <a:pt x="0" y="526920"/>
                  </a:lnTo>
                  <a:cubicBezTo>
                    <a:pt x="32576" y="541874"/>
                    <a:pt x="66104" y="557114"/>
                    <a:pt x="100298" y="571973"/>
                  </a:cubicBezTo>
                  <a:cubicBezTo>
                    <a:pt x="164973" y="600167"/>
                    <a:pt x="232410" y="626456"/>
                    <a:pt x="301562" y="649697"/>
                  </a:cubicBezTo>
                  <a:cubicBezTo>
                    <a:pt x="439865" y="696655"/>
                    <a:pt x="585216" y="728754"/>
                    <a:pt x="731044" y="746947"/>
                  </a:cubicBezTo>
                  <a:cubicBezTo>
                    <a:pt x="876967" y="764664"/>
                    <a:pt x="1023652" y="769426"/>
                    <a:pt x="1168241" y="762759"/>
                  </a:cubicBezTo>
                  <a:cubicBezTo>
                    <a:pt x="1313021" y="756663"/>
                    <a:pt x="1455896" y="740185"/>
                    <a:pt x="1596581" y="716944"/>
                  </a:cubicBezTo>
                  <a:cubicBezTo>
                    <a:pt x="1632014" y="711610"/>
                    <a:pt x="1666685" y="704371"/>
                    <a:pt x="1701641" y="697894"/>
                  </a:cubicBezTo>
                  <a:lnTo>
                    <a:pt x="1752124" y="688273"/>
                  </a:lnTo>
                  <a:lnTo>
                    <a:pt x="1797939" y="679891"/>
                  </a:lnTo>
                  <a:cubicBezTo>
                    <a:pt x="1860328" y="669128"/>
                    <a:pt x="1924431" y="658746"/>
                    <a:pt x="1988630" y="649316"/>
                  </a:cubicBezTo>
                  <a:cubicBezTo>
                    <a:pt x="2117217" y="630838"/>
                    <a:pt x="2246852" y="614645"/>
                    <a:pt x="2376297" y="601691"/>
                  </a:cubicBezTo>
                  <a:cubicBezTo>
                    <a:pt x="2441067" y="595214"/>
                    <a:pt x="2505742" y="589118"/>
                    <a:pt x="2570416" y="584165"/>
                  </a:cubicBezTo>
                  <a:cubicBezTo>
                    <a:pt x="2635091" y="579402"/>
                    <a:pt x="2699671" y="574831"/>
                    <a:pt x="2764155" y="571497"/>
                  </a:cubicBezTo>
                  <a:cubicBezTo>
                    <a:pt x="2828639" y="568068"/>
                    <a:pt x="2892933" y="565401"/>
                    <a:pt x="2956941" y="564163"/>
                  </a:cubicBezTo>
                  <a:cubicBezTo>
                    <a:pt x="3021045" y="562353"/>
                    <a:pt x="3084766" y="561972"/>
                    <a:pt x="3148298" y="562639"/>
                  </a:cubicBezTo>
                  <a:cubicBezTo>
                    <a:pt x="3211735" y="563305"/>
                    <a:pt x="3274695" y="565591"/>
                    <a:pt x="3337274" y="568544"/>
                  </a:cubicBezTo>
                  <a:cubicBezTo>
                    <a:pt x="3399568" y="572259"/>
                    <a:pt x="3461671" y="576259"/>
                    <a:pt x="3522345" y="583308"/>
                  </a:cubicBezTo>
                  <a:cubicBezTo>
                    <a:pt x="3537680" y="584737"/>
                    <a:pt x="3552730" y="586737"/>
                    <a:pt x="3567779" y="588642"/>
                  </a:cubicBezTo>
                  <a:lnTo>
                    <a:pt x="3613785" y="594357"/>
                  </a:lnTo>
                  <a:lnTo>
                    <a:pt x="3713798" y="607882"/>
                  </a:lnTo>
                  <a:lnTo>
                    <a:pt x="3913823" y="634838"/>
                  </a:lnTo>
                  <a:cubicBezTo>
                    <a:pt x="4047268" y="652078"/>
                    <a:pt x="4180904" y="670366"/>
                    <a:pt x="4315873" y="686273"/>
                  </a:cubicBezTo>
                  <a:lnTo>
                    <a:pt x="4517422" y="710086"/>
                  </a:lnTo>
                  <a:cubicBezTo>
                    <a:pt x="4586573" y="717896"/>
                    <a:pt x="4657916" y="725992"/>
                    <a:pt x="4728972" y="731422"/>
                  </a:cubicBezTo>
                  <a:cubicBezTo>
                    <a:pt x="4871371" y="743042"/>
                    <a:pt x="5016627" y="748376"/>
                    <a:pt x="5162931" y="744185"/>
                  </a:cubicBezTo>
                  <a:cubicBezTo>
                    <a:pt x="5308949" y="740566"/>
                    <a:pt x="5456111" y="725611"/>
                    <a:pt x="5594033" y="706466"/>
                  </a:cubicBezTo>
                  <a:cubicBezTo>
                    <a:pt x="5732621" y="687511"/>
                    <a:pt x="5859876" y="667033"/>
                    <a:pt x="5982939" y="655793"/>
                  </a:cubicBezTo>
                  <a:cubicBezTo>
                    <a:pt x="6013799" y="652936"/>
                    <a:pt x="6044375" y="650364"/>
                    <a:pt x="6075045" y="648459"/>
                  </a:cubicBezTo>
                  <a:cubicBezTo>
                    <a:pt x="6105906" y="646363"/>
                    <a:pt x="6135529" y="645125"/>
                    <a:pt x="6167819" y="643887"/>
                  </a:cubicBezTo>
                  <a:cubicBezTo>
                    <a:pt x="6230779" y="641125"/>
                    <a:pt x="6295930" y="640077"/>
                    <a:pt x="6361081" y="639124"/>
                  </a:cubicBezTo>
                  <a:cubicBezTo>
                    <a:pt x="6491955" y="637981"/>
                    <a:pt x="6624638" y="638553"/>
                    <a:pt x="6757321" y="640458"/>
                  </a:cubicBezTo>
                  <a:cubicBezTo>
                    <a:pt x="6890195" y="642553"/>
                    <a:pt x="7023449" y="645030"/>
                    <a:pt x="7156704" y="649030"/>
                  </a:cubicBezTo>
                  <a:cubicBezTo>
                    <a:pt x="7289959" y="652650"/>
                    <a:pt x="7423404" y="656841"/>
                    <a:pt x="7556373" y="662365"/>
                  </a:cubicBezTo>
                  <a:cubicBezTo>
                    <a:pt x="7689152" y="667509"/>
                    <a:pt x="7822502" y="673986"/>
                    <a:pt x="7952328" y="682177"/>
                  </a:cubicBezTo>
                  <a:lnTo>
                    <a:pt x="8000714" y="685511"/>
                  </a:lnTo>
                  <a:cubicBezTo>
                    <a:pt x="8016811" y="686654"/>
                    <a:pt x="8031670" y="688178"/>
                    <a:pt x="8047196" y="689416"/>
                  </a:cubicBezTo>
                  <a:lnTo>
                    <a:pt x="8097965" y="693893"/>
                  </a:lnTo>
                  <a:cubicBezTo>
                    <a:pt x="8116539" y="695417"/>
                    <a:pt x="8134731" y="696846"/>
                    <a:pt x="8152733" y="697894"/>
                  </a:cubicBezTo>
                  <a:cubicBezTo>
                    <a:pt x="8224647" y="701989"/>
                    <a:pt x="8294465" y="704085"/>
                    <a:pt x="8363903" y="705133"/>
                  </a:cubicBezTo>
                  <a:cubicBezTo>
                    <a:pt x="8502777" y="706657"/>
                    <a:pt x="8640223" y="704180"/>
                    <a:pt x="8777764" y="698084"/>
                  </a:cubicBezTo>
                  <a:cubicBezTo>
                    <a:pt x="8912352" y="692083"/>
                    <a:pt x="9046845" y="682749"/>
                    <a:pt x="9182005" y="668366"/>
                  </a:cubicBezTo>
                  <a:lnTo>
                    <a:pt x="9182005" y="351088"/>
                  </a:ln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2" name="Freeform: Shape 51">
              <a:extLst>
                <a:ext uri="{FF2B5EF4-FFF2-40B4-BE49-F238E27FC236}">
                  <a16:creationId xmlns:a16="http://schemas.microsoft.com/office/drawing/2014/main" id="{133EDCAA-1D6C-4710-9DA1-C7FC946D8EE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3501488"/>
              <a:ext cx="12188952" cy="641669"/>
            </a:xfrm>
            <a:custGeom>
              <a:avLst/>
              <a:gdLst>
                <a:gd name="connsiteX0" fmla="*/ 9182100 w 9182100"/>
                <a:gd name="connsiteY0" fmla="*/ 154189 h 544245"/>
                <a:gd name="connsiteX1" fmla="*/ 9047702 w 9182100"/>
                <a:gd name="connsiteY1" fmla="*/ 162762 h 544245"/>
                <a:gd name="connsiteX2" fmla="*/ 8652224 w 9182100"/>
                <a:gd name="connsiteY2" fmla="*/ 178287 h 544245"/>
                <a:gd name="connsiteX3" fmla="*/ 8255603 w 9182100"/>
                <a:gd name="connsiteY3" fmla="*/ 161047 h 544245"/>
                <a:gd name="connsiteX4" fmla="*/ 8060722 w 9182100"/>
                <a:gd name="connsiteY4" fmla="*/ 140854 h 544245"/>
                <a:gd name="connsiteX5" fmla="*/ 8013478 w 9182100"/>
                <a:gd name="connsiteY5" fmla="*/ 134187 h 544245"/>
                <a:gd name="connsiteX6" fmla="*/ 7990428 w 9182100"/>
                <a:gd name="connsiteY6" fmla="*/ 130567 h 544245"/>
                <a:gd name="connsiteX7" fmla="*/ 7964139 w 9182100"/>
                <a:gd name="connsiteY7" fmla="*/ 126853 h 544245"/>
                <a:gd name="connsiteX8" fmla="*/ 7911656 w 9182100"/>
                <a:gd name="connsiteY8" fmla="*/ 119518 h 544245"/>
                <a:gd name="connsiteX9" fmla="*/ 7860220 w 9182100"/>
                <a:gd name="connsiteY9" fmla="*/ 113232 h 544245"/>
                <a:gd name="connsiteX10" fmla="*/ 7453884 w 9182100"/>
                <a:gd name="connsiteY10" fmla="*/ 70369 h 544245"/>
                <a:gd name="connsiteX11" fmla="*/ 7048976 w 9182100"/>
                <a:gd name="connsiteY11" fmla="*/ 36556 h 544245"/>
                <a:gd name="connsiteX12" fmla="*/ 6846285 w 9182100"/>
                <a:gd name="connsiteY12" fmla="*/ 22649 h 544245"/>
                <a:gd name="connsiteX13" fmla="*/ 6643212 w 9182100"/>
                <a:gd name="connsiteY13" fmla="*/ 11600 h 544245"/>
                <a:gd name="connsiteX14" fmla="*/ 6541485 w 9182100"/>
                <a:gd name="connsiteY14" fmla="*/ 7314 h 544245"/>
                <a:gd name="connsiteX15" fmla="*/ 6439567 w 9182100"/>
                <a:gd name="connsiteY15" fmla="*/ 3885 h 544245"/>
                <a:gd name="connsiteX16" fmla="*/ 6337459 w 9182100"/>
                <a:gd name="connsiteY16" fmla="*/ 1313 h 544245"/>
                <a:gd name="connsiteX17" fmla="*/ 6234970 w 9182100"/>
                <a:gd name="connsiteY17" fmla="*/ 75 h 544245"/>
                <a:gd name="connsiteX18" fmla="*/ 6027802 w 9182100"/>
                <a:gd name="connsiteY18" fmla="*/ 2265 h 544245"/>
                <a:gd name="connsiteX19" fmla="*/ 5921978 w 9182100"/>
                <a:gd name="connsiteY19" fmla="*/ 6552 h 544245"/>
                <a:gd name="connsiteX20" fmla="*/ 5815965 w 9182100"/>
                <a:gd name="connsiteY20" fmla="*/ 14362 h 544245"/>
                <a:gd name="connsiteX21" fmla="*/ 5408390 w 9182100"/>
                <a:gd name="connsiteY21" fmla="*/ 67036 h 544245"/>
                <a:gd name="connsiteX22" fmla="*/ 5023866 w 9182100"/>
                <a:gd name="connsiteY22" fmla="*/ 103992 h 544245"/>
                <a:gd name="connsiteX23" fmla="*/ 4831556 w 9182100"/>
                <a:gd name="connsiteY23" fmla="*/ 106374 h 544245"/>
                <a:gd name="connsiteX24" fmla="*/ 4637723 w 9182100"/>
                <a:gd name="connsiteY24" fmla="*/ 98754 h 544245"/>
                <a:gd name="connsiteX25" fmla="*/ 4442460 w 9182100"/>
                <a:gd name="connsiteY25" fmla="*/ 83038 h 544245"/>
                <a:gd name="connsiteX26" fmla="*/ 4341686 w 9182100"/>
                <a:gd name="connsiteY26" fmla="*/ 77227 h 544245"/>
                <a:gd name="connsiteX27" fmla="*/ 4241006 w 9182100"/>
                <a:gd name="connsiteY27" fmla="*/ 71989 h 544245"/>
                <a:gd name="connsiteX28" fmla="*/ 3836956 w 9182100"/>
                <a:gd name="connsiteY28" fmla="*/ 54177 h 544245"/>
                <a:gd name="connsiteX29" fmla="*/ 3634549 w 9182100"/>
                <a:gd name="connsiteY29" fmla="*/ 45414 h 544245"/>
                <a:gd name="connsiteX30" fmla="*/ 3533394 w 9182100"/>
                <a:gd name="connsiteY30" fmla="*/ 40461 h 544245"/>
                <a:gd name="connsiteX31" fmla="*/ 3481959 w 9182100"/>
                <a:gd name="connsiteY31" fmla="*/ 37889 h 544245"/>
                <a:gd name="connsiteX32" fmla="*/ 3430238 w 9182100"/>
                <a:gd name="connsiteY32" fmla="*/ 35889 h 544245"/>
                <a:gd name="connsiteX33" fmla="*/ 3020473 w 9182100"/>
                <a:gd name="connsiteY33" fmla="*/ 37603 h 544245"/>
                <a:gd name="connsiteX34" fmla="*/ 2614422 w 9182100"/>
                <a:gd name="connsiteY34" fmla="*/ 56844 h 544245"/>
                <a:gd name="connsiteX35" fmla="*/ 2208657 w 9182100"/>
                <a:gd name="connsiteY35" fmla="*/ 81609 h 544245"/>
                <a:gd name="connsiteX36" fmla="*/ 1800606 w 9182100"/>
                <a:gd name="connsiteY36" fmla="*/ 107612 h 544245"/>
                <a:gd name="connsiteX37" fmla="*/ 1594676 w 9182100"/>
                <a:gd name="connsiteY37" fmla="*/ 124948 h 544245"/>
                <a:gd name="connsiteX38" fmla="*/ 1491996 w 9182100"/>
                <a:gd name="connsiteY38" fmla="*/ 136568 h 544245"/>
                <a:gd name="connsiteX39" fmla="*/ 1442942 w 9182100"/>
                <a:gd name="connsiteY39" fmla="*/ 141902 h 544245"/>
                <a:gd name="connsiteX40" fmla="*/ 1418463 w 9182100"/>
                <a:gd name="connsiteY40" fmla="*/ 144664 h 544245"/>
                <a:gd name="connsiteX41" fmla="*/ 1393984 w 9182100"/>
                <a:gd name="connsiteY41" fmla="*/ 146855 h 544245"/>
                <a:gd name="connsiteX42" fmla="*/ 1006697 w 9182100"/>
                <a:gd name="connsiteY42" fmla="*/ 169810 h 544245"/>
                <a:gd name="connsiteX43" fmla="*/ 816864 w 9182100"/>
                <a:gd name="connsiteY43" fmla="*/ 170953 h 544245"/>
                <a:gd name="connsiteX44" fmla="*/ 769906 w 9182100"/>
                <a:gd name="connsiteY44" fmla="*/ 169715 h 544245"/>
                <a:gd name="connsiteX45" fmla="*/ 723043 w 9182100"/>
                <a:gd name="connsiteY45" fmla="*/ 168096 h 544245"/>
                <a:gd name="connsiteX46" fmla="*/ 676370 w 9182100"/>
                <a:gd name="connsiteY46" fmla="*/ 166286 h 544245"/>
                <a:gd name="connsiteX47" fmla="*/ 629888 w 9182100"/>
                <a:gd name="connsiteY47" fmla="*/ 163333 h 544245"/>
                <a:gd name="connsiteX48" fmla="*/ 445484 w 9182100"/>
                <a:gd name="connsiteY48" fmla="*/ 146093 h 544245"/>
                <a:gd name="connsiteX49" fmla="*/ 263366 w 9182100"/>
                <a:gd name="connsiteY49" fmla="*/ 115232 h 544245"/>
                <a:gd name="connsiteX50" fmla="*/ 81439 w 9182100"/>
                <a:gd name="connsiteY50" fmla="*/ 70369 h 544245"/>
                <a:gd name="connsiteX51" fmla="*/ 35338 w 9182100"/>
                <a:gd name="connsiteY51" fmla="*/ 57034 h 544245"/>
                <a:gd name="connsiteX52" fmla="*/ 0 w 9182100"/>
                <a:gd name="connsiteY52" fmla="*/ 46652 h 544245"/>
                <a:gd name="connsiteX53" fmla="*/ 0 w 9182100"/>
                <a:gd name="connsiteY53" fmla="*/ 426795 h 544245"/>
                <a:gd name="connsiteX54" fmla="*/ 178594 w 9182100"/>
                <a:gd name="connsiteY54" fmla="*/ 479658 h 544245"/>
                <a:gd name="connsiteX55" fmla="*/ 610457 w 9182100"/>
                <a:gd name="connsiteY55" fmla="*/ 542619 h 544245"/>
                <a:gd name="connsiteX56" fmla="*/ 826865 w 9182100"/>
                <a:gd name="connsiteY56" fmla="*/ 539666 h 544245"/>
                <a:gd name="connsiteX57" fmla="*/ 1039654 w 9182100"/>
                <a:gd name="connsiteY57" fmla="*/ 515187 h 544245"/>
                <a:gd name="connsiteX58" fmla="*/ 1449705 w 9182100"/>
                <a:gd name="connsiteY58" fmla="*/ 415270 h 544245"/>
                <a:gd name="connsiteX59" fmla="*/ 1548765 w 9182100"/>
                <a:gd name="connsiteY59" fmla="*/ 382123 h 544245"/>
                <a:gd name="connsiteX60" fmla="*/ 1642872 w 9182100"/>
                <a:gd name="connsiteY60" fmla="*/ 349261 h 544245"/>
                <a:gd name="connsiteX61" fmla="*/ 1832991 w 9182100"/>
                <a:gd name="connsiteY61" fmla="*/ 289158 h 544245"/>
                <a:gd name="connsiteX62" fmla="*/ 2222754 w 9182100"/>
                <a:gd name="connsiteY62" fmla="*/ 193623 h 544245"/>
                <a:gd name="connsiteX63" fmla="*/ 2620137 w 9182100"/>
                <a:gd name="connsiteY63" fmla="*/ 138378 h 544245"/>
                <a:gd name="connsiteX64" fmla="*/ 3020473 w 9182100"/>
                <a:gd name="connsiteY64" fmla="*/ 127234 h 544245"/>
                <a:gd name="connsiteX65" fmla="*/ 3219736 w 9182100"/>
                <a:gd name="connsiteY65" fmla="*/ 139807 h 544245"/>
                <a:gd name="connsiteX66" fmla="*/ 3318605 w 9182100"/>
                <a:gd name="connsiteY66" fmla="*/ 151713 h 544245"/>
                <a:gd name="connsiteX67" fmla="*/ 3367754 w 9182100"/>
                <a:gd name="connsiteY67" fmla="*/ 158666 h 544245"/>
                <a:gd name="connsiteX68" fmla="*/ 3416618 w 9182100"/>
                <a:gd name="connsiteY68" fmla="*/ 166858 h 544245"/>
                <a:gd name="connsiteX69" fmla="*/ 3465195 w 9182100"/>
                <a:gd name="connsiteY69" fmla="*/ 176097 h 544245"/>
                <a:gd name="connsiteX70" fmla="*/ 3513868 w 9182100"/>
                <a:gd name="connsiteY70" fmla="*/ 185908 h 544245"/>
                <a:gd name="connsiteX71" fmla="*/ 3612737 w 9182100"/>
                <a:gd name="connsiteY71" fmla="*/ 207625 h 544245"/>
                <a:gd name="connsiteX72" fmla="*/ 3810381 w 9182100"/>
                <a:gd name="connsiteY72" fmla="*/ 252106 h 544245"/>
                <a:gd name="connsiteX73" fmla="*/ 4206621 w 9182100"/>
                <a:gd name="connsiteY73" fmla="*/ 339736 h 544245"/>
                <a:gd name="connsiteX74" fmla="*/ 4306062 w 9182100"/>
                <a:gd name="connsiteY74" fmla="*/ 359834 h 544245"/>
                <a:gd name="connsiteX75" fmla="*/ 4405503 w 9182100"/>
                <a:gd name="connsiteY75" fmla="*/ 378979 h 544245"/>
                <a:gd name="connsiteX76" fmla="*/ 4611529 w 9182100"/>
                <a:gd name="connsiteY76" fmla="*/ 405745 h 544245"/>
                <a:gd name="connsiteX77" fmla="*/ 5031677 w 9182100"/>
                <a:gd name="connsiteY77" fmla="*/ 427462 h 544245"/>
                <a:gd name="connsiteX78" fmla="*/ 5243227 w 9182100"/>
                <a:gd name="connsiteY78" fmla="*/ 418699 h 544245"/>
                <a:gd name="connsiteX79" fmla="*/ 5451062 w 9182100"/>
                <a:gd name="connsiteY79" fmla="*/ 398029 h 544245"/>
                <a:gd name="connsiteX80" fmla="*/ 5844635 w 9182100"/>
                <a:gd name="connsiteY80" fmla="*/ 353071 h 544245"/>
                <a:gd name="connsiteX81" fmla="*/ 5939981 w 9182100"/>
                <a:gd name="connsiteY81" fmla="*/ 346975 h 544245"/>
                <a:gd name="connsiteX82" fmla="*/ 6035898 w 9182100"/>
                <a:gd name="connsiteY82" fmla="*/ 344118 h 544245"/>
                <a:gd name="connsiteX83" fmla="*/ 6232303 w 9182100"/>
                <a:gd name="connsiteY83" fmla="*/ 343642 h 544245"/>
                <a:gd name="connsiteX84" fmla="*/ 6630924 w 9182100"/>
                <a:gd name="connsiteY84" fmla="*/ 351071 h 544245"/>
                <a:gd name="connsiteX85" fmla="*/ 6831140 w 9182100"/>
                <a:gd name="connsiteY85" fmla="*/ 356596 h 544245"/>
                <a:gd name="connsiteX86" fmla="*/ 7031545 w 9182100"/>
                <a:gd name="connsiteY86" fmla="*/ 362501 h 544245"/>
                <a:gd name="connsiteX87" fmla="*/ 7432262 w 9182100"/>
                <a:gd name="connsiteY87" fmla="*/ 378408 h 544245"/>
                <a:gd name="connsiteX88" fmla="*/ 7830312 w 9182100"/>
                <a:gd name="connsiteY88" fmla="*/ 402506 h 544245"/>
                <a:gd name="connsiteX89" fmla="*/ 7879270 w 9182100"/>
                <a:gd name="connsiteY89" fmla="*/ 406792 h 544245"/>
                <a:gd name="connsiteX90" fmla="*/ 7926895 w 9182100"/>
                <a:gd name="connsiteY90" fmla="*/ 411745 h 544245"/>
                <a:gd name="connsiteX91" fmla="*/ 7977569 w 9182100"/>
                <a:gd name="connsiteY91" fmla="*/ 417175 h 544245"/>
                <a:gd name="connsiteX92" fmla="*/ 8030623 w 9182100"/>
                <a:gd name="connsiteY92" fmla="*/ 422127 h 544245"/>
                <a:gd name="connsiteX93" fmla="*/ 8237982 w 9182100"/>
                <a:gd name="connsiteY93" fmla="*/ 435177 h 544245"/>
                <a:gd name="connsiteX94" fmla="*/ 8647748 w 9182100"/>
                <a:gd name="connsiteY94" fmla="*/ 449464 h 544245"/>
                <a:gd name="connsiteX95" fmla="*/ 8852821 w 9182100"/>
                <a:gd name="connsiteY95" fmla="*/ 456132 h 544245"/>
                <a:gd name="connsiteX96" fmla="*/ 8955786 w 9182100"/>
                <a:gd name="connsiteY96" fmla="*/ 458132 h 544245"/>
                <a:gd name="connsiteX97" fmla="*/ 9059227 w 9182100"/>
                <a:gd name="connsiteY97" fmla="*/ 457751 h 544245"/>
                <a:gd name="connsiteX98" fmla="*/ 9182005 w 9182100"/>
                <a:gd name="connsiteY98" fmla="*/ 452512 h 544245"/>
                <a:gd name="connsiteX99" fmla="*/ 9182005 w 9182100"/>
                <a:gd name="connsiteY99" fmla="*/ 154189 h 544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</a:cxnLst>
              <a:rect l="l" t="t" r="r" b="b"/>
              <a:pathLst>
                <a:path w="9182100" h="544245">
                  <a:moveTo>
                    <a:pt x="9182100" y="154189"/>
                  </a:moveTo>
                  <a:cubicBezTo>
                    <a:pt x="9137618" y="157142"/>
                    <a:pt x="9092851" y="159904"/>
                    <a:pt x="9047702" y="162762"/>
                  </a:cubicBezTo>
                  <a:cubicBezTo>
                    <a:pt x="8917114" y="170668"/>
                    <a:pt x="8784717" y="178002"/>
                    <a:pt x="8652224" y="178287"/>
                  </a:cubicBezTo>
                  <a:cubicBezTo>
                    <a:pt x="8519732" y="178764"/>
                    <a:pt x="8387049" y="171239"/>
                    <a:pt x="8255603" y="161047"/>
                  </a:cubicBezTo>
                  <a:cubicBezTo>
                    <a:pt x="8189881" y="155904"/>
                    <a:pt x="8124539" y="149236"/>
                    <a:pt x="8060722" y="140854"/>
                  </a:cubicBezTo>
                  <a:cubicBezTo>
                    <a:pt x="8044815" y="138759"/>
                    <a:pt x="8029099" y="136473"/>
                    <a:pt x="8013478" y="134187"/>
                  </a:cubicBezTo>
                  <a:lnTo>
                    <a:pt x="7990428" y="130567"/>
                  </a:lnTo>
                  <a:lnTo>
                    <a:pt x="7964139" y="126853"/>
                  </a:lnTo>
                  <a:cubicBezTo>
                    <a:pt x="7946708" y="124376"/>
                    <a:pt x="7928896" y="121709"/>
                    <a:pt x="7911656" y="119518"/>
                  </a:cubicBezTo>
                  <a:lnTo>
                    <a:pt x="7860220" y="113232"/>
                  </a:lnTo>
                  <a:cubicBezTo>
                    <a:pt x="7723728" y="96277"/>
                    <a:pt x="7589044" y="83038"/>
                    <a:pt x="7453884" y="70369"/>
                  </a:cubicBezTo>
                  <a:cubicBezTo>
                    <a:pt x="7318915" y="57701"/>
                    <a:pt x="7184041" y="46366"/>
                    <a:pt x="7048976" y="36556"/>
                  </a:cubicBezTo>
                  <a:cubicBezTo>
                    <a:pt x="6981444" y="31793"/>
                    <a:pt x="6913912" y="26840"/>
                    <a:pt x="6846285" y="22649"/>
                  </a:cubicBezTo>
                  <a:cubicBezTo>
                    <a:pt x="6778657" y="18553"/>
                    <a:pt x="6710934" y="14934"/>
                    <a:pt x="6643212" y="11600"/>
                  </a:cubicBezTo>
                  <a:lnTo>
                    <a:pt x="6541485" y="7314"/>
                  </a:lnTo>
                  <a:cubicBezTo>
                    <a:pt x="6507576" y="5790"/>
                    <a:pt x="6473667" y="4647"/>
                    <a:pt x="6439567" y="3885"/>
                  </a:cubicBezTo>
                  <a:lnTo>
                    <a:pt x="6337459" y="1313"/>
                  </a:lnTo>
                  <a:lnTo>
                    <a:pt x="6234970" y="75"/>
                  </a:lnTo>
                  <a:cubicBezTo>
                    <a:pt x="6166295" y="-116"/>
                    <a:pt x="6097715" y="-116"/>
                    <a:pt x="6027802" y="2265"/>
                  </a:cubicBezTo>
                  <a:cubicBezTo>
                    <a:pt x="5993320" y="3123"/>
                    <a:pt x="5957412" y="4456"/>
                    <a:pt x="5921978" y="6552"/>
                  </a:cubicBezTo>
                  <a:cubicBezTo>
                    <a:pt x="5886546" y="8552"/>
                    <a:pt x="5851112" y="11124"/>
                    <a:pt x="5815965" y="14362"/>
                  </a:cubicBezTo>
                  <a:cubicBezTo>
                    <a:pt x="5674995" y="27126"/>
                    <a:pt x="5538597" y="48938"/>
                    <a:pt x="5408390" y="67036"/>
                  </a:cubicBezTo>
                  <a:cubicBezTo>
                    <a:pt x="5277993" y="85514"/>
                    <a:pt x="5151692" y="99039"/>
                    <a:pt x="5023866" y="103992"/>
                  </a:cubicBezTo>
                  <a:cubicBezTo>
                    <a:pt x="4960049" y="106660"/>
                    <a:pt x="4895946" y="107231"/>
                    <a:pt x="4831556" y="106374"/>
                  </a:cubicBezTo>
                  <a:cubicBezTo>
                    <a:pt x="4767167" y="105231"/>
                    <a:pt x="4702588" y="102468"/>
                    <a:pt x="4637723" y="98754"/>
                  </a:cubicBezTo>
                  <a:cubicBezTo>
                    <a:pt x="4572762" y="95230"/>
                    <a:pt x="4507992" y="88848"/>
                    <a:pt x="4442460" y="83038"/>
                  </a:cubicBezTo>
                  <a:cubicBezTo>
                    <a:pt x="4408837" y="80752"/>
                    <a:pt x="4375214" y="79228"/>
                    <a:pt x="4341686" y="77227"/>
                  </a:cubicBezTo>
                  <a:cubicBezTo>
                    <a:pt x="4308158" y="75227"/>
                    <a:pt x="4274534" y="73417"/>
                    <a:pt x="4241006" y="71989"/>
                  </a:cubicBezTo>
                  <a:cubicBezTo>
                    <a:pt x="4106895" y="65131"/>
                    <a:pt x="3971925" y="59797"/>
                    <a:pt x="3836956" y="54177"/>
                  </a:cubicBezTo>
                  <a:lnTo>
                    <a:pt x="3634549" y="45414"/>
                  </a:lnTo>
                  <a:lnTo>
                    <a:pt x="3533394" y="40461"/>
                  </a:lnTo>
                  <a:lnTo>
                    <a:pt x="3481959" y="37889"/>
                  </a:lnTo>
                  <a:cubicBezTo>
                    <a:pt x="3464719" y="37127"/>
                    <a:pt x="3447479" y="36079"/>
                    <a:pt x="3430238" y="35889"/>
                  </a:cubicBezTo>
                  <a:cubicBezTo>
                    <a:pt x="3292602" y="31126"/>
                    <a:pt x="3156299" y="33603"/>
                    <a:pt x="3020473" y="37603"/>
                  </a:cubicBezTo>
                  <a:cubicBezTo>
                    <a:pt x="2884741" y="41985"/>
                    <a:pt x="2749487" y="48843"/>
                    <a:pt x="2614422" y="56844"/>
                  </a:cubicBezTo>
                  <a:lnTo>
                    <a:pt x="2208657" y="81609"/>
                  </a:lnTo>
                  <a:cubicBezTo>
                    <a:pt x="2073116" y="89991"/>
                    <a:pt x="1937195" y="97515"/>
                    <a:pt x="1800606" y="107612"/>
                  </a:cubicBezTo>
                  <a:cubicBezTo>
                    <a:pt x="1732217" y="112184"/>
                    <a:pt x="1663827" y="117804"/>
                    <a:pt x="1594676" y="124948"/>
                  </a:cubicBezTo>
                  <a:lnTo>
                    <a:pt x="1491996" y="136568"/>
                  </a:lnTo>
                  <a:lnTo>
                    <a:pt x="1442942" y="141902"/>
                  </a:lnTo>
                  <a:lnTo>
                    <a:pt x="1418463" y="144664"/>
                  </a:lnTo>
                  <a:lnTo>
                    <a:pt x="1393984" y="146855"/>
                  </a:lnTo>
                  <a:cubicBezTo>
                    <a:pt x="1263491" y="159142"/>
                    <a:pt x="1134142" y="166667"/>
                    <a:pt x="1006697" y="169810"/>
                  </a:cubicBezTo>
                  <a:cubicBezTo>
                    <a:pt x="942975" y="172001"/>
                    <a:pt x="879729" y="171239"/>
                    <a:pt x="816864" y="170953"/>
                  </a:cubicBezTo>
                  <a:lnTo>
                    <a:pt x="769906" y="169715"/>
                  </a:lnTo>
                  <a:cubicBezTo>
                    <a:pt x="754285" y="169525"/>
                    <a:pt x="738569" y="169048"/>
                    <a:pt x="723043" y="168096"/>
                  </a:cubicBezTo>
                  <a:lnTo>
                    <a:pt x="676370" y="166286"/>
                  </a:lnTo>
                  <a:cubicBezTo>
                    <a:pt x="660845" y="165238"/>
                    <a:pt x="645414" y="164095"/>
                    <a:pt x="629888" y="163333"/>
                  </a:cubicBezTo>
                  <a:cubicBezTo>
                    <a:pt x="568071" y="159047"/>
                    <a:pt x="506540" y="154094"/>
                    <a:pt x="445484" y="146093"/>
                  </a:cubicBezTo>
                  <a:cubicBezTo>
                    <a:pt x="384524" y="137997"/>
                    <a:pt x="323850" y="128091"/>
                    <a:pt x="263366" y="115232"/>
                  </a:cubicBezTo>
                  <a:cubicBezTo>
                    <a:pt x="202787" y="102850"/>
                    <a:pt x="142589" y="87419"/>
                    <a:pt x="81439" y="70369"/>
                  </a:cubicBezTo>
                  <a:cubicBezTo>
                    <a:pt x="66199" y="66178"/>
                    <a:pt x="50864" y="61702"/>
                    <a:pt x="35338" y="57034"/>
                  </a:cubicBezTo>
                  <a:lnTo>
                    <a:pt x="0" y="46652"/>
                  </a:lnTo>
                  <a:lnTo>
                    <a:pt x="0" y="426795"/>
                  </a:lnTo>
                  <a:cubicBezTo>
                    <a:pt x="58198" y="446416"/>
                    <a:pt x="117920" y="464323"/>
                    <a:pt x="178594" y="479658"/>
                  </a:cubicBezTo>
                  <a:cubicBezTo>
                    <a:pt x="319850" y="514901"/>
                    <a:pt x="465582" y="537094"/>
                    <a:pt x="610457" y="542619"/>
                  </a:cubicBezTo>
                  <a:cubicBezTo>
                    <a:pt x="682943" y="545953"/>
                    <a:pt x="755142" y="543762"/>
                    <a:pt x="826865" y="539666"/>
                  </a:cubicBezTo>
                  <a:cubicBezTo>
                    <a:pt x="898398" y="534523"/>
                    <a:pt x="969645" y="526903"/>
                    <a:pt x="1039654" y="515187"/>
                  </a:cubicBezTo>
                  <a:cubicBezTo>
                    <a:pt x="1180052" y="492517"/>
                    <a:pt x="1316736" y="457751"/>
                    <a:pt x="1449705" y="415270"/>
                  </a:cubicBezTo>
                  <a:cubicBezTo>
                    <a:pt x="1483138" y="405364"/>
                    <a:pt x="1515809" y="393172"/>
                    <a:pt x="1548765" y="382123"/>
                  </a:cubicBezTo>
                  <a:lnTo>
                    <a:pt x="1642872" y="349261"/>
                  </a:lnTo>
                  <a:cubicBezTo>
                    <a:pt x="1705261" y="328211"/>
                    <a:pt x="1768983" y="308208"/>
                    <a:pt x="1832991" y="289158"/>
                  </a:cubicBezTo>
                  <a:cubicBezTo>
                    <a:pt x="1961198" y="251821"/>
                    <a:pt x="2091404" y="219435"/>
                    <a:pt x="2222754" y="193623"/>
                  </a:cubicBezTo>
                  <a:cubicBezTo>
                    <a:pt x="2354199" y="168382"/>
                    <a:pt x="2486882" y="149332"/>
                    <a:pt x="2620137" y="138378"/>
                  </a:cubicBezTo>
                  <a:cubicBezTo>
                    <a:pt x="2753392" y="127424"/>
                    <a:pt x="2887123" y="122947"/>
                    <a:pt x="3020473" y="127234"/>
                  </a:cubicBezTo>
                  <a:cubicBezTo>
                    <a:pt x="3087148" y="129043"/>
                    <a:pt x="3153632" y="133711"/>
                    <a:pt x="3219736" y="139807"/>
                  </a:cubicBezTo>
                  <a:cubicBezTo>
                    <a:pt x="3252788" y="143426"/>
                    <a:pt x="3285839" y="146760"/>
                    <a:pt x="3318605" y="151713"/>
                  </a:cubicBezTo>
                  <a:lnTo>
                    <a:pt x="3367754" y="158666"/>
                  </a:lnTo>
                  <a:cubicBezTo>
                    <a:pt x="3384042" y="161238"/>
                    <a:pt x="3400330" y="164000"/>
                    <a:pt x="3416618" y="166858"/>
                  </a:cubicBezTo>
                  <a:cubicBezTo>
                    <a:pt x="3432905" y="169525"/>
                    <a:pt x="3449003" y="172954"/>
                    <a:pt x="3465195" y="176097"/>
                  </a:cubicBezTo>
                  <a:cubicBezTo>
                    <a:pt x="3481483" y="179431"/>
                    <a:pt x="3497199" y="182288"/>
                    <a:pt x="3513868" y="185908"/>
                  </a:cubicBezTo>
                  <a:lnTo>
                    <a:pt x="3612737" y="207625"/>
                  </a:lnTo>
                  <a:lnTo>
                    <a:pt x="3810381" y="252106"/>
                  </a:lnTo>
                  <a:cubicBezTo>
                    <a:pt x="3942112" y="282015"/>
                    <a:pt x="4073843" y="312590"/>
                    <a:pt x="4206621" y="339736"/>
                  </a:cubicBezTo>
                  <a:cubicBezTo>
                    <a:pt x="4239768" y="346785"/>
                    <a:pt x="4272915" y="353452"/>
                    <a:pt x="4306062" y="359834"/>
                  </a:cubicBezTo>
                  <a:cubicBezTo>
                    <a:pt x="4339209" y="366216"/>
                    <a:pt x="4372356" y="372979"/>
                    <a:pt x="4405503" y="378979"/>
                  </a:cubicBezTo>
                  <a:cubicBezTo>
                    <a:pt x="4473416" y="389266"/>
                    <a:pt x="4542378" y="398410"/>
                    <a:pt x="4611529" y="405745"/>
                  </a:cubicBezTo>
                  <a:cubicBezTo>
                    <a:pt x="4749832" y="420794"/>
                    <a:pt x="4890326" y="428795"/>
                    <a:pt x="5031677" y="427462"/>
                  </a:cubicBezTo>
                  <a:cubicBezTo>
                    <a:pt x="5102352" y="426985"/>
                    <a:pt x="5173028" y="423747"/>
                    <a:pt x="5243227" y="418699"/>
                  </a:cubicBezTo>
                  <a:cubicBezTo>
                    <a:pt x="5313427" y="413650"/>
                    <a:pt x="5382959" y="406030"/>
                    <a:pt x="5451062" y="398029"/>
                  </a:cubicBezTo>
                  <a:cubicBezTo>
                    <a:pt x="5587651" y="381551"/>
                    <a:pt x="5717381" y="362501"/>
                    <a:pt x="5844635" y="353071"/>
                  </a:cubicBezTo>
                  <a:cubicBezTo>
                    <a:pt x="5876544" y="350690"/>
                    <a:pt x="5908262" y="348404"/>
                    <a:pt x="5939981" y="346975"/>
                  </a:cubicBezTo>
                  <a:cubicBezTo>
                    <a:pt x="5971794" y="345356"/>
                    <a:pt x="6003036" y="344308"/>
                    <a:pt x="6035898" y="344118"/>
                  </a:cubicBezTo>
                  <a:cubicBezTo>
                    <a:pt x="6100477" y="343070"/>
                    <a:pt x="6166390" y="343356"/>
                    <a:pt x="6232303" y="343642"/>
                  </a:cubicBezTo>
                  <a:cubicBezTo>
                    <a:pt x="6364415" y="344880"/>
                    <a:pt x="6497669" y="347833"/>
                    <a:pt x="6630924" y="351071"/>
                  </a:cubicBezTo>
                  <a:lnTo>
                    <a:pt x="6831140" y="356596"/>
                  </a:lnTo>
                  <a:lnTo>
                    <a:pt x="7031545" y="362501"/>
                  </a:lnTo>
                  <a:cubicBezTo>
                    <a:pt x="7165086" y="367454"/>
                    <a:pt x="7298818" y="371835"/>
                    <a:pt x="7432262" y="378408"/>
                  </a:cubicBezTo>
                  <a:cubicBezTo>
                    <a:pt x="7565518" y="384790"/>
                    <a:pt x="7699153" y="392124"/>
                    <a:pt x="7830312" y="402506"/>
                  </a:cubicBezTo>
                  <a:lnTo>
                    <a:pt x="7879270" y="406792"/>
                  </a:lnTo>
                  <a:lnTo>
                    <a:pt x="7926895" y="411745"/>
                  </a:lnTo>
                  <a:lnTo>
                    <a:pt x="7977569" y="417175"/>
                  </a:lnTo>
                  <a:cubicBezTo>
                    <a:pt x="7995380" y="418984"/>
                    <a:pt x="8013097" y="420699"/>
                    <a:pt x="8030623" y="422127"/>
                  </a:cubicBezTo>
                  <a:cubicBezTo>
                    <a:pt x="8100632" y="427843"/>
                    <a:pt x="8169402" y="431748"/>
                    <a:pt x="8237982" y="435177"/>
                  </a:cubicBezTo>
                  <a:cubicBezTo>
                    <a:pt x="8375047" y="442035"/>
                    <a:pt x="8511254" y="444511"/>
                    <a:pt x="8647748" y="449464"/>
                  </a:cubicBezTo>
                  <a:cubicBezTo>
                    <a:pt x="8715946" y="451750"/>
                    <a:pt x="8784336" y="454513"/>
                    <a:pt x="8852821" y="456132"/>
                  </a:cubicBezTo>
                  <a:cubicBezTo>
                    <a:pt x="8887111" y="456989"/>
                    <a:pt x="8921401" y="457751"/>
                    <a:pt x="8955786" y="458132"/>
                  </a:cubicBezTo>
                  <a:cubicBezTo>
                    <a:pt x="8990171" y="458323"/>
                    <a:pt x="9024651" y="458227"/>
                    <a:pt x="9059227" y="457751"/>
                  </a:cubicBezTo>
                  <a:cubicBezTo>
                    <a:pt x="9099995" y="456989"/>
                    <a:pt x="9140857" y="455275"/>
                    <a:pt x="9182005" y="452512"/>
                  </a:cubicBezTo>
                  <a:lnTo>
                    <a:pt x="9182005" y="154189"/>
                  </a:ln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lt1"/>
                </a:solidFill>
              </a:endParaRPr>
            </a:p>
          </p:txBody>
        </p:sp>
        <p:sp useBgFill="1">
          <p:nvSpPr>
            <p:cNvPr id="53" name="Freeform: Shape 52">
              <a:extLst>
                <a:ext uri="{FF2B5EF4-FFF2-40B4-BE49-F238E27FC236}">
                  <a16:creationId xmlns:a16="http://schemas.microsoft.com/office/drawing/2014/main" id="{3916FBF2-1CC9-460D-A42B-FB77E515ECC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3614750"/>
              <a:ext cx="12188952" cy="1201528"/>
            </a:xfrm>
            <a:custGeom>
              <a:avLst/>
              <a:gdLst>
                <a:gd name="connsiteX0" fmla="*/ 0 w 9182100"/>
                <a:gd name="connsiteY0" fmla="*/ 1019102 h 1019102"/>
                <a:gd name="connsiteX1" fmla="*/ 9182100 w 9182100"/>
                <a:gd name="connsiteY1" fmla="*/ 1019102 h 1019102"/>
                <a:gd name="connsiteX2" fmla="*/ 9182100 w 9182100"/>
                <a:gd name="connsiteY2" fmla="*/ 273009 h 1019102"/>
                <a:gd name="connsiteX3" fmla="*/ 9065895 w 9182100"/>
                <a:gd name="connsiteY3" fmla="*/ 278343 h 1019102"/>
                <a:gd name="connsiteX4" fmla="*/ 8261890 w 9182100"/>
                <a:gd name="connsiteY4" fmla="*/ 257769 h 1019102"/>
                <a:gd name="connsiteX5" fmla="*/ 8038624 w 9182100"/>
                <a:gd name="connsiteY5" fmla="*/ 235956 h 1019102"/>
                <a:gd name="connsiteX6" fmla="*/ 7862221 w 9182100"/>
                <a:gd name="connsiteY6" fmla="*/ 213097 h 1019102"/>
                <a:gd name="connsiteX7" fmla="*/ 6238780 w 9182100"/>
                <a:gd name="connsiteY7" fmla="*/ 126419 h 1019102"/>
                <a:gd name="connsiteX8" fmla="*/ 5828729 w 9182100"/>
                <a:gd name="connsiteY8" fmla="*/ 142421 h 1019102"/>
                <a:gd name="connsiteX9" fmla="*/ 5227606 w 9182100"/>
                <a:gd name="connsiteY9" fmla="*/ 219764 h 1019102"/>
                <a:gd name="connsiteX10" fmla="*/ 4394359 w 9182100"/>
                <a:gd name="connsiteY10" fmla="*/ 190713 h 1019102"/>
                <a:gd name="connsiteX11" fmla="*/ 3789236 w 9182100"/>
                <a:gd name="connsiteY11" fmla="*/ 107655 h 1019102"/>
                <a:gd name="connsiteX12" fmla="*/ 3391567 w 9182100"/>
                <a:gd name="connsiteY12" fmla="*/ 30502 h 1019102"/>
                <a:gd name="connsiteX13" fmla="*/ 2180177 w 9182100"/>
                <a:gd name="connsiteY13" fmla="*/ 67745 h 1019102"/>
                <a:gd name="connsiteX14" fmla="*/ 1543336 w 9182100"/>
                <a:gd name="connsiteY14" fmla="*/ 209953 h 1019102"/>
                <a:gd name="connsiteX15" fmla="*/ 1276731 w 9182100"/>
                <a:gd name="connsiteY15" fmla="*/ 286439 h 1019102"/>
                <a:gd name="connsiteX16" fmla="*/ 441293 w 9182100"/>
                <a:gd name="connsiteY16" fmla="*/ 292345 h 1019102"/>
                <a:gd name="connsiteX17" fmla="*/ 0 w 9182100"/>
                <a:gd name="connsiteY17" fmla="*/ 135563 h 1019102"/>
                <a:gd name="connsiteX18" fmla="*/ 0 w 9182100"/>
                <a:gd name="connsiteY18" fmla="*/ 1019102 h 10191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9182100" h="1019102">
                  <a:moveTo>
                    <a:pt x="0" y="1019102"/>
                  </a:moveTo>
                  <a:lnTo>
                    <a:pt x="9182100" y="1019102"/>
                  </a:lnTo>
                  <a:lnTo>
                    <a:pt x="9182100" y="273009"/>
                  </a:lnTo>
                  <a:cubicBezTo>
                    <a:pt x="9143429" y="275485"/>
                    <a:pt x="9104662" y="277200"/>
                    <a:pt x="9065895" y="278343"/>
                  </a:cubicBezTo>
                  <a:cubicBezTo>
                    <a:pt x="8798243" y="285201"/>
                    <a:pt x="8529066" y="277009"/>
                    <a:pt x="8261890" y="257769"/>
                  </a:cubicBezTo>
                  <a:cubicBezTo>
                    <a:pt x="8187024" y="251863"/>
                    <a:pt x="8112443" y="245386"/>
                    <a:pt x="8038624" y="235956"/>
                  </a:cubicBezTo>
                  <a:cubicBezTo>
                    <a:pt x="7980140" y="228051"/>
                    <a:pt x="7920228" y="219002"/>
                    <a:pt x="7862221" y="213097"/>
                  </a:cubicBezTo>
                  <a:cubicBezTo>
                    <a:pt x="7322439" y="159280"/>
                    <a:pt x="6780943" y="130991"/>
                    <a:pt x="6238780" y="126419"/>
                  </a:cubicBezTo>
                  <a:cubicBezTo>
                    <a:pt x="6102477" y="126324"/>
                    <a:pt x="5964745" y="128800"/>
                    <a:pt x="5828729" y="142421"/>
                  </a:cubicBezTo>
                  <a:cubicBezTo>
                    <a:pt x="5624703" y="162328"/>
                    <a:pt x="5429441" y="202048"/>
                    <a:pt x="5227606" y="219764"/>
                  </a:cubicBezTo>
                  <a:cubicBezTo>
                    <a:pt x="4950238" y="245767"/>
                    <a:pt x="4670393" y="228527"/>
                    <a:pt x="4394359" y="190713"/>
                  </a:cubicBezTo>
                  <a:cubicBezTo>
                    <a:pt x="4193381" y="163090"/>
                    <a:pt x="3988880" y="147755"/>
                    <a:pt x="3789236" y="107655"/>
                  </a:cubicBezTo>
                  <a:cubicBezTo>
                    <a:pt x="3660743" y="85271"/>
                    <a:pt x="3520249" y="51648"/>
                    <a:pt x="3391567" y="30502"/>
                  </a:cubicBezTo>
                  <a:cubicBezTo>
                    <a:pt x="2990469" y="-28553"/>
                    <a:pt x="2579370" y="5928"/>
                    <a:pt x="2180177" y="67745"/>
                  </a:cubicBezTo>
                  <a:cubicBezTo>
                    <a:pt x="1965198" y="103273"/>
                    <a:pt x="1751648" y="146136"/>
                    <a:pt x="1543336" y="209953"/>
                  </a:cubicBezTo>
                  <a:cubicBezTo>
                    <a:pt x="1456087" y="238528"/>
                    <a:pt x="1365885" y="264627"/>
                    <a:pt x="1276731" y="286439"/>
                  </a:cubicBezTo>
                  <a:cubicBezTo>
                    <a:pt x="1001173" y="335398"/>
                    <a:pt x="716471" y="346923"/>
                    <a:pt x="441293" y="292345"/>
                  </a:cubicBezTo>
                  <a:cubicBezTo>
                    <a:pt x="285655" y="263198"/>
                    <a:pt x="143923" y="198237"/>
                    <a:pt x="0" y="135563"/>
                  </a:cubicBezTo>
                  <a:lnTo>
                    <a:pt x="0" y="1019102"/>
                  </a:lnTo>
                  <a:close/>
                </a:path>
              </a:pathLst>
            </a:custGeom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E4DD9209-6A4A-3781-CDFE-194B30B04F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89212" y="4146683"/>
            <a:ext cx="7249094" cy="2488119"/>
          </a:xfrm>
        </p:spPr>
        <p:txBody>
          <a:bodyPr>
            <a:noAutofit/>
          </a:bodyPr>
          <a:lstStyle/>
          <a:p>
            <a:pPr algn="ctr"/>
            <a:r>
              <a:rPr lang="en-US" sz="3600" b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RESEARCH METHODOLOGY AND DATA COLLECTION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4C9278FC-30F0-D3DF-2D20-68C219AC622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56188" y="1911521"/>
            <a:ext cx="10515600" cy="4351338"/>
          </a:xfrm>
        </p:spPr>
        <p:txBody>
          <a:bodyPr/>
          <a:lstStyle/>
          <a:p>
            <a:r>
              <a:rPr lang="en-CA" dirty="0"/>
              <a:t>  </a:t>
            </a:r>
          </a:p>
        </p:txBody>
      </p:sp>
    </p:spTree>
    <p:extLst>
      <p:ext uri="{BB962C8B-B14F-4D97-AF65-F5344CB8AC3E}">
        <p14:creationId xmlns:p14="http://schemas.microsoft.com/office/powerpoint/2010/main" val="39774851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7" name="Slide Background">
            <a:extLst>
              <a:ext uri="{FF2B5EF4-FFF2-40B4-BE49-F238E27FC236}">
                <a16:creationId xmlns:a16="http://schemas.microsoft.com/office/drawing/2014/main" id="{3ECBE1F1-D69B-4AFA-ABD5-8E41720EF6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8" name="Picture 98" descr="Magnifying glass showing decling performance">
            <a:extLst>
              <a:ext uri="{FF2B5EF4-FFF2-40B4-BE49-F238E27FC236}">
                <a16:creationId xmlns:a16="http://schemas.microsoft.com/office/drawing/2014/main" id="{07C51281-78B6-C801-5F15-AEEA577A6AA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8389" r="38952" b="-2"/>
          <a:stretch/>
        </p:blipFill>
        <p:spPr>
          <a:xfrm>
            <a:off x="-1" y="-2"/>
            <a:ext cx="5410198" cy="6858002"/>
          </a:xfrm>
          <a:prstGeom prst="rect">
            <a:avLst/>
          </a:prstGeom>
        </p:spPr>
      </p:pic>
      <p:sp useBgFill="1">
        <p:nvSpPr>
          <p:cNvPr id="109" name="Rectangle 104">
            <a:extLst>
              <a:ext uri="{FF2B5EF4-FFF2-40B4-BE49-F238E27FC236}">
                <a16:creationId xmlns:a16="http://schemas.microsoft.com/office/drawing/2014/main" id="{603A6265-E10C-4B85-9C20-E75FCAF9CC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410197" y="-1"/>
            <a:ext cx="6781802" cy="2286000"/>
          </a:xfrm>
          <a:prstGeom prst="rect">
            <a:avLst/>
          </a:prstGeom>
          <a:ln>
            <a:noFill/>
          </a:ln>
          <a:effectLst>
            <a:outerShdw blurRad="355600" dist="152400" sx="95000" sy="95000" algn="t" rotWithShape="0">
              <a:srgbClr val="000000">
                <a:alpha val="29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20D2CD2-E220-FB50-5414-4D28C250FF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15317" y="405685"/>
            <a:ext cx="5464968" cy="1559301"/>
          </a:xfrm>
        </p:spPr>
        <p:txBody>
          <a:bodyPr>
            <a:normAutofit/>
          </a:bodyPr>
          <a:lstStyle/>
          <a:p>
            <a:r>
              <a:rPr lang="en-CA" sz="4000" dirty="0"/>
              <a:t>PRAGMATIC APPROACH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AD3045E6-8E6A-D9DD-FE58-1BB8E37FF2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15317" y="2743200"/>
            <a:ext cx="5247340" cy="3496878"/>
          </a:xfrm>
        </p:spPr>
        <p:txBody>
          <a:bodyPr anchor="ctr">
            <a:normAutofit/>
          </a:bodyPr>
          <a:lstStyle/>
          <a:p>
            <a:pPr marL="457200" indent="-457200">
              <a:buAutoNum type="arabicPeriod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Quantitative data from Kaggle</a:t>
            </a:r>
          </a:p>
          <a:p>
            <a:pPr marL="0" indent="0"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17 Records after data cleaning and filtering</a:t>
            </a:r>
          </a:p>
          <a:p>
            <a:pPr marL="0" indent="0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Q1 2020 to Q2 2020 (Increase in subscribers)</a:t>
            </a:r>
          </a:p>
          <a:p>
            <a:pPr marL="0" indent="0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Q4 2021 to Q3 2022 (Decrease in subscribers)</a:t>
            </a:r>
          </a:p>
          <a:p>
            <a:pPr marL="0" indent="0">
              <a:buNone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Qualitative Data from Consumer Affairs and Pissed consumers</a:t>
            </a:r>
          </a:p>
          <a:p>
            <a:pPr marL="0" indent="0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- 300 Customer reviews (Q3 2021 to Q2 2022) </a:t>
            </a:r>
          </a:p>
          <a:p>
            <a:pPr marL="0" indent="0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Mostly negative reviews</a:t>
            </a:r>
          </a:p>
          <a:p>
            <a:pPr marL="0" indent="0">
              <a:buNone/>
            </a:pPr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4441777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Rectangle 32">
            <a:extLst>
              <a:ext uri="{FF2B5EF4-FFF2-40B4-BE49-F238E27FC236}">
                <a16:creationId xmlns:a16="http://schemas.microsoft.com/office/drawing/2014/main" id="{934F1179-B481-4F9E-BCA3-AFB972070F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9" name="Picture 28" descr="Graph on document with pen">
            <a:extLst>
              <a:ext uri="{FF2B5EF4-FFF2-40B4-BE49-F238E27FC236}">
                <a16:creationId xmlns:a16="http://schemas.microsoft.com/office/drawing/2014/main" id="{CA0FC943-BF22-A2FC-AC31-040A370470A5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 amt="40000"/>
          </a:blip>
          <a:srcRect t="1510" b="14220"/>
          <a:stretch/>
        </p:blipFill>
        <p:spPr>
          <a:xfrm>
            <a:off x="20" y="-1784"/>
            <a:ext cx="12191980" cy="6858000"/>
          </a:xfrm>
          <a:prstGeom prst="rect">
            <a:avLst/>
          </a:prstGeom>
        </p:spPr>
      </p:pic>
      <p:sp>
        <p:nvSpPr>
          <p:cNvPr id="40" name="Right Triangle 34">
            <a:extLst>
              <a:ext uri="{FF2B5EF4-FFF2-40B4-BE49-F238E27FC236}">
                <a16:creationId xmlns:a16="http://schemas.microsoft.com/office/drawing/2014/main" id="{827DC2C4-B485-428A-BF4A-472D2967F4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EE04B5EB-F158-4507-90DD-BD23620C7C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1774" y="623275"/>
            <a:ext cx="10905053" cy="5607882"/>
          </a:xfrm>
          <a:prstGeom prst="rect">
            <a:avLst/>
          </a:prstGeom>
          <a:noFill/>
          <a:ln w="19050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3546DD2-E387-3534-8849-A9FFB9F273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5349" y="1008993"/>
            <a:ext cx="8841302" cy="3542045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8900" b="1">
                <a:solidFill>
                  <a:srgbClr val="FFFFFF"/>
                </a:solidFill>
              </a:rPr>
              <a:t>ANALYSIS, RESULTS AND FINDINGS</a:t>
            </a:r>
          </a:p>
        </p:txBody>
      </p:sp>
    </p:spTree>
    <p:extLst>
      <p:ext uri="{BB962C8B-B14F-4D97-AF65-F5344CB8AC3E}">
        <p14:creationId xmlns:p14="http://schemas.microsoft.com/office/powerpoint/2010/main" val="6819640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Slide Background">
            <a:extLst>
              <a:ext uri="{FF2B5EF4-FFF2-40B4-BE49-F238E27FC236}">
                <a16:creationId xmlns:a16="http://schemas.microsoft.com/office/drawing/2014/main" id="{5F637E18-EF26-4327-9077-7FFC67B98B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-1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 useBgFill="1">
        <p:nvSpPr>
          <p:cNvPr id="61" name="Rectangle 60">
            <a:extLst>
              <a:ext uri="{FF2B5EF4-FFF2-40B4-BE49-F238E27FC236}">
                <a16:creationId xmlns:a16="http://schemas.microsoft.com/office/drawing/2014/main" id="{3EED6667-6BE8-A2AB-422A-5A1D89727E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2" y="0"/>
            <a:ext cx="12192001" cy="1696413"/>
          </a:xfrm>
          <a:prstGeom prst="rect">
            <a:avLst/>
          </a:prstGeom>
          <a:ln>
            <a:noFill/>
          </a:ln>
          <a:effectLst>
            <a:outerShdw blurRad="304800" dist="114300" dir="5460000" sx="92000" sy="92000" algn="t" rotWithShape="0">
              <a:srgbClr val="000000">
                <a:alpha val="14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C692D0D-2F47-567D-90D3-494767785D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9557" y="244742"/>
            <a:ext cx="10353745" cy="1235225"/>
          </a:xfrm>
        </p:spPr>
        <p:txBody>
          <a:bodyPr vert="horz" lIns="91440" tIns="45720" rIns="91440" bIns="45720" rtlCol="0" anchor="ctr">
            <a:normAutofit fontScale="90000"/>
          </a:bodyPr>
          <a:lstStyle/>
          <a:p>
            <a:br>
              <a:rPr lang="en-US" sz="9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</a:br>
            <a:br>
              <a:rPr lang="en-US" sz="9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</a:br>
            <a:r>
              <a:rPr lang="en-US" sz="1800" b="1" i="0" kern="1200" dirty="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rPr>
              <a:t>Q2 2020: </a:t>
            </a:r>
            <a:r>
              <a:rPr lang="en-US" sz="1800" b="0" i="0" kern="1200" dirty="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rPr>
              <a:t>Notable upswing in subscription numbers accompanied by a significant revenue boost.</a:t>
            </a:r>
            <a:br>
              <a:rPr lang="en-US" sz="1800" b="0" i="0" kern="1200" dirty="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rPr>
            </a:br>
            <a:br>
              <a:rPr lang="en-US" sz="1800" b="0" i="0" kern="1200" dirty="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rPr>
            </a:br>
            <a:r>
              <a:rPr lang="en-US" sz="1800" b="1" i="0" kern="1200" dirty="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rPr>
              <a:t>Late 2021 - Early 2022: </a:t>
            </a:r>
            <a:r>
              <a:rPr lang="en-US" sz="1800" b="0" i="0" kern="1200" dirty="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rPr>
              <a:t>Marked downturn in subscription counts and a noticeable decline in revenue figures.</a:t>
            </a:r>
            <a:br>
              <a:rPr lang="en-US" sz="900" b="0" i="0" kern="1200" dirty="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rPr>
            </a:br>
            <a:br>
              <a:rPr lang="en-US" sz="9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</a:br>
            <a:endParaRPr lang="en-US" sz="900" kern="12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97E597D4-F8BD-BEEF-BACE-003A9BC6079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47565" y="1941156"/>
            <a:ext cx="9892879" cy="4278670"/>
          </a:xfrm>
          <a:prstGeom prst="rect">
            <a:avLst/>
          </a:prstGeom>
          <a:effectLst/>
        </p:spPr>
      </p:pic>
    </p:spTree>
    <p:extLst>
      <p:ext uri="{BB962C8B-B14F-4D97-AF65-F5344CB8AC3E}">
        <p14:creationId xmlns:p14="http://schemas.microsoft.com/office/powerpoint/2010/main" val="335450098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84C5E6-4B90-BB33-F6C2-5C07DB4503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800" dirty="0">
                <a:cs typeface="Calibri Light"/>
              </a:rPr>
              <a:t>.</a:t>
            </a:r>
            <a:endParaRPr lang="en-US" sz="8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BE3D2B-998A-C47B-932F-14750D961D1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endParaRPr lang="en-US" dirty="0">
              <a:cs typeface="Calibri"/>
            </a:endParaRPr>
          </a:p>
          <a:p>
            <a:pPr marL="0" indent="0">
              <a:buNone/>
            </a:pPr>
            <a:endParaRPr lang="en-US" dirty="0">
              <a:cs typeface="Calibri"/>
            </a:endParaRPr>
          </a:p>
        </p:txBody>
      </p:sp>
      <p:pic>
        <p:nvPicPr>
          <p:cNvPr id="7" name="Picture 7">
            <a:extLst>
              <a:ext uri="{FF2B5EF4-FFF2-40B4-BE49-F238E27FC236}">
                <a16:creationId xmlns:a16="http://schemas.microsoft.com/office/drawing/2014/main" id="{25F3FFF6-6914-2BFF-E8D2-3E7C04B9A8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837" y="365125"/>
            <a:ext cx="11962325" cy="4061029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A3915D0D-E906-8C88-B68E-FA4095DDE95D}"/>
              </a:ext>
            </a:extLst>
          </p:cNvPr>
          <p:cNvSpPr txBox="1"/>
          <p:nvPr/>
        </p:nvSpPr>
        <p:spPr>
          <a:xfrm>
            <a:off x="1305168" y="4884301"/>
            <a:ext cx="9581661" cy="129266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Both the graphs show </a:t>
            </a:r>
            <a:r>
              <a:rPr lang="en-US" sz="2000" dirty="0"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fluctuations during 2020 March </a:t>
            </a:r>
            <a:r>
              <a:rPr lang="en-US" sz="2000" b="1" dirty="0"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(Increase in number of subscriptions and revenue)</a:t>
            </a:r>
            <a:r>
              <a:rPr lang="en-US" sz="2000" dirty="0"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 and during end of 2021 and beginning of 2022 </a:t>
            </a:r>
            <a:r>
              <a:rPr lang="en-US" sz="2000" b="1" dirty="0"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(Decrease in number of subscriptions and revenue)</a:t>
            </a:r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AutoNum type="arabicPeriod"/>
            </a:pPr>
            <a:endParaRPr lang="en-US" dirty="0">
              <a:cs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157207298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5F879AC3-D4CE-493C-ADC7-06205677F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736F0DFD-0954-464F-BF12-DD2E6F6E03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983504" cy="6858000"/>
          </a:xfrm>
          <a:custGeom>
            <a:avLst/>
            <a:gdLst>
              <a:gd name="connsiteX0" fmla="*/ 0 w 1983504"/>
              <a:gd name="connsiteY0" fmla="*/ 0 h 6858000"/>
              <a:gd name="connsiteX1" fmla="*/ 1376658 w 1983504"/>
              <a:gd name="connsiteY1" fmla="*/ 0 h 6858000"/>
              <a:gd name="connsiteX2" fmla="*/ 1690650 w 1983504"/>
              <a:gd name="connsiteY2" fmla="*/ 110269 h 6858000"/>
              <a:gd name="connsiteX3" fmla="*/ 1645361 w 1983504"/>
              <a:gd name="connsiteY3" fmla="*/ 135168 h 6858000"/>
              <a:gd name="connsiteX4" fmla="*/ 1373640 w 1983504"/>
              <a:gd name="connsiteY4" fmla="*/ 71141 h 6858000"/>
              <a:gd name="connsiteX5" fmla="*/ 1319295 w 1983504"/>
              <a:gd name="connsiteY5" fmla="*/ 88927 h 6858000"/>
              <a:gd name="connsiteX6" fmla="*/ 1346468 w 1983504"/>
              <a:gd name="connsiteY6" fmla="*/ 163625 h 6858000"/>
              <a:gd name="connsiteX7" fmla="*/ 1464213 w 1983504"/>
              <a:gd name="connsiteY7" fmla="*/ 192082 h 6858000"/>
              <a:gd name="connsiteX8" fmla="*/ 1648381 w 1983504"/>
              <a:gd name="connsiteY8" fmla="*/ 373491 h 6858000"/>
              <a:gd name="connsiteX9" fmla="*/ 1370620 w 1983504"/>
              <a:gd name="connsiteY9" fmla="*/ 352148 h 6858000"/>
              <a:gd name="connsiteX10" fmla="*/ 1322314 w 1983504"/>
              <a:gd name="connsiteY10" fmla="*/ 394834 h 6858000"/>
              <a:gd name="connsiteX11" fmla="*/ 1304199 w 1983504"/>
              <a:gd name="connsiteY11" fmla="*/ 451747 h 6858000"/>
              <a:gd name="connsiteX12" fmla="*/ 1222682 w 1983504"/>
              <a:gd name="connsiteY12" fmla="*/ 359262 h 6858000"/>
              <a:gd name="connsiteX13" fmla="*/ 1153242 w 1983504"/>
              <a:gd name="connsiteY13" fmla="*/ 334364 h 6858000"/>
              <a:gd name="connsiteX14" fmla="*/ 1132108 w 1983504"/>
              <a:gd name="connsiteY14" fmla="*/ 416176 h 6858000"/>
              <a:gd name="connsiteX15" fmla="*/ 1195509 w 1983504"/>
              <a:gd name="connsiteY15" fmla="*/ 505101 h 6858000"/>
              <a:gd name="connsiteX16" fmla="*/ 1364582 w 1983504"/>
              <a:gd name="connsiteY16" fmla="*/ 558458 h 6858000"/>
              <a:gd name="connsiteX17" fmla="*/ 1183434 w 1983504"/>
              <a:gd name="connsiteY17" fmla="*/ 558458 h 6858000"/>
              <a:gd name="connsiteX18" fmla="*/ 975114 w 1983504"/>
              <a:gd name="connsiteY18" fmla="*/ 522887 h 6858000"/>
              <a:gd name="connsiteX19" fmla="*/ 754716 w 1983504"/>
              <a:gd name="connsiteY19" fmla="*/ 533558 h 6858000"/>
              <a:gd name="connsiteX20" fmla="*/ 546395 w 1983504"/>
              <a:gd name="connsiteY20" fmla="*/ 462417 h 6858000"/>
              <a:gd name="connsiteX21" fmla="*/ 335056 w 1983504"/>
              <a:gd name="connsiteY21" fmla="*/ 465975 h 6858000"/>
              <a:gd name="connsiteX22" fmla="*/ 1270988 w 1983504"/>
              <a:gd name="connsiteY22" fmla="*/ 910606 h 6858000"/>
              <a:gd name="connsiteX23" fmla="*/ 1225701 w 1983504"/>
              <a:gd name="connsiteY23" fmla="*/ 921277 h 6858000"/>
              <a:gd name="connsiteX24" fmla="*/ 1165318 w 1983504"/>
              <a:gd name="connsiteY24" fmla="*/ 949734 h 6858000"/>
              <a:gd name="connsiteX25" fmla="*/ 1210606 w 1983504"/>
              <a:gd name="connsiteY25" fmla="*/ 1006647 h 6858000"/>
              <a:gd name="connsiteX26" fmla="*/ 1455156 w 1983504"/>
              <a:gd name="connsiteY26" fmla="*/ 1113358 h 6858000"/>
              <a:gd name="connsiteX27" fmla="*/ 1515538 w 1983504"/>
              <a:gd name="connsiteY27" fmla="*/ 1220069 h 6858000"/>
              <a:gd name="connsiteX28" fmla="*/ 1440060 w 1983504"/>
              <a:gd name="connsiteY28" fmla="*/ 1209399 h 6858000"/>
              <a:gd name="connsiteX29" fmla="*/ 1373640 w 1983504"/>
              <a:gd name="connsiteY29" fmla="*/ 1230741 h 6858000"/>
              <a:gd name="connsiteX30" fmla="*/ 1400810 w 1983504"/>
              <a:gd name="connsiteY30" fmla="*/ 1365909 h 6858000"/>
              <a:gd name="connsiteX31" fmla="*/ 1748012 w 1983504"/>
              <a:gd name="connsiteY31" fmla="*/ 1540204 h 6858000"/>
              <a:gd name="connsiteX32" fmla="*/ 1778203 w 1983504"/>
              <a:gd name="connsiteY32" fmla="*/ 1597117 h 6858000"/>
              <a:gd name="connsiteX33" fmla="*/ 1735936 w 1983504"/>
              <a:gd name="connsiteY33" fmla="*/ 1636245 h 6858000"/>
              <a:gd name="connsiteX34" fmla="*/ 1624228 w 1983504"/>
              <a:gd name="connsiteY34" fmla="*/ 1657587 h 6858000"/>
              <a:gd name="connsiteX35" fmla="*/ 1781223 w 1983504"/>
              <a:gd name="connsiteY35" fmla="*/ 1849668 h 6858000"/>
              <a:gd name="connsiteX36" fmla="*/ 1838587 w 1983504"/>
              <a:gd name="connsiteY36" fmla="*/ 1903025 h 6858000"/>
              <a:gd name="connsiteX37" fmla="*/ 1938218 w 1983504"/>
              <a:gd name="connsiteY37" fmla="*/ 1984836 h 6858000"/>
              <a:gd name="connsiteX38" fmla="*/ 1938218 w 1983504"/>
              <a:gd name="connsiteY38" fmla="*/ 2013292 h 6858000"/>
              <a:gd name="connsiteX39" fmla="*/ 1805376 w 1983504"/>
              <a:gd name="connsiteY39" fmla="*/ 2102219 h 6858000"/>
              <a:gd name="connsiteX40" fmla="*/ 1563844 w 1983504"/>
              <a:gd name="connsiteY40" fmla="*/ 2077320 h 6858000"/>
              <a:gd name="connsiteX41" fmla="*/ 1920104 w 1983504"/>
              <a:gd name="connsiteY41" fmla="*/ 2208931 h 6858000"/>
              <a:gd name="connsiteX42" fmla="*/ 766792 w 1983504"/>
              <a:gd name="connsiteY42" fmla="*/ 1892353 h 6858000"/>
              <a:gd name="connsiteX43" fmla="*/ 839252 w 1983504"/>
              <a:gd name="connsiteY43" fmla="*/ 1974165 h 6858000"/>
              <a:gd name="connsiteX44" fmla="*/ 1243816 w 1983504"/>
              <a:gd name="connsiteY44" fmla="*/ 2191146 h 6858000"/>
              <a:gd name="connsiteX45" fmla="*/ 1358543 w 1983504"/>
              <a:gd name="connsiteY45" fmla="*/ 2326314 h 6858000"/>
              <a:gd name="connsiteX46" fmla="*/ 1479310 w 1983504"/>
              <a:gd name="connsiteY46" fmla="*/ 2401012 h 6858000"/>
              <a:gd name="connsiteX47" fmla="*/ 1648381 w 1983504"/>
              <a:gd name="connsiteY47" fmla="*/ 2401012 h 6858000"/>
              <a:gd name="connsiteX48" fmla="*/ 1769146 w 1983504"/>
              <a:gd name="connsiteY48" fmla="*/ 2518395 h 6858000"/>
              <a:gd name="connsiteX49" fmla="*/ 1645361 w 1983504"/>
              <a:gd name="connsiteY49" fmla="*/ 2543294 h 6858000"/>
              <a:gd name="connsiteX50" fmla="*/ 1500444 w 1983504"/>
              <a:gd name="connsiteY50" fmla="*/ 2525509 h 6858000"/>
              <a:gd name="connsiteX51" fmla="*/ 1337410 w 1983504"/>
              <a:gd name="connsiteY51" fmla="*/ 2564636 h 6858000"/>
              <a:gd name="connsiteX52" fmla="*/ 1186452 w 1983504"/>
              <a:gd name="connsiteY52" fmla="*/ 2532623 h 6858000"/>
              <a:gd name="connsiteX53" fmla="*/ 1005304 w 1983504"/>
              <a:gd name="connsiteY53" fmla="*/ 2553965 h 6858000"/>
              <a:gd name="connsiteX54" fmla="*/ 947940 w 1983504"/>
              <a:gd name="connsiteY54" fmla="*/ 2692689 h 6858000"/>
              <a:gd name="connsiteX55" fmla="*/ 929826 w 1983504"/>
              <a:gd name="connsiteY55" fmla="*/ 2703362 h 6858000"/>
              <a:gd name="connsiteX56" fmla="*/ 594701 w 1983504"/>
              <a:gd name="connsiteY56" fmla="*/ 2923898 h 6858000"/>
              <a:gd name="connsiteX57" fmla="*/ 501108 w 1983504"/>
              <a:gd name="connsiteY57" fmla="*/ 2941684 h 6858000"/>
              <a:gd name="connsiteX58" fmla="*/ 1053610 w 1983504"/>
              <a:gd name="connsiteY58" fmla="*/ 3329402 h 6858000"/>
              <a:gd name="connsiteX59" fmla="*/ 682256 w 1983504"/>
              <a:gd name="connsiteY59" fmla="*/ 3229805 h 6858000"/>
              <a:gd name="connsiteX60" fmla="*/ 630932 w 1983504"/>
              <a:gd name="connsiteY60" fmla="*/ 3393429 h 6858000"/>
              <a:gd name="connsiteX61" fmla="*/ 806041 w 1983504"/>
              <a:gd name="connsiteY61" fmla="*/ 3539269 h 6858000"/>
              <a:gd name="connsiteX62" fmla="*/ 869444 w 1983504"/>
              <a:gd name="connsiteY62" fmla="*/ 3827390 h 6858000"/>
              <a:gd name="connsiteX63" fmla="*/ 839252 w 1983504"/>
              <a:gd name="connsiteY63" fmla="*/ 4090612 h 6858000"/>
              <a:gd name="connsiteX64" fmla="*/ 763774 w 1983504"/>
              <a:gd name="connsiteY64" fmla="*/ 4172424 h 6858000"/>
              <a:gd name="connsiteX65" fmla="*/ 655085 w 1983504"/>
              <a:gd name="connsiteY65" fmla="*/ 4321821 h 6858000"/>
              <a:gd name="connsiteX66" fmla="*/ 588662 w 1983504"/>
              <a:gd name="connsiteY66" fmla="*/ 4414305 h 6858000"/>
              <a:gd name="connsiteX67" fmla="*/ 356189 w 1983504"/>
              <a:gd name="connsiteY67" fmla="*/ 4378734 h 6858000"/>
              <a:gd name="connsiteX68" fmla="*/ 667160 w 1983504"/>
              <a:gd name="connsiteY68" fmla="*/ 4613499 h 6858000"/>
              <a:gd name="connsiteX69" fmla="*/ 416573 w 1983504"/>
              <a:gd name="connsiteY69" fmla="*/ 4585042 h 6858000"/>
              <a:gd name="connsiteX70" fmla="*/ 335056 w 1983504"/>
              <a:gd name="connsiteY70" fmla="*/ 4602828 h 6858000"/>
              <a:gd name="connsiteX71" fmla="*/ 380342 w 1983504"/>
              <a:gd name="connsiteY71" fmla="*/ 4677526 h 6858000"/>
              <a:gd name="connsiteX72" fmla="*/ 564510 w 1983504"/>
              <a:gd name="connsiteY72" fmla="*/ 4805580 h 6858000"/>
              <a:gd name="connsiteX73" fmla="*/ 944922 w 1983504"/>
              <a:gd name="connsiteY73" fmla="*/ 5154171 h 6858000"/>
              <a:gd name="connsiteX74" fmla="*/ 576586 w 1983504"/>
              <a:gd name="connsiteY74" fmla="*/ 4994104 h 6858000"/>
              <a:gd name="connsiteX75" fmla="*/ 963036 w 1983504"/>
              <a:gd name="connsiteY75" fmla="*/ 5353367 h 6858000"/>
              <a:gd name="connsiteX76" fmla="*/ 1047572 w 1983504"/>
              <a:gd name="connsiteY76" fmla="*/ 5474306 h 6858000"/>
              <a:gd name="connsiteX77" fmla="*/ 1222682 w 1983504"/>
              <a:gd name="connsiteY77" fmla="*/ 5769542 h 6858000"/>
              <a:gd name="connsiteX78" fmla="*/ 1213626 w 1983504"/>
              <a:gd name="connsiteY78" fmla="*/ 5801555 h 6858000"/>
              <a:gd name="connsiteX79" fmla="*/ 1014361 w 1983504"/>
              <a:gd name="connsiteY79" fmla="*/ 5755314 h 6858000"/>
              <a:gd name="connsiteX80" fmla="*/ 1274008 w 1983504"/>
              <a:gd name="connsiteY80" fmla="*/ 6004307 h 6858000"/>
              <a:gd name="connsiteX81" fmla="*/ 1542711 w 1983504"/>
              <a:gd name="connsiteY81" fmla="*/ 6196388 h 6858000"/>
              <a:gd name="connsiteX82" fmla="*/ 1352504 w 1983504"/>
              <a:gd name="connsiteY82" fmla="*/ 6167932 h 6858000"/>
              <a:gd name="connsiteX83" fmla="*/ 1089840 w 1983504"/>
              <a:gd name="connsiteY83" fmla="*/ 6057663 h 6858000"/>
              <a:gd name="connsiteX84" fmla="*/ 999266 w 1983504"/>
              <a:gd name="connsiteY84" fmla="*/ 6100347 h 6858000"/>
              <a:gd name="connsiteX85" fmla="*/ 1246836 w 1983504"/>
              <a:gd name="connsiteY85" fmla="*/ 6281757 h 6858000"/>
              <a:gd name="connsiteX86" fmla="*/ 1388735 w 1983504"/>
              <a:gd name="connsiteY86" fmla="*/ 6367127 h 6858000"/>
              <a:gd name="connsiteX87" fmla="*/ 1446099 w 1983504"/>
              <a:gd name="connsiteY87" fmla="*/ 6431153 h 6858000"/>
              <a:gd name="connsiteX88" fmla="*/ 1609132 w 1983504"/>
              <a:gd name="connsiteY88" fmla="*/ 6658805 h 6858000"/>
              <a:gd name="connsiteX89" fmla="*/ 1983504 w 1983504"/>
              <a:gd name="connsiteY89" fmla="*/ 6858000 h 6858000"/>
              <a:gd name="connsiteX90" fmla="*/ 0 w 1983504"/>
              <a:gd name="connsiteY90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</a:cxnLst>
            <a:rect l="l" t="t" r="r" b="b"/>
            <a:pathLst>
              <a:path w="1983504" h="6858000">
                <a:moveTo>
                  <a:pt x="0" y="0"/>
                </a:moveTo>
                <a:lnTo>
                  <a:pt x="1376658" y="0"/>
                </a:lnTo>
                <a:cubicBezTo>
                  <a:pt x="1482328" y="35571"/>
                  <a:pt x="1584980" y="78255"/>
                  <a:pt x="1690650" y="110269"/>
                </a:cubicBezTo>
                <a:cubicBezTo>
                  <a:pt x="1675553" y="145839"/>
                  <a:pt x="1660458" y="138725"/>
                  <a:pt x="1645361" y="135168"/>
                </a:cubicBezTo>
                <a:cubicBezTo>
                  <a:pt x="1554788" y="120941"/>
                  <a:pt x="1461194" y="110269"/>
                  <a:pt x="1373640" y="71141"/>
                </a:cubicBezTo>
                <a:cubicBezTo>
                  <a:pt x="1352504" y="64027"/>
                  <a:pt x="1328352" y="64027"/>
                  <a:pt x="1319295" y="88927"/>
                </a:cubicBezTo>
                <a:cubicBezTo>
                  <a:pt x="1304199" y="124497"/>
                  <a:pt x="1325332" y="145839"/>
                  <a:pt x="1346468" y="163625"/>
                </a:cubicBezTo>
                <a:cubicBezTo>
                  <a:pt x="1382696" y="195638"/>
                  <a:pt x="1424964" y="188525"/>
                  <a:pt x="1464213" y="192082"/>
                </a:cubicBezTo>
                <a:cubicBezTo>
                  <a:pt x="1572902" y="209867"/>
                  <a:pt x="1624228" y="259665"/>
                  <a:pt x="1648381" y="373491"/>
                </a:cubicBezTo>
                <a:cubicBezTo>
                  <a:pt x="1554788" y="327250"/>
                  <a:pt x="1461194" y="384162"/>
                  <a:pt x="1370620" y="352148"/>
                </a:cubicBezTo>
                <a:cubicBezTo>
                  <a:pt x="1346468" y="345034"/>
                  <a:pt x="1310237" y="355706"/>
                  <a:pt x="1322314" y="394834"/>
                </a:cubicBezTo>
                <a:cubicBezTo>
                  <a:pt x="1334390" y="430405"/>
                  <a:pt x="1373640" y="458860"/>
                  <a:pt x="1304199" y="451747"/>
                </a:cubicBezTo>
                <a:cubicBezTo>
                  <a:pt x="1252873" y="448189"/>
                  <a:pt x="1237778" y="405504"/>
                  <a:pt x="1222682" y="359262"/>
                </a:cubicBezTo>
                <a:cubicBezTo>
                  <a:pt x="1210606" y="334364"/>
                  <a:pt x="1177395" y="320135"/>
                  <a:pt x="1153242" y="334364"/>
                </a:cubicBezTo>
                <a:cubicBezTo>
                  <a:pt x="1123051" y="348592"/>
                  <a:pt x="1132108" y="387720"/>
                  <a:pt x="1132108" y="416176"/>
                </a:cubicBezTo>
                <a:cubicBezTo>
                  <a:pt x="1129088" y="469532"/>
                  <a:pt x="1153242" y="494431"/>
                  <a:pt x="1195509" y="505101"/>
                </a:cubicBezTo>
                <a:cubicBezTo>
                  <a:pt x="1246836" y="519330"/>
                  <a:pt x="1298160" y="537116"/>
                  <a:pt x="1364582" y="558458"/>
                </a:cubicBezTo>
                <a:cubicBezTo>
                  <a:pt x="1292122" y="594028"/>
                  <a:pt x="1237778" y="586915"/>
                  <a:pt x="1183434" y="558458"/>
                </a:cubicBezTo>
                <a:cubicBezTo>
                  <a:pt x="1117012" y="526444"/>
                  <a:pt x="1029458" y="483759"/>
                  <a:pt x="975114" y="522887"/>
                </a:cubicBezTo>
                <a:cubicBezTo>
                  <a:pt x="893597" y="579800"/>
                  <a:pt x="827176" y="544229"/>
                  <a:pt x="754716" y="533558"/>
                </a:cubicBezTo>
                <a:cubicBezTo>
                  <a:pt x="603758" y="512216"/>
                  <a:pt x="697352" y="480203"/>
                  <a:pt x="546395" y="462417"/>
                </a:cubicBezTo>
                <a:cubicBezTo>
                  <a:pt x="486012" y="455303"/>
                  <a:pt x="422610" y="426847"/>
                  <a:pt x="335056" y="465975"/>
                </a:cubicBezTo>
                <a:cubicBezTo>
                  <a:pt x="730563" y="672284"/>
                  <a:pt x="917750" y="658055"/>
                  <a:pt x="1270988" y="910606"/>
                </a:cubicBezTo>
                <a:cubicBezTo>
                  <a:pt x="1255893" y="935506"/>
                  <a:pt x="1240798" y="924835"/>
                  <a:pt x="1225701" y="921277"/>
                </a:cubicBezTo>
                <a:cubicBezTo>
                  <a:pt x="1201548" y="917720"/>
                  <a:pt x="1171356" y="903491"/>
                  <a:pt x="1165318" y="949734"/>
                </a:cubicBezTo>
                <a:cubicBezTo>
                  <a:pt x="1162298" y="985305"/>
                  <a:pt x="1180415" y="1003089"/>
                  <a:pt x="1210606" y="1006647"/>
                </a:cubicBezTo>
                <a:cubicBezTo>
                  <a:pt x="1298160" y="1020875"/>
                  <a:pt x="1376658" y="1070674"/>
                  <a:pt x="1455156" y="1113358"/>
                </a:cubicBezTo>
                <a:cubicBezTo>
                  <a:pt x="1491385" y="1131144"/>
                  <a:pt x="1530634" y="1156043"/>
                  <a:pt x="1515538" y="1220069"/>
                </a:cubicBezTo>
                <a:cubicBezTo>
                  <a:pt x="1485348" y="1237855"/>
                  <a:pt x="1464213" y="1212955"/>
                  <a:pt x="1440060" y="1209399"/>
                </a:cubicBezTo>
                <a:cubicBezTo>
                  <a:pt x="1415907" y="1205842"/>
                  <a:pt x="1358543" y="1220069"/>
                  <a:pt x="1373640" y="1230741"/>
                </a:cubicBezTo>
                <a:cubicBezTo>
                  <a:pt x="1443080" y="1269868"/>
                  <a:pt x="1316276" y="1365909"/>
                  <a:pt x="1400810" y="1365909"/>
                </a:cubicBezTo>
                <a:cubicBezTo>
                  <a:pt x="1539691" y="1365909"/>
                  <a:pt x="1615170" y="1536647"/>
                  <a:pt x="1748012" y="1540204"/>
                </a:cubicBezTo>
                <a:cubicBezTo>
                  <a:pt x="1769146" y="1540204"/>
                  <a:pt x="1778203" y="1572219"/>
                  <a:pt x="1778203" y="1597117"/>
                </a:cubicBezTo>
                <a:cubicBezTo>
                  <a:pt x="1778203" y="1629132"/>
                  <a:pt x="1757070" y="1632688"/>
                  <a:pt x="1735936" y="1636245"/>
                </a:cubicBezTo>
                <a:cubicBezTo>
                  <a:pt x="1702725" y="1639802"/>
                  <a:pt x="1666496" y="1597117"/>
                  <a:pt x="1624228" y="1657587"/>
                </a:cubicBezTo>
                <a:cubicBezTo>
                  <a:pt x="1702725" y="1693158"/>
                  <a:pt x="1784242" y="1728729"/>
                  <a:pt x="1781223" y="1849668"/>
                </a:cubicBezTo>
                <a:cubicBezTo>
                  <a:pt x="1781223" y="1881683"/>
                  <a:pt x="1814434" y="1895910"/>
                  <a:pt x="1838587" y="1903025"/>
                </a:cubicBezTo>
                <a:cubicBezTo>
                  <a:pt x="1880854" y="1917252"/>
                  <a:pt x="1914065" y="1938595"/>
                  <a:pt x="1938218" y="1984836"/>
                </a:cubicBezTo>
                <a:cubicBezTo>
                  <a:pt x="1938218" y="1995507"/>
                  <a:pt x="1938218" y="2002622"/>
                  <a:pt x="1938218" y="2013292"/>
                </a:cubicBezTo>
                <a:cubicBezTo>
                  <a:pt x="1932180" y="2123562"/>
                  <a:pt x="1871798" y="2120004"/>
                  <a:pt x="1805376" y="2102219"/>
                </a:cubicBezTo>
                <a:cubicBezTo>
                  <a:pt x="1726878" y="2080877"/>
                  <a:pt x="1648381" y="2038192"/>
                  <a:pt x="1563844" y="2077320"/>
                </a:cubicBezTo>
                <a:cubicBezTo>
                  <a:pt x="1681592" y="2130676"/>
                  <a:pt x="1811414" y="2134233"/>
                  <a:pt x="1920104" y="2208931"/>
                </a:cubicBezTo>
                <a:cubicBezTo>
                  <a:pt x="1515538" y="2223159"/>
                  <a:pt x="1159280" y="1984836"/>
                  <a:pt x="766792" y="1892353"/>
                </a:cubicBezTo>
                <a:cubicBezTo>
                  <a:pt x="778869" y="1952823"/>
                  <a:pt x="812080" y="1967051"/>
                  <a:pt x="839252" y="1974165"/>
                </a:cubicBezTo>
                <a:cubicBezTo>
                  <a:pt x="984170" y="2020407"/>
                  <a:pt x="1110974" y="2112891"/>
                  <a:pt x="1243816" y="2191146"/>
                </a:cubicBezTo>
                <a:cubicBezTo>
                  <a:pt x="1298160" y="2223159"/>
                  <a:pt x="1337410" y="2258731"/>
                  <a:pt x="1358543" y="2326314"/>
                </a:cubicBezTo>
                <a:cubicBezTo>
                  <a:pt x="1376658" y="2390340"/>
                  <a:pt x="1412888" y="2418796"/>
                  <a:pt x="1479310" y="2401012"/>
                </a:cubicBezTo>
                <a:cubicBezTo>
                  <a:pt x="1533654" y="2386784"/>
                  <a:pt x="1591018" y="2393898"/>
                  <a:pt x="1648381" y="2401012"/>
                </a:cubicBezTo>
                <a:cubicBezTo>
                  <a:pt x="1711782" y="2408126"/>
                  <a:pt x="1784242" y="2479267"/>
                  <a:pt x="1769146" y="2518395"/>
                </a:cubicBezTo>
                <a:cubicBezTo>
                  <a:pt x="1738956" y="2582422"/>
                  <a:pt x="1687630" y="2550408"/>
                  <a:pt x="1645361" y="2543294"/>
                </a:cubicBezTo>
                <a:cubicBezTo>
                  <a:pt x="1594036" y="2536181"/>
                  <a:pt x="1500444" y="2518395"/>
                  <a:pt x="1500444" y="2525509"/>
                </a:cubicBezTo>
                <a:cubicBezTo>
                  <a:pt x="1467232" y="2685576"/>
                  <a:pt x="1391754" y="2564636"/>
                  <a:pt x="1337410" y="2564636"/>
                </a:cubicBezTo>
                <a:cubicBezTo>
                  <a:pt x="1286084" y="2564636"/>
                  <a:pt x="1234759" y="2546851"/>
                  <a:pt x="1186452" y="2532623"/>
                </a:cubicBezTo>
                <a:cubicBezTo>
                  <a:pt x="1123051" y="2514837"/>
                  <a:pt x="1065688" y="2546851"/>
                  <a:pt x="1005304" y="2553965"/>
                </a:cubicBezTo>
                <a:cubicBezTo>
                  <a:pt x="950960" y="2561080"/>
                  <a:pt x="981150" y="2653563"/>
                  <a:pt x="947940" y="2692689"/>
                </a:cubicBezTo>
                <a:cubicBezTo>
                  <a:pt x="941903" y="2703362"/>
                  <a:pt x="935864" y="2703362"/>
                  <a:pt x="929826" y="2703362"/>
                </a:cubicBezTo>
                <a:cubicBezTo>
                  <a:pt x="911711" y="2980812"/>
                  <a:pt x="594701" y="2913227"/>
                  <a:pt x="594701" y="2923898"/>
                </a:cubicBezTo>
                <a:cubicBezTo>
                  <a:pt x="567529" y="2941684"/>
                  <a:pt x="534318" y="2899000"/>
                  <a:pt x="501108" y="2941684"/>
                </a:cubicBezTo>
                <a:cubicBezTo>
                  <a:pt x="643007" y="3137322"/>
                  <a:pt x="860386" y="3183563"/>
                  <a:pt x="1053610" y="3329402"/>
                </a:cubicBezTo>
                <a:cubicBezTo>
                  <a:pt x="893597" y="3379202"/>
                  <a:pt x="800002" y="3208463"/>
                  <a:pt x="682256" y="3229805"/>
                </a:cubicBezTo>
                <a:cubicBezTo>
                  <a:pt x="624893" y="3283162"/>
                  <a:pt x="796984" y="3368530"/>
                  <a:pt x="630932" y="3393429"/>
                </a:cubicBezTo>
                <a:cubicBezTo>
                  <a:pt x="703390" y="3439672"/>
                  <a:pt x="754716" y="3485914"/>
                  <a:pt x="806041" y="3539269"/>
                </a:cubicBezTo>
                <a:cubicBezTo>
                  <a:pt x="893597" y="3635309"/>
                  <a:pt x="911711" y="3699337"/>
                  <a:pt x="869444" y="3827390"/>
                </a:cubicBezTo>
                <a:cubicBezTo>
                  <a:pt x="842270" y="3912759"/>
                  <a:pt x="803022" y="3991015"/>
                  <a:pt x="839252" y="4090612"/>
                </a:cubicBezTo>
                <a:cubicBezTo>
                  <a:pt x="863405" y="4158196"/>
                  <a:pt x="854347" y="4204438"/>
                  <a:pt x="763774" y="4172424"/>
                </a:cubicBezTo>
                <a:cubicBezTo>
                  <a:pt x="667160" y="4140411"/>
                  <a:pt x="630932" y="4200882"/>
                  <a:pt x="655085" y="4321821"/>
                </a:cubicBezTo>
                <a:cubicBezTo>
                  <a:pt x="670179" y="4400076"/>
                  <a:pt x="655085" y="4424975"/>
                  <a:pt x="588662" y="4414305"/>
                </a:cubicBezTo>
                <a:cubicBezTo>
                  <a:pt x="516204" y="4403633"/>
                  <a:pt x="446764" y="4353835"/>
                  <a:pt x="356189" y="4378734"/>
                </a:cubicBezTo>
                <a:cubicBezTo>
                  <a:pt x="428648" y="4521016"/>
                  <a:pt x="582626" y="4478331"/>
                  <a:pt x="667160" y="4613499"/>
                </a:cubicBezTo>
                <a:cubicBezTo>
                  <a:pt x="567529" y="4613499"/>
                  <a:pt x="489031" y="4613499"/>
                  <a:pt x="416573" y="4585042"/>
                </a:cubicBezTo>
                <a:cubicBezTo>
                  <a:pt x="386381" y="4574373"/>
                  <a:pt x="353170" y="4560144"/>
                  <a:pt x="335056" y="4602828"/>
                </a:cubicBezTo>
                <a:cubicBezTo>
                  <a:pt x="313920" y="4652628"/>
                  <a:pt x="356189" y="4670412"/>
                  <a:pt x="380342" y="4677526"/>
                </a:cubicBezTo>
                <a:cubicBezTo>
                  <a:pt x="449784" y="4702425"/>
                  <a:pt x="504126" y="4759339"/>
                  <a:pt x="564510" y="4805580"/>
                </a:cubicBezTo>
                <a:cubicBezTo>
                  <a:pt x="694332" y="4905177"/>
                  <a:pt x="836233" y="4990547"/>
                  <a:pt x="944922" y="5154171"/>
                </a:cubicBezTo>
                <a:cubicBezTo>
                  <a:pt x="809060" y="5111487"/>
                  <a:pt x="706410" y="5011889"/>
                  <a:pt x="576586" y="4994104"/>
                </a:cubicBezTo>
                <a:cubicBezTo>
                  <a:pt x="688296" y="5143500"/>
                  <a:pt x="830194" y="5243097"/>
                  <a:pt x="963036" y="5353367"/>
                </a:cubicBezTo>
                <a:cubicBezTo>
                  <a:pt x="1002286" y="5385379"/>
                  <a:pt x="1041534" y="5406721"/>
                  <a:pt x="1047572" y="5474306"/>
                </a:cubicBezTo>
                <a:cubicBezTo>
                  <a:pt x="1065688" y="5605917"/>
                  <a:pt x="1113992" y="5712629"/>
                  <a:pt x="1222682" y="5769542"/>
                </a:cubicBezTo>
                <a:cubicBezTo>
                  <a:pt x="1222682" y="5769542"/>
                  <a:pt x="1216644" y="5790884"/>
                  <a:pt x="1213626" y="5801555"/>
                </a:cubicBezTo>
                <a:cubicBezTo>
                  <a:pt x="1147203" y="5805112"/>
                  <a:pt x="1095878" y="5726858"/>
                  <a:pt x="1014361" y="5755314"/>
                </a:cubicBezTo>
                <a:cubicBezTo>
                  <a:pt x="1095878" y="5862025"/>
                  <a:pt x="1162298" y="5954508"/>
                  <a:pt x="1274008" y="6004307"/>
                </a:cubicBezTo>
                <a:cubicBezTo>
                  <a:pt x="1364582" y="6043434"/>
                  <a:pt x="1476290" y="6068335"/>
                  <a:pt x="1542711" y="6196388"/>
                </a:cubicBezTo>
                <a:cubicBezTo>
                  <a:pt x="1467232" y="6221287"/>
                  <a:pt x="1409868" y="6189274"/>
                  <a:pt x="1352504" y="6167932"/>
                </a:cubicBezTo>
                <a:cubicBezTo>
                  <a:pt x="1264950" y="6132361"/>
                  <a:pt x="1177395" y="6093234"/>
                  <a:pt x="1089840" y="6057663"/>
                </a:cubicBezTo>
                <a:cubicBezTo>
                  <a:pt x="1056628" y="6043434"/>
                  <a:pt x="1020400" y="6036320"/>
                  <a:pt x="999266" y="6100347"/>
                </a:cubicBezTo>
                <a:cubicBezTo>
                  <a:pt x="1110974" y="6114575"/>
                  <a:pt x="1177395" y="6199945"/>
                  <a:pt x="1246836" y="6281757"/>
                </a:cubicBezTo>
                <a:cubicBezTo>
                  <a:pt x="1286084" y="6327999"/>
                  <a:pt x="1319295" y="6388469"/>
                  <a:pt x="1388735" y="6367127"/>
                </a:cubicBezTo>
                <a:cubicBezTo>
                  <a:pt x="1424964" y="6356456"/>
                  <a:pt x="1449118" y="6388469"/>
                  <a:pt x="1446099" y="6431153"/>
                </a:cubicBezTo>
                <a:cubicBezTo>
                  <a:pt x="1431002" y="6580550"/>
                  <a:pt x="1518558" y="6630349"/>
                  <a:pt x="1609132" y="6658805"/>
                </a:cubicBezTo>
                <a:cubicBezTo>
                  <a:pt x="1741974" y="6701489"/>
                  <a:pt x="1859720" y="6786859"/>
                  <a:pt x="1983504" y="6858000"/>
                </a:cubicBezTo>
                <a:lnTo>
                  <a:pt x="0" y="6858000"/>
                </a:lnTo>
                <a:close/>
              </a:path>
            </a:pathLst>
          </a:custGeom>
          <a:solidFill>
            <a:schemeClr val="bg2">
              <a:alpha val="50000"/>
            </a:schemeClr>
          </a:solidFill>
          <a:ln w="32707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2851E9C-4F4C-991E-E798-70DBC15D90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35799" y="1103090"/>
            <a:ext cx="8051645" cy="1014965"/>
          </a:xfrm>
        </p:spPr>
        <p:txBody>
          <a:bodyPr>
            <a:normAutofit/>
          </a:bodyPr>
          <a:lstStyle/>
          <a:p>
            <a:pPr defTabSz="694944"/>
            <a:r>
              <a:rPr lang="en-US" sz="608" kern="1200">
                <a:solidFill>
                  <a:schemeClr val="tx1"/>
                </a:solidFill>
                <a:latin typeface="+mj-lt"/>
                <a:ea typeface="+mj-ea"/>
                <a:cs typeface="Calibri Light"/>
              </a:rPr>
              <a:t>.</a:t>
            </a:r>
            <a:endParaRPr lang="en-US" sz="800"/>
          </a:p>
        </p:txBody>
      </p:sp>
      <p:pic>
        <p:nvPicPr>
          <p:cNvPr id="4" name="Picture 4" descr="A screenshot of a computer&#10;&#10;Description automatically generated">
            <a:extLst>
              <a:ext uri="{FF2B5EF4-FFF2-40B4-BE49-F238E27FC236}">
                <a16:creationId xmlns:a16="http://schemas.microsoft.com/office/drawing/2014/main" id="{4614AEA3-527A-6DC0-8451-ACB81060881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518699" y="119270"/>
            <a:ext cx="5936995" cy="2124427"/>
          </a:xfrm>
        </p:spPr>
      </p:pic>
      <p:pic>
        <p:nvPicPr>
          <p:cNvPr id="5" name="Picture 5" descr="A screen shot of a screen&#10;&#10;Description automatically generated">
            <a:extLst>
              <a:ext uri="{FF2B5EF4-FFF2-40B4-BE49-F238E27FC236}">
                <a16:creationId xmlns:a16="http://schemas.microsoft.com/office/drawing/2014/main" id="{558DEE22-9038-3AF4-AC1F-712AB42F81C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18699" y="2118055"/>
            <a:ext cx="5936995" cy="473994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559D3EE-195B-66C5-4EC2-3D1E1A38E5EE}"/>
              </a:ext>
            </a:extLst>
          </p:cNvPr>
          <p:cNvSpPr txBox="1"/>
          <p:nvPr/>
        </p:nvSpPr>
        <p:spPr>
          <a:xfrm>
            <a:off x="7566423" y="720519"/>
            <a:ext cx="4472696" cy="101566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defTabSz="694944">
              <a:spcAft>
                <a:spcPts val="600"/>
              </a:spcAft>
            </a:pPr>
            <a:r>
              <a:rPr lang="en-US" sz="2000" b="1" kern="1200" dirty="0">
                <a:solidFill>
                  <a:schemeClr val="tx1"/>
                </a:solidFill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Correlation of 0.98551 (Very high positive relation between Subscription and Revenue)</a:t>
            </a:r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5635866-E36E-DDE1-177D-C694C814604E}"/>
              </a:ext>
            </a:extLst>
          </p:cNvPr>
          <p:cNvSpPr txBox="1"/>
          <p:nvPr/>
        </p:nvSpPr>
        <p:spPr>
          <a:xfrm>
            <a:off x="7630793" y="3472364"/>
            <a:ext cx="4343956" cy="101566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defTabSz="694944">
              <a:spcAft>
                <a:spcPts val="600"/>
              </a:spcAft>
            </a:pPr>
            <a:r>
              <a:rPr lang="en-US" sz="2000" b="1" kern="1200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Scatter Plot indicates </a:t>
            </a:r>
            <a:r>
              <a:rPr lang="en-US" sz="2000" b="1" kern="1200" dirty="0">
                <a:solidFill>
                  <a:srgbClr val="000000"/>
                </a:solidFill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a strong positive linear relationship between Subscription and Revenue</a:t>
            </a:r>
            <a:endParaRPr lang="en-US" sz="2000" b="1" dirty="0">
              <a:solidFill>
                <a:srgbClr val="37415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3568199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4" name="Rectangle 11">
            <a:extLst>
              <a:ext uri="{FF2B5EF4-FFF2-40B4-BE49-F238E27FC236}">
                <a16:creationId xmlns:a16="http://schemas.microsoft.com/office/drawing/2014/main" id="{F277940B-7F30-4A86-B577-C158694B3E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5" name="Group 13">
            <a:extLst>
              <a:ext uri="{FF2B5EF4-FFF2-40B4-BE49-F238E27FC236}">
                <a16:creationId xmlns:a16="http://schemas.microsoft.com/office/drawing/2014/main" id="{D2A542E6-1924-4FE2-89D1-3CB19468C1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1F353183-2147-472B-AD7D-4A085FF6A42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Rectangle 15">
              <a:extLst>
                <a:ext uri="{FF2B5EF4-FFF2-40B4-BE49-F238E27FC236}">
                  <a16:creationId xmlns:a16="http://schemas.microsoft.com/office/drawing/2014/main" id="{FAAA42C8-A082-4DFD-A5F3-FC9EF825B1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chemeClr val="accent4">
                <a:lumMod val="75000"/>
                <a:alpha val="7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E7C0237E-6640-F785-1326-5D9EBC4407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0613" y="1018723"/>
            <a:ext cx="2952750" cy="825951"/>
          </a:xfrm>
        </p:spPr>
        <p:txBody>
          <a:bodyPr anchor="t">
            <a:normAutofit/>
          </a:bodyPr>
          <a:lstStyle/>
          <a:p>
            <a:r>
              <a:rPr lang="en-CA" sz="800" dirty="0"/>
              <a:t>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84E90F-BF7D-61AD-F74C-316B07BB04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4271" y="561938"/>
            <a:ext cx="3429229" cy="2078883"/>
          </a:xfrm>
        </p:spPr>
        <p:txBody>
          <a:bodyPr anchor="t">
            <a:normAutofit/>
          </a:bodyPr>
          <a:lstStyle/>
          <a:p>
            <a:pPr algn="l">
              <a:buFont typeface="Arial" panose="020B0604020202020204" pitchFamily="34" charset="0"/>
              <a:buChar char="•"/>
            </a:pPr>
            <a:r>
              <a:rPr lang="en-US" sz="1600" b="1" i="0" dirty="0">
                <a:solidFill>
                  <a:srgbClr val="37415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From Q3 2021 to Q2 2022, around 300 customer reviews collected.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1600" b="1" i="0" dirty="0">
                <a:solidFill>
                  <a:srgbClr val="37415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Predominantly negative feedback, indicating issues with Netflix services.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1600" b="1" i="0" dirty="0">
                <a:solidFill>
                  <a:srgbClr val="37415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Resulted in a subscription decline during this timeframe.</a:t>
            </a:r>
          </a:p>
          <a:p>
            <a:pPr marL="0" indent="0">
              <a:buNone/>
            </a:pPr>
            <a:endParaRPr lang="en-CA" sz="1900" dirty="0">
              <a:solidFill>
                <a:schemeClr val="tx1">
                  <a:alpha val="60000"/>
                </a:schemeClr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821877D-8907-5FD3-BB53-FD8C4B6677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7107" y="2705502"/>
            <a:ext cx="4199761" cy="2078882"/>
          </a:xfrm>
          <a:prstGeom prst="rect">
            <a:avLst/>
          </a:prstGeom>
          <a:effectLst>
            <a:outerShdw blurRad="508000" dist="101600" dir="5400000" algn="tl" rotWithShape="0">
              <a:prstClr val="black">
                <a:alpha val="10000"/>
              </a:prstClr>
            </a:outerShdw>
          </a:effectLst>
        </p:spPr>
      </p:pic>
      <p:pic>
        <p:nvPicPr>
          <p:cNvPr id="4" name="Picture 3" descr="A screenshot of a chat&#10;&#10;Description automatically generated">
            <a:extLst>
              <a:ext uri="{FF2B5EF4-FFF2-40B4-BE49-F238E27FC236}">
                <a16:creationId xmlns:a16="http://schemas.microsoft.com/office/drawing/2014/main" id="{C651529B-4FCD-2CF9-1DBF-8EFDEA061E8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75740" y="481758"/>
            <a:ext cx="7285523" cy="2422436"/>
          </a:xfrm>
          <a:prstGeom prst="rect">
            <a:avLst/>
          </a:prstGeom>
          <a:effectLst>
            <a:outerShdw blurRad="508000" dist="101600" dir="5400000" algn="tl" rotWithShape="0">
              <a:prstClr val="black">
                <a:alpha val="10000"/>
              </a:prstClr>
            </a:outerShdw>
          </a:effectLst>
        </p:spPr>
      </p:pic>
      <p:pic>
        <p:nvPicPr>
          <p:cNvPr id="5" name="Picture 4" descr="A screenshot of a computer screen&#10;&#10;Description automatically generated">
            <a:extLst>
              <a:ext uri="{FF2B5EF4-FFF2-40B4-BE49-F238E27FC236}">
                <a16:creationId xmlns:a16="http://schemas.microsoft.com/office/drawing/2014/main" id="{8E148C8C-EED5-28CF-7F84-AE779C4C0CA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02333" y="4808198"/>
            <a:ext cx="6619515" cy="1952756"/>
          </a:xfrm>
          <a:prstGeom prst="rect">
            <a:avLst/>
          </a:prstGeom>
          <a:effectLst>
            <a:outerShdw blurRad="508000" dist="101600" dir="5400000" algn="tl" rotWithShape="0">
              <a:prstClr val="black">
                <a:alpha val="10000"/>
              </a:prstClr>
            </a:outerShdw>
          </a:effectLst>
        </p:spPr>
      </p:pic>
      <p:pic>
        <p:nvPicPr>
          <p:cNvPr id="7" name="Picture 6" descr="A close-up of a message&#10;&#10;Description automatically generated">
            <a:extLst>
              <a:ext uri="{FF2B5EF4-FFF2-40B4-BE49-F238E27FC236}">
                <a16:creationId xmlns:a16="http://schemas.microsoft.com/office/drawing/2014/main" id="{83E3B8B6-F642-5A9F-347D-1DEDBBB9987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12090" y="2904194"/>
            <a:ext cx="6987167" cy="1904003"/>
          </a:xfrm>
          <a:prstGeom prst="rect">
            <a:avLst/>
          </a:prstGeom>
          <a:effectLst>
            <a:outerShdw blurRad="508000" dist="101600" dir="5400000" algn="tl" rotWithShape="0">
              <a:prstClr val="black">
                <a:alpha val="1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236916005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DA8886A6-5426-494B-96D8-D962D2BA08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AA3ED336-C09E-46E8-9774-B977D15FC5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752347"/>
            <a:ext cx="12191999" cy="6105653"/>
          </a:xfrm>
          <a:custGeom>
            <a:avLst/>
            <a:gdLst>
              <a:gd name="connsiteX0" fmla="*/ 7538181 w 12191999"/>
              <a:gd name="connsiteY0" fmla="*/ 484 h 6105653"/>
              <a:gd name="connsiteX1" fmla="*/ 7569993 w 12191999"/>
              <a:gd name="connsiteY1" fmla="*/ 5527 h 6105653"/>
              <a:gd name="connsiteX2" fmla="*/ 7587853 w 12191999"/>
              <a:gd name="connsiteY2" fmla="*/ 84028 h 6105653"/>
              <a:gd name="connsiteX3" fmla="*/ 7559278 w 12191999"/>
              <a:gd name="connsiteY3" fmla="*/ 325347 h 6105653"/>
              <a:gd name="connsiteX4" fmla="*/ 7795021 w 12191999"/>
              <a:gd name="connsiteY4" fmla="*/ 25878 h 6105653"/>
              <a:gd name="connsiteX5" fmla="*/ 7759302 w 12191999"/>
              <a:gd name="connsiteY5" fmla="*/ 249752 h 6105653"/>
              <a:gd name="connsiteX6" fmla="*/ 7852171 w 12191999"/>
              <a:gd name="connsiteY6" fmla="*/ 313717 h 6105653"/>
              <a:gd name="connsiteX7" fmla="*/ 8002190 w 12191999"/>
              <a:gd name="connsiteY7" fmla="*/ 418385 h 6105653"/>
              <a:gd name="connsiteX8" fmla="*/ 8084343 w 12191999"/>
              <a:gd name="connsiteY8" fmla="*/ 491072 h 6105653"/>
              <a:gd name="connsiteX9" fmla="*/ 8348662 w 12191999"/>
              <a:gd name="connsiteY9" fmla="*/ 520146 h 6105653"/>
              <a:gd name="connsiteX10" fmla="*/ 8637984 w 12191999"/>
              <a:gd name="connsiteY10" fmla="*/ 459090 h 6105653"/>
              <a:gd name="connsiteX11" fmla="*/ 8784431 w 12191999"/>
              <a:gd name="connsiteY11" fmla="*/ 290457 h 6105653"/>
              <a:gd name="connsiteX12" fmla="*/ 8948737 w 12191999"/>
              <a:gd name="connsiteY12" fmla="*/ 339884 h 6105653"/>
              <a:gd name="connsiteX13" fmla="*/ 8848725 w 12191999"/>
              <a:gd name="connsiteY13" fmla="*/ 697501 h 6105653"/>
              <a:gd name="connsiteX14" fmla="*/ 9238059 w 12191999"/>
              <a:gd name="connsiteY14" fmla="*/ 165437 h 6105653"/>
              <a:gd name="connsiteX15" fmla="*/ 9255919 w 12191999"/>
              <a:gd name="connsiteY15" fmla="*/ 255567 h 6105653"/>
              <a:gd name="connsiteX16" fmla="*/ 9477374 w 12191999"/>
              <a:gd name="connsiteY16" fmla="*/ 578295 h 6105653"/>
              <a:gd name="connsiteX17" fmla="*/ 9488091 w 12191999"/>
              <a:gd name="connsiteY17" fmla="*/ 595740 h 6105653"/>
              <a:gd name="connsiteX18" fmla="*/ 9627393 w 12191999"/>
              <a:gd name="connsiteY18" fmla="*/ 650981 h 6105653"/>
              <a:gd name="connsiteX19" fmla="*/ 9648824 w 12191999"/>
              <a:gd name="connsiteY19" fmla="*/ 825429 h 6105653"/>
              <a:gd name="connsiteX20" fmla="*/ 9616678 w 12191999"/>
              <a:gd name="connsiteY20" fmla="*/ 970802 h 6105653"/>
              <a:gd name="connsiteX21" fmla="*/ 9655968 w 12191999"/>
              <a:gd name="connsiteY21" fmla="*/ 1127805 h 6105653"/>
              <a:gd name="connsiteX22" fmla="*/ 9638109 w 12191999"/>
              <a:gd name="connsiteY22" fmla="*/ 1267362 h 6105653"/>
              <a:gd name="connsiteX23" fmla="*/ 9663111 w 12191999"/>
              <a:gd name="connsiteY23" fmla="*/ 1386568 h 6105653"/>
              <a:gd name="connsiteX24" fmla="*/ 9780984 w 12191999"/>
              <a:gd name="connsiteY24" fmla="*/ 1270269 h 6105653"/>
              <a:gd name="connsiteX25" fmla="*/ 9780984 w 12191999"/>
              <a:gd name="connsiteY25" fmla="*/ 1107452 h 6105653"/>
              <a:gd name="connsiteX26" fmla="*/ 9855993 w 12191999"/>
              <a:gd name="connsiteY26" fmla="*/ 991154 h 6105653"/>
              <a:gd name="connsiteX27" fmla="*/ 9991724 w 12191999"/>
              <a:gd name="connsiteY27" fmla="*/ 880670 h 6105653"/>
              <a:gd name="connsiteX28" fmla="*/ 10209609 w 12191999"/>
              <a:gd name="connsiteY28" fmla="*/ 491071 h 6105653"/>
              <a:gd name="connsiteX29" fmla="*/ 10291762 w 12191999"/>
              <a:gd name="connsiteY29" fmla="*/ 421292 h 6105653"/>
              <a:gd name="connsiteX30" fmla="*/ 9973865 w 12191999"/>
              <a:gd name="connsiteY30" fmla="*/ 1531941 h 6105653"/>
              <a:gd name="connsiteX31" fmla="*/ 10106024 w 12191999"/>
              <a:gd name="connsiteY31" fmla="*/ 1188861 h 6105653"/>
              <a:gd name="connsiteX32" fmla="*/ 10081022 w 12191999"/>
              <a:gd name="connsiteY32" fmla="*/ 1421458 h 6105653"/>
              <a:gd name="connsiteX33" fmla="*/ 10170318 w 12191999"/>
              <a:gd name="connsiteY33" fmla="*/ 1549385 h 6105653"/>
              <a:gd name="connsiteX34" fmla="*/ 10198893 w 12191999"/>
              <a:gd name="connsiteY34" fmla="*/ 1549385 h 6105653"/>
              <a:gd name="connsiteX35" fmla="*/ 10281046 w 12191999"/>
              <a:gd name="connsiteY35" fmla="*/ 1453439 h 6105653"/>
              <a:gd name="connsiteX36" fmla="*/ 10334625 w 12191999"/>
              <a:gd name="connsiteY36" fmla="*/ 1398198 h 6105653"/>
              <a:gd name="connsiteX37" fmla="*/ 10527506 w 12191999"/>
              <a:gd name="connsiteY37" fmla="*/ 1247010 h 6105653"/>
              <a:gd name="connsiteX38" fmla="*/ 10548937 w 12191999"/>
              <a:gd name="connsiteY38" fmla="*/ 1354586 h 6105653"/>
              <a:gd name="connsiteX39" fmla="*/ 10588228 w 12191999"/>
              <a:gd name="connsiteY39" fmla="*/ 1395290 h 6105653"/>
              <a:gd name="connsiteX40" fmla="*/ 10645378 w 12191999"/>
              <a:gd name="connsiteY40" fmla="*/ 1366216 h 6105653"/>
              <a:gd name="connsiteX41" fmla="*/ 10820400 w 12191999"/>
              <a:gd name="connsiteY41" fmla="*/ 1031858 h 6105653"/>
              <a:gd name="connsiteX42" fmla="*/ 10956131 w 12191999"/>
              <a:gd name="connsiteY42" fmla="*/ 1005691 h 6105653"/>
              <a:gd name="connsiteX43" fmla="*/ 10977562 w 12191999"/>
              <a:gd name="connsiteY43" fmla="*/ 1069655 h 6105653"/>
              <a:gd name="connsiteX44" fmla="*/ 10966847 w 12191999"/>
              <a:gd name="connsiteY44" fmla="*/ 1142341 h 6105653"/>
              <a:gd name="connsiteX45" fmla="*/ 11074003 w 12191999"/>
              <a:gd name="connsiteY45" fmla="*/ 1084192 h 6105653"/>
              <a:gd name="connsiteX46" fmla="*/ 11181159 w 12191999"/>
              <a:gd name="connsiteY46" fmla="*/ 848688 h 6105653"/>
              <a:gd name="connsiteX47" fmla="*/ 11238309 w 12191999"/>
              <a:gd name="connsiteY47" fmla="*/ 805077 h 6105653"/>
              <a:gd name="connsiteX48" fmla="*/ 11266884 w 12191999"/>
              <a:gd name="connsiteY48" fmla="*/ 863226 h 6105653"/>
              <a:gd name="connsiteX49" fmla="*/ 11277600 w 12191999"/>
              <a:gd name="connsiteY49" fmla="*/ 906838 h 6105653"/>
              <a:gd name="connsiteX50" fmla="*/ 11724084 w 12191999"/>
              <a:gd name="connsiteY50" fmla="*/ 5527 h 6105653"/>
              <a:gd name="connsiteX51" fmla="*/ 11727656 w 12191999"/>
              <a:gd name="connsiteY51" fmla="*/ 209048 h 6105653"/>
              <a:gd name="connsiteX52" fmla="*/ 11656218 w 12191999"/>
              <a:gd name="connsiteY52" fmla="*/ 409663 h 6105653"/>
              <a:gd name="connsiteX53" fmla="*/ 11666934 w 12191999"/>
              <a:gd name="connsiteY53" fmla="*/ 621907 h 6105653"/>
              <a:gd name="connsiteX54" fmla="*/ 11631215 w 12191999"/>
              <a:gd name="connsiteY54" fmla="*/ 822521 h 6105653"/>
              <a:gd name="connsiteX55" fmla="*/ 11631215 w 12191999"/>
              <a:gd name="connsiteY55" fmla="*/ 996969 h 6105653"/>
              <a:gd name="connsiteX56" fmla="*/ 11684793 w 12191999"/>
              <a:gd name="connsiteY56" fmla="*/ 834151 h 6105653"/>
              <a:gd name="connsiteX57" fmla="*/ 11774090 w 12191999"/>
              <a:gd name="connsiteY57" fmla="*/ 773095 h 6105653"/>
              <a:gd name="connsiteX58" fmla="*/ 11856243 w 12191999"/>
              <a:gd name="connsiteY58" fmla="*/ 793447 h 6105653"/>
              <a:gd name="connsiteX59" fmla="*/ 11831240 w 12191999"/>
              <a:gd name="connsiteY59" fmla="*/ 860319 h 6105653"/>
              <a:gd name="connsiteX60" fmla="*/ 11738371 w 12191999"/>
              <a:gd name="connsiteY60" fmla="*/ 938820 h 6105653"/>
              <a:gd name="connsiteX61" fmla="*/ 11795521 w 12191999"/>
              <a:gd name="connsiteY61" fmla="*/ 956264 h 6105653"/>
              <a:gd name="connsiteX62" fmla="*/ 11838384 w 12191999"/>
              <a:gd name="connsiteY62" fmla="*/ 1002784 h 6105653"/>
              <a:gd name="connsiteX63" fmla="*/ 11816952 w 12191999"/>
              <a:gd name="connsiteY63" fmla="*/ 1270269 h 6105653"/>
              <a:gd name="connsiteX64" fmla="*/ 11999118 w 12191999"/>
              <a:gd name="connsiteY64" fmla="*/ 1092915 h 6105653"/>
              <a:gd name="connsiteX65" fmla="*/ 12027693 w 12191999"/>
              <a:gd name="connsiteY65" fmla="*/ 979524 h 6105653"/>
              <a:gd name="connsiteX66" fmla="*/ 12102703 w 12191999"/>
              <a:gd name="connsiteY66" fmla="*/ 953357 h 6105653"/>
              <a:gd name="connsiteX67" fmla="*/ 12120562 w 12191999"/>
              <a:gd name="connsiteY67" fmla="*/ 1005691 h 6105653"/>
              <a:gd name="connsiteX68" fmla="*/ 12056268 w 12191999"/>
              <a:gd name="connsiteY68" fmla="*/ 1267362 h 6105653"/>
              <a:gd name="connsiteX69" fmla="*/ 12081272 w 12191999"/>
              <a:gd name="connsiteY69" fmla="*/ 1310974 h 6105653"/>
              <a:gd name="connsiteX70" fmla="*/ 12191999 w 12191999"/>
              <a:gd name="connsiteY70" fmla="*/ 1008598 h 6105653"/>
              <a:gd name="connsiteX71" fmla="*/ 12191999 w 12191999"/>
              <a:gd name="connsiteY71" fmla="*/ 6105653 h 6105653"/>
              <a:gd name="connsiteX72" fmla="*/ 0 w 12191999"/>
              <a:gd name="connsiteY72" fmla="*/ 6105653 h 6105653"/>
              <a:gd name="connsiteX73" fmla="*/ 0 w 12191999"/>
              <a:gd name="connsiteY73" fmla="*/ 927116 h 6105653"/>
              <a:gd name="connsiteX74" fmla="*/ 61930 w 12191999"/>
              <a:gd name="connsiteY74" fmla="*/ 902578 h 6105653"/>
              <a:gd name="connsiteX75" fmla="*/ 155971 w 12191999"/>
              <a:gd name="connsiteY75" fmla="*/ 883588 h 6105653"/>
              <a:gd name="connsiteX76" fmla="*/ 277414 w 12191999"/>
              <a:gd name="connsiteY76" fmla="*/ 802179 h 6105653"/>
              <a:gd name="connsiteX77" fmla="*/ 638174 w 12191999"/>
              <a:gd name="connsiteY77" fmla="*/ 430025 h 6105653"/>
              <a:gd name="connsiteX78" fmla="*/ 477440 w 12191999"/>
              <a:gd name="connsiteY78" fmla="*/ 784735 h 6105653"/>
              <a:gd name="connsiteX79" fmla="*/ 827483 w 12191999"/>
              <a:gd name="connsiteY79" fmla="*/ 418395 h 6105653"/>
              <a:gd name="connsiteX80" fmla="*/ 956071 w 12191999"/>
              <a:gd name="connsiteY80" fmla="*/ 241040 h 6105653"/>
              <a:gd name="connsiteX81" fmla="*/ 999268 w 12191999"/>
              <a:gd name="connsiteY81" fmla="*/ 192386 h 6105653"/>
              <a:gd name="connsiteX82" fmla="*/ 1031080 w 12191999"/>
              <a:gd name="connsiteY82" fmla="*/ 197429 h 6105653"/>
              <a:gd name="connsiteX83" fmla="*/ 1048940 w 12191999"/>
              <a:gd name="connsiteY83" fmla="*/ 275930 h 6105653"/>
              <a:gd name="connsiteX84" fmla="*/ 1020365 w 12191999"/>
              <a:gd name="connsiteY84" fmla="*/ 517249 h 6105653"/>
              <a:gd name="connsiteX85" fmla="*/ 1256108 w 12191999"/>
              <a:gd name="connsiteY85" fmla="*/ 217780 h 6105653"/>
              <a:gd name="connsiteX86" fmla="*/ 1220389 w 12191999"/>
              <a:gd name="connsiteY86" fmla="*/ 441654 h 6105653"/>
              <a:gd name="connsiteX87" fmla="*/ 1313258 w 12191999"/>
              <a:gd name="connsiteY87" fmla="*/ 505619 h 6105653"/>
              <a:gd name="connsiteX88" fmla="*/ 1463277 w 12191999"/>
              <a:gd name="connsiteY88" fmla="*/ 610287 h 6105653"/>
              <a:gd name="connsiteX89" fmla="*/ 1545430 w 12191999"/>
              <a:gd name="connsiteY89" fmla="*/ 682974 h 6105653"/>
              <a:gd name="connsiteX90" fmla="*/ 1809749 w 12191999"/>
              <a:gd name="connsiteY90" fmla="*/ 712048 h 6105653"/>
              <a:gd name="connsiteX91" fmla="*/ 2099071 w 12191999"/>
              <a:gd name="connsiteY91" fmla="*/ 650992 h 6105653"/>
              <a:gd name="connsiteX92" fmla="*/ 2245518 w 12191999"/>
              <a:gd name="connsiteY92" fmla="*/ 482359 h 6105653"/>
              <a:gd name="connsiteX93" fmla="*/ 2409824 w 12191999"/>
              <a:gd name="connsiteY93" fmla="*/ 531786 h 6105653"/>
              <a:gd name="connsiteX94" fmla="*/ 2309812 w 12191999"/>
              <a:gd name="connsiteY94" fmla="*/ 889403 h 6105653"/>
              <a:gd name="connsiteX95" fmla="*/ 2699146 w 12191999"/>
              <a:gd name="connsiteY95" fmla="*/ 357339 h 6105653"/>
              <a:gd name="connsiteX96" fmla="*/ 2717006 w 12191999"/>
              <a:gd name="connsiteY96" fmla="*/ 447469 h 6105653"/>
              <a:gd name="connsiteX97" fmla="*/ 2938461 w 12191999"/>
              <a:gd name="connsiteY97" fmla="*/ 770197 h 6105653"/>
              <a:gd name="connsiteX98" fmla="*/ 2949178 w 12191999"/>
              <a:gd name="connsiteY98" fmla="*/ 787642 h 6105653"/>
              <a:gd name="connsiteX99" fmla="*/ 3088480 w 12191999"/>
              <a:gd name="connsiteY99" fmla="*/ 842883 h 6105653"/>
              <a:gd name="connsiteX100" fmla="*/ 3109911 w 12191999"/>
              <a:gd name="connsiteY100" fmla="*/ 1017331 h 6105653"/>
              <a:gd name="connsiteX101" fmla="*/ 3077765 w 12191999"/>
              <a:gd name="connsiteY101" fmla="*/ 1162704 h 6105653"/>
              <a:gd name="connsiteX102" fmla="*/ 3117055 w 12191999"/>
              <a:gd name="connsiteY102" fmla="*/ 1319707 h 6105653"/>
              <a:gd name="connsiteX103" fmla="*/ 3099196 w 12191999"/>
              <a:gd name="connsiteY103" fmla="*/ 1459264 h 6105653"/>
              <a:gd name="connsiteX104" fmla="*/ 3124198 w 12191999"/>
              <a:gd name="connsiteY104" fmla="*/ 1578470 h 6105653"/>
              <a:gd name="connsiteX105" fmla="*/ 3242071 w 12191999"/>
              <a:gd name="connsiteY105" fmla="*/ 1462171 h 6105653"/>
              <a:gd name="connsiteX106" fmla="*/ 3242071 w 12191999"/>
              <a:gd name="connsiteY106" fmla="*/ 1299354 h 6105653"/>
              <a:gd name="connsiteX107" fmla="*/ 3317080 w 12191999"/>
              <a:gd name="connsiteY107" fmla="*/ 1183056 h 6105653"/>
              <a:gd name="connsiteX108" fmla="*/ 3452811 w 12191999"/>
              <a:gd name="connsiteY108" fmla="*/ 1072572 h 6105653"/>
              <a:gd name="connsiteX109" fmla="*/ 3670696 w 12191999"/>
              <a:gd name="connsiteY109" fmla="*/ 682973 h 6105653"/>
              <a:gd name="connsiteX110" fmla="*/ 3752849 w 12191999"/>
              <a:gd name="connsiteY110" fmla="*/ 613194 h 6105653"/>
              <a:gd name="connsiteX111" fmla="*/ 3434952 w 12191999"/>
              <a:gd name="connsiteY111" fmla="*/ 1723843 h 6105653"/>
              <a:gd name="connsiteX112" fmla="*/ 3567111 w 12191999"/>
              <a:gd name="connsiteY112" fmla="*/ 1380763 h 6105653"/>
              <a:gd name="connsiteX113" fmla="*/ 3542109 w 12191999"/>
              <a:gd name="connsiteY113" fmla="*/ 1613360 h 6105653"/>
              <a:gd name="connsiteX114" fmla="*/ 3631405 w 12191999"/>
              <a:gd name="connsiteY114" fmla="*/ 1741287 h 6105653"/>
              <a:gd name="connsiteX115" fmla="*/ 3659980 w 12191999"/>
              <a:gd name="connsiteY115" fmla="*/ 1741287 h 6105653"/>
              <a:gd name="connsiteX116" fmla="*/ 3742133 w 12191999"/>
              <a:gd name="connsiteY116" fmla="*/ 1645341 h 6105653"/>
              <a:gd name="connsiteX117" fmla="*/ 3795712 w 12191999"/>
              <a:gd name="connsiteY117" fmla="*/ 1590100 h 6105653"/>
              <a:gd name="connsiteX118" fmla="*/ 3988593 w 12191999"/>
              <a:gd name="connsiteY118" fmla="*/ 1438912 h 6105653"/>
              <a:gd name="connsiteX119" fmla="*/ 4010024 w 12191999"/>
              <a:gd name="connsiteY119" fmla="*/ 1546488 h 6105653"/>
              <a:gd name="connsiteX120" fmla="*/ 4049315 w 12191999"/>
              <a:gd name="connsiteY120" fmla="*/ 1587192 h 6105653"/>
              <a:gd name="connsiteX121" fmla="*/ 4106465 w 12191999"/>
              <a:gd name="connsiteY121" fmla="*/ 1558118 h 6105653"/>
              <a:gd name="connsiteX122" fmla="*/ 4281487 w 12191999"/>
              <a:gd name="connsiteY122" fmla="*/ 1223760 h 6105653"/>
              <a:gd name="connsiteX123" fmla="*/ 4417219 w 12191999"/>
              <a:gd name="connsiteY123" fmla="*/ 1197593 h 6105653"/>
              <a:gd name="connsiteX124" fmla="*/ 4438649 w 12191999"/>
              <a:gd name="connsiteY124" fmla="*/ 1261557 h 6105653"/>
              <a:gd name="connsiteX125" fmla="*/ 4427935 w 12191999"/>
              <a:gd name="connsiteY125" fmla="*/ 1334243 h 6105653"/>
              <a:gd name="connsiteX126" fmla="*/ 4535090 w 12191999"/>
              <a:gd name="connsiteY126" fmla="*/ 1276094 h 6105653"/>
              <a:gd name="connsiteX127" fmla="*/ 4642246 w 12191999"/>
              <a:gd name="connsiteY127" fmla="*/ 1040590 h 6105653"/>
              <a:gd name="connsiteX128" fmla="*/ 4699396 w 12191999"/>
              <a:gd name="connsiteY128" fmla="*/ 996979 h 6105653"/>
              <a:gd name="connsiteX129" fmla="*/ 4727971 w 12191999"/>
              <a:gd name="connsiteY129" fmla="*/ 1055128 h 6105653"/>
              <a:gd name="connsiteX130" fmla="*/ 4738688 w 12191999"/>
              <a:gd name="connsiteY130" fmla="*/ 1098740 h 6105653"/>
              <a:gd name="connsiteX131" fmla="*/ 5185172 w 12191999"/>
              <a:gd name="connsiteY131" fmla="*/ 197429 h 6105653"/>
              <a:gd name="connsiteX132" fmla="*/ 5188744 w 12191999"/>
              <a:gd name="connsiteY132" fmla="*/ 400950 h 6105653"/>
              <a:gd name="connsiteX133" fmla="*/ 5117306 w 12191999"/>
              <a:gd name="connsiteY133" fmla="*/ 601565 h 6105653"/>
              <a:gd name="connsiteX134" fmla="*/ 5128021 w 12191999"/>
              <a:gd name="connsiteY134" fmla="*/ 813809 h 6105653"/>
              <a:gd name="connsiteX135" fmla="*/ 5092302 w 12191999"/>
              <a:gd name="connsiteY135" fmla="*/ 1014423 h 6105653"/>
              <a:gd name="connsiteX136" fmla="*/ 5092302 w 12191999"/>
              <a:gd name="connsiteY136" fmla="*/ 1188871 h 6105653"/>
              <a:gd name="connsiteX137" fmla="*/ 5145880 w 12191999"/>
              <a:gd name="connsiteY137" fmla="*/ 1026053 h 6105653"/>
              <a:gd name="connsiteX138" fmla="*/ 5235177 w 12191999"/>
              <a:gd name="connsiteY138" fmla="*/ 964997 h 6105653"/>
              <a:gd name="connsiteX139" fmla="*/ 5317331 w 12191999"/>
              <a:gd name="connsiteY139" fmla="*/ 985349 h 6105653"/>
              <a:gd name="connsiteX140" fmla="*/ 5292327 w 12191999"/>
              <a:gd name="connsiteY140" fmla="*/ 1052221 h 6105653"/>
              <a:gd name="connsiteX141" fmla="*/ 5199458 w 12191999"/>
              <a:gd name="connsiteY141" fmla="*/ 1130722 h 6105653"/>
              <a:gd name="connsiteX142" fmla="*/ 5256608 w 12191999"/>
              <a:gd name="connsiteY142" fmla="*/ 1148166 h 6105653"/>
              <a:gd name="connsiteX143" fmla="*/ 5299471 w 12191999"/>
              <a:gd name="connsiteY143" fmla="*/ 1194686 h 6105653"/>
              <a:gd name="connsiteX144" fmla="*/ 5278039 w 12191999"/>
              <a:gd name="connsiteY144" fmla="*/ 1462171 h 6105653"/>
              <a:gd name="connsiteX145" fmla="*/ 5460205 w 12191999"/>
              <a:gd name="connsiteY145" fmla="*/ 1284817 h 6105653"/>
              <a:gd name="connsiteX146" fmla="*/ 5488780 w 12191999"/>
              <a:gd name="connsiteY146" fmla="*/ 1171426 h 6105653"/>
              <a:gd name="connsiteX147" fmla="*/ 5539513 w 12191999"/>
              <a:gd name="connsiteY147" fmla="*/ 1140353 h 6105653"/>
              <a:gd name="connsiteX148" fmla="*/ 5552720 w 12191999"/>
              <a:gd name="connsiteY148" fmla="*/ 1143022 h 6105653"/>
              <a:gd name="connsiteX149" fmla="*/ 5574208 w 12191999"/>
              <a:gd name="connsiteY149" fmla="*/ 1115811 h 6105653"/>
              <a:gd name="connsiteX150" fmla="*/ 5734050 w 12191999"/>
              <a:gd name="connsiteY150" fmla="*/ 1075470 h 6105653"/>
              <a:gd name="connsiteX151" fmla="*/ 5798343 w 12191999"/>
              <a:gd name="connsiteY151" fmla="*/ 1020228 h 6105653"/>
              <a:gd name="connsiteX152" fmla="*/ 5884068 w 12191999"/>
              <a:gd name="connsiteY152" fmla="*/ 883578 h 6105653"/>
              <a:gd name="connsiteX153" fmla="*/ 6066234 w 12191999"/>
              <a:gd name="connsiteY153" fmla="*/ 645166 h 6105653"/>
              <a:gd name="connsiteX154" fmla="*/ 6109096 w 12191999"/>
              <a:gd name="connsiteY154" fmla="*/ 732391 h 6105653"/>
              <a:gd name="connsiteX155" fmla="*/ 5998368 w 12191999"/>
              <a:gd name="connsiteY155" fmla="*/ 985338 h 6105653"/>
              <a:gd name="connsiteX156" fmla="*/ 5969793 w 12191999"/>
              <a:gd name="connsiteY156" fmla="*/ 1168509 h 6105653"/>
              <a:gd name="connsiteX157" fmla="*/ 6162674 w 12191999"/>
              <a:gd name="connsiteY157" fmla="*/ 909745 h 6105653"/>
              <a:gd name="connsiteX158" fmla="*/ 6412705 w 12191999"/>
              <a:gd name="connsiteY158" fmla="*/ 659704 h 6105653"/>
              <a:gd name="connsiteX159" fmla="*/ 6366271 w 12191999"/>
              <a:gd name="connsiteY159" fmla="*/ 851596 h 6105653"/>
              <a:gd name="connsiteX160" fmla="*/ 6398418 w 12191999"/>
              <a:gd name="connsiteY160" fmla="*/ 860319 h 6105653"/>
              <a:gd name="connsiteX161" fmla="*/ 6694884 w 12191999"/>
              <a:gd name="connsiteY161" fmla="*/ 691686 h 6105653"/>
              <a:gd name="connsiteX162" fmla="*/ 6816327 w 12191999"/>
              <a:gd name="connsiteY162" fmla="*/ 610277 h 6105653"/>
              <a:gd name="connsiteX163" fmla="*/ 7177087 w 12191999"/>
              <a:gd name="connsiteY163" fmla="*/ 238123 h 6105653"/>
              <a:gd name="connsiteX164" fmla="*/ 7016353 w 12191999"/>
              <a:gd name="connsiteY164" fmla="*/ 592833 h 6105653"/>
              <a:gd name="connsiteX165" fmla="*/ 7366396 w 12191999"/>
              <a:gd name="connsiteY165" fmla="*/ 226493 h 6105653"/>
              <a:gd name="connsiteX166" fmla="*/ 7494984 w 12191999"/>
              <a:gd name="connsiteY166" fmla="*/ 49138 h 6105653"/>
              <a:gd name="connsiteX167" fmla="*/ 7538181 w 12191999"/>
              <a:gd name="connsiteY167" fmla="*/ 484 h 61056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</a:cxnLst>
            <a:rect l="l" t="t" r="r" b="b"/>
            <a:pathLst>
              <a:path w="12191999" h="6105653">
                <a:moveTo>
                  <a:pt x="7538181" y="484"/>
                </a:moveTo>
                <a:cubicBezTo>
                  <a:pt x="7546999" y="-833"/>
                  <a:pt x="7557492" y="439"/>
                  <a:pt x="7569993" y="5527"/>
                </a:cubicBezTo>
                <a:cubicBezTo>
                  <a:pt x="7612855" y="22971"/>
                  <a:pt x="7598567" y="54953"/>
                  <a:pt x="7587853" y="84028"/>
                </a:cubicBezTo>
                <a:cubicBezTo>
                  <a:pt x="7559278" y="153806"/>
                  <a:pt x="7559278" y="229401"/>
                  <a:pt x="7559278" y="325347"/>
                </a:cubicBezTo>
                <a:cubicBezTo>
                  <a:pt x="7695009" y="243938"/>
                  <a:pt x="7652146" y="95658"/>
                  <a:pt x="7795021" y="25878"/>
                </a:cubicBezTo>
                <a:cubicBezTo>
                  <a:pt x="7820024" y="113102"/>
                  <a:pt x="7770018" y="179974"/>
                  <a:pt x="7759302" y="249752"/>
                </a:cubicBezTo>
                <a:cubicBezTo>
                  <a:pt x="7748587" y="313717"/>
                  <a:pt x="7773590" y="328254"/>
                  <a:pt x="7852171" y="313717"/>
                </a:cubicBezTo>
                <a:cubicBezTo>
                  <a:pt x="7973615" y="290457"/>
                  <a:pt x="8034337" y="325347"/>
                  <a:pt x="8002190" y="418385"/>
                </a:cubicBezTo>
                <a:cubicBezTo>
                  <a:pt x="7970043" y="505609"/>
                  <a:pt x="8016478" y="514331"/>
                  <a:pt x="8084343" y="491072"/>
                </a:cubicBezTo>
                <a:cubicBezTo>
                  <a:pt x="8184355" y="456182"/>
                  <a:pt x="8262937" y="493979"/>
                  <a:pt x="8348662" y="520146"/>
                </a:cubicBezTo>
                <a:cubicBezTo>
                  <a:pt x="8477249" y="560851"/>
                  <a:pt x="8541543" y="543406"/>
                  <a:pt x="8637984" y="459090"/>
                </a:cubicBezTo>
                <a:cubicBezTo>
                  <a:pt x="8691561" y="409663"/>
                  <a:pt x="8737996" y="360236"/>
                  <a:pt x="8784431" y="290457"/>
                </a:cubicBezTo>
                <a:cubicBezTo>
                  <a:pt x="8809434" y="450367"/>
                  <a:pt x="8895158" y="284642"/>
                  <a:pt x="8948737" y="339884"/>
                </a:cubicBezTo>
                <a:cubicBezTo>
                  <a:pt x="8970168" y="453274"/>
                  <a:pt x="8798717" y="543406"/>
                  <a:pt x="8848725" y="697501"/>
                </a:cubicBezTo>
                <a:cubicBezTo>
                  <a:pt x="8995171" y="511424"/>
                  <a:pt x="9041606" y="302087"/>
                  <a:pt x="9238059" y="165437"/>
                </a:cubicBezTo>
                <a:cubicBezTo>
                  <a:pt x="9280921" y="197419"/>
                  <a:pt x="9238059" y="229401"/>
                  <a:pt x="9255919" y="255567"/>
                </a:cubicBezTo>
                <a:cubicBezTo>
                  <a:pt x="9266634" y="255567"/>
                  <a:pt x="9198767" y="560851"/>
                  <a:pt x="9477374" y="578295"/>
                </a:cubicBezTo>
                <a:cubicBezTo>
                  <a:pt x="9477374" y="584110"/>
                  <a:pt x="9477374" y="589925"/>
                  <a:pt x="9488091" y="595740"/>
                </a:cubicBezTo>
                <a:cubicBezTo>
                  <a:pt x="9527380" y="627722"/>
                  <a:pt x="9620249" y="598648"/>
                  <a:pt x="9627393" y="650981"/>
                </a:cubicBezTo>
                <a:cubicBezTo>
                  <a:pt x="9634537" y="709131"/>
                  <a:pt x="9666684" y="764373"/>
                  <a:pt x="9648824" y="825429"/>
                </a:cubicBezTo>
                <a:cubicBezTo>
                  <a:pt x="9634537" y="871948"/>
                  <a:pt x="9616678" y="921374"/>
                  <a:pt x="9616678" y="970802"/>
                </a:cubicBezTo>
                <a:cubicBezTo>
                  <a:pt x="9616678" y="1023136"/>
                  <a:pt x="9495233" y="1095822"/>
                  <a:pt x="9655968" y="1127805"/>
                </a:cubicBezTo>
                <a:cubicBezTo>
                  <a:pt x="9663111" y="1127805"/>
                  <a:pt x="9645252" y="1217935"/>
                  <a:pt x="9638109" y="1267362"/>
                </a:cubicBezTo>
                <a:cubicBezTo>
                  <a:pt x="9630965" y="1308066"/>
                  <a:pt x="9598818" y="1357494"/>
                  <a:pt x="9663111" y="1386568"/>
                </a:cubicBezTo>
                <a:cubicBezTo>
                  <a:pt x="9702403" y="1401105"/>
                  <a:pt x="9773840" y="1331326"/>
                  <a:pt x="9780984" y="1270269"/>
                </a:cubicBezTo>
                <a:cubicBezTo>
                  <a:pt x="9788127" y="1215028"/>
                  <a:pt x="9795271" y="1159787"/>
                  <a:pt x="9780984" y="1107452"/>
                </a:cubicBezTo>
                <a:cubicBezTo>
                  <a:pt x="9763125" y="1043488"/>
                  <a:pt x="9791699" y="1008598"/>
                  <a:pt x="9855993" y="991154"/>
                </a:cubicBezTo>
                <a:cubicBezTo>
                  <a:pt x="9923858" y="970802"/>
                  <a:pt x="9959577" y="933005"/>
                  <a:pt x="9991724" y="880670"/>
                </a:cubicBezTo>
                <a:cubicBezTo>
                  <a:pt x="10070305" y="752742"/>
                  <a:pt x="10163174" y="630630"/>
                  <a:pt x="10209609" y="491071"/>
                </a:cubicBezTo>
                <a:cubicBezTo>
                  <a:pt x="10216753" y="464905"/>
                  <a:pt x="10231040" y="432923"/>
                  <a:pt x="10291762" y="421292"/>
                </a:cubicBezTo>
                <a:cubicBezTo>
                  <a:pt x="10198893" y="799262"/>
                  <a:pt x="9959577" y="1142341"/>
                  <a:pt x="9973865" y="1531941"/>
                </a:cubicBezTo>
                <a:cubicBezTo>
                  <a:pt x="10048874" y="1427272"/>
                  <a:pt x="10052446" y="1302252"/>
                  <a:pt x="10106024" y="1188861"/>
                </a:cubicBezTo>
                <a:cubicBezTo>
                  <a:pt x="10145315" y="1270269"/>
                  <a:pt x="10102453" y="1345863"/>
                  <a:pt x="10081022" y="1421458"/>
                </a:cubicBezTo>
                <a:cubicBezTo>
                  <a:pt x="10063162" y="1485421"/>
                  <a:pt x="10059590" y="1543570"/>
                  <a:pt x="10170318" y="1549385"/>
                </a:cubicBezTo>
                <a:cubicBezTo>
                  <a:pt x="10181034" y="1549385"/>
                  <a:pt x="10188178" y="1549385"/>
                  <a:pt x="10198893" y="1549385"/>
                </a:cubicBezTo>
                <a:cubicBezTo>
                  <a:pt x="10245327" y="1526126"/>
                  <a:pt x="10266759" y="1494144"/>
                  <a:pt x="10281046" y="1453439"/>
                </a:cubicBezTo>
                <a:cubicBezTo>
                  <a:pt x="10288190" y="1430180"/>
                  <a:pt x="10302477" y="1398198"/>
                  <a:pt x="10334625" y="1398198"/>
                </a:cubicBezTo>
                <a:cubicBezTo>
                  <a:pt x="10456068" y="1401105"/>
                  <a:pt x="10491787" y="1322604"/>
                  <a:pt x="10527506" y="1247010"/>
                </a:cubicBezTo>
                <a:cubicBezTo>
                  <a:pt x="10588228" y="1287714"/>
                  <a:pt x="10545365" y="1322604"/>
                  <a:pt x="10548937" y="1354586"/>
                </a:cubicBezTo>
                <a:cubicBezTo>
                  <a:pt x="10552509" y="1374938"/>
                  <a:pt x="10556080" y="1395290"/>
                  <a:pt x="10588228" y="1395290"/>
                </a:cubicBezTo>
                <a:cubicBezTo>
                  <a:pt x="10613230" y="1395290"/>
                  <a:pt x="10645378" y="1386568"/>
                  <a:pt x="10645378" y="1366216"/>
                </a:cubicBezTo>
                <a:cubicBezTo>
                  <a:pt x="10648949" y="1238288"/>
                  <a:pt x="10820400" y="1165601"/>
                  <a:pt x="10820400" y="1031858"/>
                </a:cubicBezTo>
                <a:cubicBezTo>
                  <a:pt x="10820400" y="950449"/>
                  <a:pt x="10916840" y="1072563"/>
                  <a:pt x="10956131" y="1005691"/>
                </a:cubicBezTo>
                <a:cubicBezTo>
                  <a:pt x="10966847" y="991154"/>
                  <a:pt x="10981133" y="1046395"/>
                  <a:pt x="10977562" y="1069655"/>
                </a:cubicBezTo>
                <a:cubicBezTo>
                  <a:pt x="10973991" y="1092915"/>
                  <a:pt x="10948987" y="1113267"/>
                  <a:pt x="10966847" y="1142341"/>
                </a:cubicBezTo>
                <a:cubicBezTo>
                  <a:pt x="11031140" y="1156879"/>
                  <a:pt x="11056143" y="1119081"/>
                  <a:pt x="11074003" y="1084192"/>
                </a:cubicBezTo>
                <a:cubicBezTo>
                  <a:pt x="11116865" y="1008598"/>
                  <a:pt x="11166871" y="933005"/>
                  <a:pt x="11181159" y="848688"/>
                </a:cubicBezTo>
                <a:cubicBezTo>
                  <a:pt x="11184730" y="819614"/>
                  <a:pt x="11202590" y="802169"/>
                  <a:pt x="11238309" y="805077"/>
                </a:cubicBezTo>
                <a:cubicBezTo>
                  <a:pt x="11284744" y="810891"/>
                  <a:pt x="11270456" y="839966"/>
                  <a:pt x="11266884" y="863226"/>
                </a:cubicBezTo>
                <a:cubicBezTo>
                  <a:pt x="11263312" y="877763"/>
                  <a:pt x="11252596" y="892300"/>
                  <a:pt x="11277600" y="906838"/>
                </a:cubicBezTo>
                <a:cubicBezTo>
                  <a:pt x="11531203" y="566666"/>
                  <a:pt x="11516915" y="386403"/>
                  <a:pt x="11724084" y="5527"/>
                </a:cubicBezTo>
                <a:cubicBezTo>
                  <a:pt x="11763375" y="89842"/>
                  <a:pt x="11734800" y="150899"/>
                  <a:pt x="11727656" y="209048"/>
                </a:cubicBezTo>
                <a:cubicBezTo>
                  <a:pt x="11709796" y="354421"/>
                  <a:pt x="11677649" y="264290"/>
                  <a:pt x="11656218" y="409663"/>
                </a:cubicBezTo>
                <a:cubicBezTo>
                  <a:pt x="11645503" y="479442"/>
                  <a:pt x="11609784" y="543406"/>
                  <a:pt x="11666934" y="621907"/>
                </a:cubicBezTo>
                <a:cubicBezTo>
                  <a:pt x="11706225" y="674241"/>
                  <a:pt x="11663362" y="758557"/>
                  <a:pt x="11631215" y="822521"/>
                </a:cubicBezTo>
                <a:cubicBezTo>
                  <a:pt x="11602640" y="874856"/>
                  <a:pt x="11595497" y="927190"/>
                  <a:pt x="11631215" y="996969"/>
                </a:cubicBezTo>
                <a:cubicBezTo>
                  <a:pt x="11652646" y="933005"/>
                  <a:pt x="11670505" y="883578"/>
                  <a:pt x="11684793" y="834151"/>
                </a:cubicBezTo>
                <a:cubicBezTo>
                  <a:pt x="11695509" y="793447"/>
                  <a:pt x="11720512" y="770187"/>
                  <a:pt x="11774090" y="773095"/>
                </a:cubicBezTo>
                <a:cubicBezTo>
                  <a:pt x="11802665" y="773095"/>
                  <a:pt x="11841956" y="764373"/>
                  <a:pt x="11856243" y="793447"/>
                </a:cubicBezTo>
                <a:cubicBezTo>
                  <a:pt x="11870531" y="816706"/>
                  <a:pt x="11856243" y="848688"/>
                  <a:pt x="11831240" y="860319"/>
                </a:cubicBezTo>
                <a:cubicBezTo>
                  <a:pt x="11784806" y="874856"/>
                  <a:pt x="11741944" y="889393"/>
                  <a:pt x="11738371" y="938820"/>
                </a:cubicBezTo>
                <a:cubicBezTo>
                  <a:pt x="11731228" y="1005691"/>
                  <a:pt x="11759802" y="967894"/>
                  <a:pt x="11795521" y="956264"/>
                </a:cubicBezTo>
                <a:cubicBezTo>
                  <a:pt x="11834812" y="944634"/>
                  <a:pt x="11845527" y="979524"/>
                  <a:pt x="11838384" y="1002784"/>
                </a:cubicBezTo>
                <a:cubicBezTo>
                  <a:pt x="11806237" y="1090007"/>
                  <a:pt x="11863387" y="1180138"/>
                  <a:pt x="11816952" y="1270269"/>
                </a:cubicBezTo>
                <a:cubicBezTo>
                  <a:pt x="11931252" y="1247010"/>
                  <a:pt x="11981259" y="1197583"/>
                  <a:pt x="11999118" y="1092915"/>
                </a:cubicBezTo>
                <a:cubicBezTo>
                  <a:pt x="12002690" y="1055118"/>
                  <a:pt x="11995547" y="1014413"/>
                  <a:pt x="12027693" y="979524"/>
                </a:cubicBezTo>
                <a:cubicBezTo>
                  <a:pt x="12045553" y="959172"/>
                  <a:pt x="12066984" y="938820"/>
                  <a:pt x="12102703" y="953357"/>
                </a:cubicBezTo>
                <a:cubicBezTo>
                  <a:pt x="12127705" y="962080"/>
                  <a:pt x="12127705" y="985338"/>
                  <a:pt x="12120562" y="1005691"/>
                </a:cubicBezTo>
                <a:cubicBezTo>
                  <a:pt x="12081272" y="1090007"/>
                  <a:pt x="12070555" y="1180138"/>
                  <a:pt x="12056268" y="1267362"/>
                </a:cubicBezTo>
                <a:cubicBezTo>
                  <a:pt x="12052697" y="1281899"/>
                  <a:pt x="12045553" y="1296437"/>
                  <a:pt x="12081272" y="1310974"/>
                </a:cubicBezTo>
                <a:cubicBezTo>
                  <a:pt x="12113418" y="1209213"/>
                  <a:pt x="12156280" y="1110359"/>
                  <a:pt x="12191999" y="1008598"/>
                </a:cubicBezTo>
                <a:lnTo>
                  <a:pt x="12191999" y="6105653"/>
                </a:lnTo>
                <a:lnTo>
                  <a:pt x="0" y="6105653"/>
                </a:lnTo>
                <a:lnTo>
                  <a:pt x="0" y="927116"/>
                </a:lnTo>
                <a:lnTo>
                  <a:pt x="61930" y="902578"/>
                </a:lnTo>
                <a:cubicBezTo>
                  <a:pt x="91454" y="894128"/>
                  <a:pt x="122931" y="887949"/>
                  <a:pt x="155971" y="883588"/>
                </a:cubicBezTo>
                <a:cubicBezTo>
                  <a:pt x="223837" y="877773"/>
                  <a:pt x="245268" y="839976"/>
                  <a:pt x="277414" y="802179"/>
                </a:cubicBezTo>
                <a:cubicBezTo>
                  <a:pt x="388143" y="674251"/>
                  <a:pt x="488155" y="537601"/>
                  <a:pt x="638174" y="430025"/>
                </a:cubicBezTo>
                <a:cubicBezTo>
                  <a:pt x="620315" y="555046"/>
                  <a:pt x="520302" y="653899"/>
                  <a:pt x="477440" y="784735"/>
                </a:cubicBezTo>
                <a:cubicBezTo>
                  <a:pt x="641746" y="680066"/>
                  <a:pt x="727471" y="543415"/>
                  <a:pt x="827483" y="418395"/>
                </a:cubicBezTo>
                <a:cubicBezTo>
                  <a:pt x="873917" y="360246"/>
                  <a:pt x="931068" y="307912"/>
                  <a:pt x="956071" y="241040"/>
                </a:cubicBezTo>
                <a:cubicBezTo>
                  <a:pt x="961429" y="223595"/>
                  <a:pt x="972814" y="196338"/>
                  <a:pt x="999268" y="192386"/>
                </a:cubicBezTo>
                <a:cubicBezTo>
                  <a:pt x="1008086" y="191069"/>
                  <a:pt x="1018579" y="192341"/>
                  <a:pt x="1031080" y="197429"/>
                </a:cubicBezTo>
                <a:cubicBezTo>
                  <a:pt x="1073942" y="214873"/>
                  <a:pt x="1059654" y="246855"/>
                  <a:pt x="1048940" y="275930"/>
                </a:cubicBezTo>
                <a:cubicBezTo>
                  <a:pt x="1020365" y="345708"/>
                  <a:pt x="1020365" y="421303"/>
                  <a:pt x="1020365" y="517249"/>
                </a:cubicBezTo>
                <a:cubicBezTo>
                  <a:pt x="1156096" y="435840"/>
                  <a:pt x="1113233" y="287560"/>
                  <a:pt x="1256108" y="217780"/>
                </a:cubicBezTo>
                <a:cubicBezTo>
                  <a:pt x="1281111" y="305004"/>
                  <a:pt x="1231105" y="371876"/>
                  <a:pt x="1220389" y="441654"/>
                </a:cubicBezTo>
                <a:cubicBezTo>
                  <a:pt x="1209674" y="505619"/>
                  <a:pt x="1234677" y="520156"/>
                  <a:pt x="1313258" y="505619"/>
                </a:cubicBezTo>
                <a:cubicBezTo>
                  <a:pt x="1434702" y="482359"/>
                  <a:pt x="1495424" y="517249"/>
                  <a:pt x="1463277" y="610287"/>
                </a:cubicBezTo>
                <a:cubicBezTo>
                  <a:pt x="1431130" y="697511"/>
                  <a:pt x="1477565" y="706233"/>
                  <a:pt x="1545430" y="682974"/>
                </a:cubicBezTo>
                <a:cubicBezTo>
                  <a:pt x="1645442" y="648084"/>
                  <a:pt x="1724024" y="685881"/>
                  <a:pt x="1809749" y="712048"/>
                </a:cubicBezTo>
                <a:cubicBezTo>
                  <a:pt x="1938336" y="752753"/>
                  <a:pt x="2002630" y="735308"/>
                  <a:pt x="2099071" y="650992"/>
                </a:cubicBezTo>
                <a:cubicBezTo>
                  <a:pt x="2152648" y="601565"/>
                  <a:pt x="2199083" y="552138"/>
                  <a:pt x="2245518" y="482359"/>
                </a:cubicBezTo>
                <a:cubicBezTo>
                  <a:pt x="2270521" y="642269"/>
                  <a:pt x="2356245" y="476544"/>
                  <a:pt x="2409824" y="531786"/>
                </a:cubicBezTo>
                <a:cubicBezTo>
                  <a:pt x="2431255" y="645176"/>
                  <a:pt x="2259804" y="735308"/>
                  <a:pt x="2309812" y="889403"/>
                </a:cubicBezTo>
                <a:cubicBezTo>
                  <a:pt x="2456258" y="703326"/>
                  <a:pt x="2502693" y="493989"/>
                  <a:pt x="2699146" y="357339"/>
                </a:cubicBezTo>
                <a:cubicBezTo>
                  <a:pt x="2742008" y="389321"/>
                  <a:pt x="2699146" y="421303"/>
                  <a:pt x="2717006" y="447469"/>
                </a:cubicBezTo>
                <a:cubicBezTo>
                  <a:pt x="2727721" y="447469"/>
                  <a:pt x="2659854" y="752753"/>
                  <a:pt x="2938461" y="770197"/>
                </a:cubicBezTo>
                <a:cubicBezTo>
                  <a:pt x="2938461" y="776012"/>
                  <a:pt x="2938461" y="781827"/>
                  <a:pt x="2949178" y="787642"/>
                </a:cubicBezTo>
                <a:cubicBezTo>
                  <a:pt x="2988467" y="819624"/>
                  <a:pt x="3081336" y="790550"/>
                  <a:pt x="3088480" y="842883"/>
                </a:cubicBezTo>
                <a:cubicBezTo>
                  <a:pt x="3095624" y="901033"/>
                  <a:pt x="3127771" y="956275"/>
                  <a:pt x="3109911" y="1017331"/>
                </a:cubicBezTo>
                <a:cubicBezTo>
                  <a:pt x="3095624" y="1063850"/>
                  <a:pt x="3077765" y="1113276"/>
                  <a:pt x="3077765" y="1162704"/>
                </a:cubicBezTo>
                <a:cubicBezTo>
                  <a:pt x="3077765" y="1215038"/>
                  <a:pt x="2956320" y="1287724"/>
                  <a:pt x="3117055" y="1319707"/>
                </a:cubicBezTo>
                <a:cubicBezTo>
                  <a:pt x="3124198" y="1319707"/>
                  <a:pt x="3106339" y="1409837"/>
                  <a:pt x="3099196" y="1459264"/>
                </a:cubicBezTo>
                <a:cubicBezTo>
                  <a:pt x="3092052" y="1499968"/>
                  <a:pt x="3059905" y="1549396"/>
                  <a:pt x="3124198" y="1578470"/>
                </a:cubicBezTo>
                <a:cubicBezTo>
                  <a:pt x="3163490" y="1593007"/>
                  <a:pt x="3234927" y="1523228"/>
                  <a:pt x="3242071" y="1462171"/>
                </a:cubicBezTo>
                <a:cubicBezTo>
                  <a:pt x="3249214" y="1406930"/>
                  <a:pt x="3256358" y="1351689"/>
                  <a:pt x="3242071" y="1299354"/>
                </a:cubicBezTo>
                <a:cubicBezTo>
                  <a:pt x="3224212" y="1235390"/>
                  <a:pt x="3252786" y="1200500"/>
                  <a:pt x="3317080" y="1183056"/>
                </a:cubicBezTo>
                <a:cubicBezTo>
                  <a:pt x="3384945" y="1162704"/>
                  <a:pt x="3420664" y="1124907"/>
                  <a:pt x="3452811" y="1072572"/>
                </a:cubicBezTo>
                <a:cubicBezTo>
                  <a:pt x="3531392" y="944644"/>
                  <a:pt x="3624261" y="822532"/>
                  <a:pt x="3670696" y="682973"/>
                </a:cubicBezTo>
                <a:cubicBezTo>
                  <a:pt x="3677840" y="656807"/>
                  <a:pt x="3692127" y="624825"/>
                  <a:pt x="3752849" y="613194"/>
                </a:cubicBezTo>
                <a:cubicBezTo>
                  <a:pt x="3659980" y="991164"/>
                  <a:pt x="3420664" y="1334243"/>
                  <a:pt x="3434952" y="1723843"/>
                </a:cubicBezTo>
                <a:cubicBezTo>
                  <a:pt x="3509961" y="1619174"/>
                  <a:pt x="3513533" y="1494154"/>
                  <a:pt x="3567111" y="1380763"/>
                </a:cubicBezTo>
                <a:cubicBezTo>
                  <a:pt x="3606402" y="1462171"/>
                  <a:pt x="3563540" y="1537765"/>
                  <a:pt x="3542109" y="1613360"/>
                </a:cubicBezTo>
                <a:cubicBezTo>
                  <a:pt x="3524249" y="1677323"/>
                  <a:pt x="3520677" y="1735472"/>
                  <a:pt x="3631405" y="1741287"/>
                </a:cubicBezTo>
                <a:cubicBezTo>
                  <a:pt x="3642121" y="1741287"/>
                  <a:pt x="3649265" y="1741287"/>
                  <a:pt x="3659980" y="1741287"/>
                </a:cubicBezTo>
                <a:cubicBezTo>
                  <a:pt x="3706414" y="1718028"/>
                  <a:pt x="3727846" y="1686046"/>
                  <a:pt x="3742133" y="1645341"/>
                </a:cubicBezTo>
                <a:cubicBezTo>
                  <a:pt x="3749277" y="1622082"/>
                  <a:pt x="3763564" y="1590100"/>
                  <a:pt x="3795712" y="1590100"/>
                </a:cubicBezTo>
                <a:cubicBezTo>
                  <a:pt x="3917155" y="1593007"/>
                  <a:pt x="3952874" y="1514506"/>
                  <a:pt x="3988593" y="1438912"/>
                </a:cubicBezTo>
                <a:cubicBezTo>
                  <a:pt x="4049315" y="1479616"/>
                  <a:pt x="4006452" y="1514506"/>
                  <a:pt x="4010024" y="1546488"/>
                </a:cubicBezTo>
                <a:cubicBezTo>
                  <a:pt x="4013596" y="1566840"/>
                  <a:pt x="4017167" y="1587192"/>
                  <a:pt x="4049315" y="1587192"/>
                </a:cubicBezTo>
                <a:cubicBezTo>
                  <a:pt x="4074317" y="1587192"/>
                  <a:pt x="4106465" y="1578470"/>
                  <a:pt x="4106465" y="1558118"/>
                </a:cubicBezTo>
                <a:cubicBezTo>
                  <a:pt x="4110036" y="1430190"/>
                  <a:pt x="4281487" y="1357503"/>
                  <a:pt x="4281487" y="1223760"/>
                </a:cubicBezTo>
                <a:cubicBezTo>
                  <a:pt x="4281487" y="1142351"/>
                  <a:pt x="4377927" y="1264465"/>
                  <a:pt x="4417219" y="1197593"/>
                </a:cubicBezTo>
                <a:cubicBezTo>
                  <a:pt x="4427935" y="1183056"/>
                  <a:pt x="4442220" y="1238297"/>
                  <a:pt x="4438649" y="1261557"/>
                </a:cubicBezTo>
                <a:cubicBezTo>
                  <a:pt x="4435078" y="1284817"/>
                  <a:pt x="4410074" y="1305169"/>
                  <a:pt x="4427935" y="1334243"/>
                </a:cubicBezTo>
                <a:cubicBezTo>
                  <a:pt x="4492228" y="1348781"/>
                  <a:pt x="4517230" y="1310983"/>
                  <a:pt x="4535090" y="1276094"/>
                </a:cubicBezTo>
                <a:cubicBezTo>
                  <a:pt x="4577952" y="1200500"/>
                  <a:pt x="4627958" y="1124907"/>
                  <a:pt x="4642246" y="1040590"/>
                </a:cubicBezTo>
                <a:cubicBezTo>
                  <a:pt x="4645817" y="1011516"/>
                  <a:pt x="4663677" y="994071"/>
                  <a:pt x="4699396" y="996979"/>
                </a:cubicBezTo>
                <a:cubicBezTo>
                  <a:pt x="4745832" y="1002793"/>
                  <a:pt x="4731544" y="1031868"/>
                  <a:pt x="4727971" y="1055128"/>
                </a:cubicBezTo>
                <a:cubicBezTo>
                  <a:pt x="4724399" y="1069665"/>
                  <a:pt x="4713683" y="1084202"/>
                  <a:pt x="4738688" y="1098740"/>
                </a:cubicBezTo>
                <a:cubicBezTo>
                  <a:pt x="4992291" y="758568"/>
                  <a:pt x="4978002" y="578305"/>
                  <a:pt x="5185172" y="197429"/>
                </a:cubicBezTo>
                <a:cubicBezTo>
                  <a:pt x="5224462" y="281744"/>
                  <a:pt x="5195887" y="342801"/>
                  <a:pt x="5188744" y="400950"/>
                </a:cubicBezTo>
                <a:cubicBezTo>
                  <a:pt x="5170883" y="546323"/>
                  <a:pt x="5138736" y="456192"/>
                  <a:pt x="5117306" y="601565"/>
                </a:cubicBezTo>
                <a:cubicBezTo>
                  <a:pt x="5106590" y="671344"/>
                  <a:pt x="5070871" y="735308"/>
                  <a:pt x="5128021" y="813809"/>
                </a:cubicBezTo>
                <a:cubicBezTo>
                  <a:pt x="5167312" y="866143"/>
                  <a:pt x="5124450" y="950459"/>
                  <a:pt x="5092302" y="1014423"/>
                </a:cubicBezTo>
                <a:cubicBezTo>
                  <a:pt x="5063727" y="1066758"/>
                  <a:pt x="5056585" y="1119092"/>
                  <a:pt x="5092302" y="1188871"/>
                </a:cubicBezTo>
                <a:cubicBezTo>
                  <a:pt x="5113734" y="1124907"/>
                  <a:pt x="5131592" y="1075480"/>
                  <a:pt x="5145880" y="1026053"/>
                </a:cubicBezTo>
                <a:cubicBezTo>
                  <a:pt x="5156596" y="985349"/>
                  <a:pt x="5181600" y="962089"/>
                  <a:pt x="5235177" y="964997"/>
                </a:cubicBezTo>
                <a:cubicBezTo>
                  <a:pt x="5263752" y="964997"/>
                  <a:pt x="5303044" y="956275"/>
                  <a:pt x="5317331" y="985349"/>
                </a:cubicBezTo>
                <a:cubicBezTo>
                  <a:pt x="5331618" y="1008608"/>
                  <a:pt x="5317331" y="1040590"/>
                  <a:pt x="5292327" y="1052221"/>
                </a:cubicBezTo>
                <a:cubicBezTo>
                  <a:pt x="5245894" y="1066758"/>
                  <a:pt x="5203031" y="1081295"/>
                  <a:pt x="5199458" y="1130722"/>
                </a:cubicBezTo>
                <a:cubicBezTo>
                  <a:pt x="5192315" y="1197593"/>
                  <a:pt x="5220889" y="1159796"/>
                  <a:pt x="5256608" y="1148166"/>
                </a:cubicBezTo>
                <a:cubicBezTo>
                  <a:pt x="5295899" y="1136536"/>
                  <a:pt x="5306616" y="1171426"/>
                  <a:pt x="5299471" y="1194686"/>
                </a:cubicBezTo>
                <a:cubicBezTo>
                  <a:pt x="5267324" y="1281909"/>
                  <a:pt x="5324474" y="1372040"/>
                  <a:pt x="5278039" y="1462171"/>
                </a:cubicBezTo>
                <a:cubicBezTo>
                  <a:pt x="5392339" y="1438912"/>
                  <a:pt x="5442347" y="1389485"/>
                  <a:pt x="5460205" y="1284817"/>
                </a:cubicBezTo>
                <a:cubicBezTo>
                  <a:pt x="5463777" y="1247020"/>
                  <a:pt x="5456634" y="1206315"/>
                  <a:pt x="5488780" y="1171426"/>
                </a:cubicBezTo>
                <a:cubicBezTo>
                  <a:pt x="5502175" y="1156162"/>
                  <a:pt x="5517579" y="1140898"/>
                  <a:pt x="5539513" y="1140353"/>
                </a:cubicBezTo>
                <a:lnTo>
                  <a:pt x="5552720" y="1143022"/>
                </a:lnTo>
                <a:lnTo>
                  <a:pt x="5574208" y="1115811"/>
                </a:lnTo>
                <a:cubicBezTo>
                  <a:pt x="5609034" y="1085646"/>
                  <a:pt x="5659040" y="1068202"/>
                  <a:pt x="5734050" y="1075470"/>
                </a:cubicBezTo>
                <a:cubicBezTo>
                  <a:pt x="5776912" y="1078377"/>
                  <a:pt x="5809058" y="1055118"/>
                  <a:pt x="5798343" y="1020228"/>
                </a:cubicBezTo>
                <a:cubicBezTo>
                  <a:pt x="5776912" y="953357"/>
                  <a:pt x="5837634" y="921375"/>
                  <a:pt x="5884068" y="883578"/>
                </a:cubicBezTo>
                <a:cubicBezTo>
                  <a:pt x="5966221" y="816706"/>
                  <a:pt x="6051947" y="752742"/>
                  <a:pt x="6066234" y="645166"/>
                </a:cubicBezTo>
                <a:cubicBezTo>
                  <a:pt x="6130528" y="665519"/>
                  <a:pt x="6123384" y="700408"/>
                  <a:pt x="6109096" y="732391"/>
                </a:cubicBezTo>
                <a:cubicBezTo>
                  <a:pt x="6073377" y="816706"/>
                  <a:pt x="6034087" y="901023"/>
                  <a:pt x="5998368" y="985338"/>
                </a:cubicBezTo>
                <a:cubicBezTo>
                  <a:pt x="5976937" y="1040581"/>
                  <a:pt x="5944790" y="1095822"/>
                  <a:pt x="5969793" y="1168509"/>
                </a:cubicBezTo>
                <a:cubicBezTo>
                  <a:pt x="6098380" y="1104545"/>
                  <a:pt x="6123384" y="996969"/>
                  <a:pt x="6162674" y="909745"/>
                </a:cubicBezTo>
                <a:cubicBezTo>
                  <a:pt x="6212681" y="802169"/>
                  <a:pt x="6305549" y="738205"/>
                  <a:pt x="6412705" y="659704"/>
                </a:cubicBezTo>
                <a:cubicBezTo>
                  <a:pt x="6441280" y="738205"/>
                  <a:pt x="6362699" y="787632"/>
                  <a:pt x="6366271" y="851596"/>
                </a:cubicBezTo>
                <a:cubicBezTo>
                  <a:pt x="6376987" y="854503"/>
                  <a:pt x="6398418" y="860319"/>
                  <a:pt x="6398418" y="860319"/>
                </a:cubicBezTo>
                <a:cubicBezTo>
                  <a:pt x="6455568" y="755650"/>
                  <a:pt x="6562724" y="709131"/>
                  <a:pt x="6694884" y="691686"/>
                </a:cubicBezTo>
                <a:cubicBezTo>
                  <a:pt x="6762750" y="685871"/>
                  <a:pt x="6784181" y="648074"/>
                  <a:pt x="6816327" y="610277"/>
                </a:cubicBezTo>
                <a:cubicBezTo>
                  <a:pt x="6927056" y="482349"/>
                  <a:pt x="7027068" y="345699"/>
                  <a:pt x="7177087" y="238123"/>
                </a:cubicBezTo>
                <a:cubicBezTo>
                  <a:pt x="7159228" y="363144"/>
                  <a:pt x="7059215" y="461997"/>
                  <a:pt x="7016353" y="592833"/>
                </a:cubicBezTo>
                <a:cubicBezTo>
                  <a:pt x="7180659" y="488164"/>
                  <a:pt x="7266384" y="351513"/>
                  <a:pt x="7366396" y="226493"/>
                </a:cubicBezTo>
                <a:cubicBezTo>
                  <a:pt x="7412830" y="168344"/>
                  <a:pt x="7469981" y="116010"/>
                  <a:pt x="7494984" y="49138"/>
                </a:cubicBezTo>
                <a:cubicBezTo>
                  <a:pt x="7500342" y="31693"/>
                  <a:pt x="7511727" y="4436"/>
                  <a:pt x="7538181" y="484"/>
                </a:cubicBezTo>
                <a:close/>
              </a:path>
            </a:pathLst>
          </a:custGeom>
          <a:solidFill>
            <a:schemeClr val="bg2">
              <a:alpha val="50000"/>
            </a:schemeClr>
          </a:solidFill>
          <a:ln w="32707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7980943-F3CF-F130-5B5B-FD3E8A6380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>
                <a:cs typeface="Calibri Light"/>
              </a:rPr>
              <a:t>.</a:t>
            </a:r>
            <a:endParaRPr lang="en-US"/>
          </a:p>
        </p:txBody>
      </p:sp>
      <p:pic>
        <p:nvPicPr>
          <p:cNvPr id="4" name="Picture 4" descr="A close-up of words&#10;&#10;Description automatically generated">
            <a:extLst>
              <a:ext uri="{FF2B5EF4-FFF2-40B4-BE49-F238E27FC236}">
                <a16:creationId xmlns:a16="http://schemas.microsoft.com/office/drawing/2014/main" id="{E2E78983-E3C4-B7FB-2BE2-E0C61E281AC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7004" y="0"/>
            <a:ext cx="5856916" cy="3287949"/>
          </a:xfrm>
        </p:spPr>
      </p:pic>
      <p:pic>
        <p:nvPicPr>
          <p:cNvPr id="5" name="Picture 5" descr="A screen shot of a computer code&#10;&#10;Description automatically generated">
            <a:extLst>
              <a:ext uri="{FF2B5EF4-FFF2-40B4-BE49-F238E27FC236}">
                <a16:creationId xmlns:a16="http://schemas.microsoft.com/office/drawing/2014/main" id="{6CCCC5D5-FE5F-4333-BF5D-C07306F5F90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320543"/>
            <a:ext cx="5963920" cy="3440179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5FC7965-2FC1-2AB5-FBAC-58ED57FC09EA}"/>
              </a:ext>
            </a:extLst>
          </p:cNvPr>
          <p:cNvSpPr txBox="1"/>
          <p:nvPr/>
        </p:nvSpPr>
        <p:spPr>
          <a:xfrm>
            <a:off x="6121076" y="173410"/>
            <a:ext cx="5963920" cy="326865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defTabSz="566928">
              <a:spcAft>
                <a:spcPts val="600"/>
              </a:spcAft>
            </a:pPr>
            <a:r>
              <a:rPr lang="en-US" sz="1116" kern="1200" dirty="0">
                <a:solidFill>
                  <a:schemeClr val="tx1"/>
                </a:solidFill>
                <a:latin typeface="+mn-lt"/>
                <a:ea typeface="+mn-lt"/>
                <a:cs typeface="+mn-lt"/>
              </a:rPr>
              <a:t>                  </a:t>
            </a:r>
            <a:r>
              <a:rPr lang="en-US" sz="2000" kern="1200" dirty="0">
                <a:solidFill>
                  <a:schemeClr val="tx1"/>
                </a:solidFill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 </a:t>
            </a:r>
            <a:r>
              <a:rPr lang="en-US" sz="2000" b="1" kern="1200" dirty="0">
                <a:solidFill>
                  <a:schemeClr val="tx1"/>
                </a:solidFill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Word Cloud Analysis</a:t>
            </a:r>
            <a:endParaRPr lang="en-US" sz="2000" b="1" kern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defTabSz="566928">
              <a:spcAft>
                <a:spcPts val="600"/>
              </a:spcAft>
            </a:pPr>
            <a:endParaRPr lang="en-US" sz="2000" kern="1200" dirty="0">
              <a:solidFill>
                <a:schemeClr val="tx1"/>
              </a:solidFill>
              <a:latin typeface="Times New Roman" panose="02020603050405020304" pitchFamily="18" charset="0"/>
              <a:ea typeface="+mn-lt"/>
              <a:cs typeface="Times New Roman" panose="02020603050405020304" pitchFamily="18" charset="0"/>
            </a:endParaRPr>
          </a:p>
          <a:p>
            <a:pPr marL="177165" indent="-177165" defTabSz="566928">
              <a:lnSpc>
                <a:spcPct val="150000"/>
              </a:lnSpc>
              <a:spcAft>
                <a:spcPts val="600"/>
              </a:spcAft>
              <a:buFont typeface="Calibri"/>
              <a:buChar char="-"/>
            </a:pPr>
            <a:r>
              <a:rPr lang="en-US" sz="2000" kern="1200" dirty="0">
                <a:solidFill>
                  <a:schemeClr val="tx1"/>
                </a:solidFill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Most repeated words: "Charged," "service“, "card“, "account“, "payment“, "cancel“, "money“.</a:t>
            </a:r>
          </a:p>
          <a:p>
            <a:pPr marL="177165" indent="-177165" defTabSz="566928">
              <a:lnSpc>
                <a:spcPct val="150000"/>
              </a:lnSpc>
              <a:spcAft>
                <a:spcPts val="600"/>
              </a:spcAft>
              <a:buFont typeface="Calibri"/>
              <a:buChar char="-"/>
            </a:pPr>
            <a:r>
              <a:rPr lang="en-US" sz="2000" kern="1200" dirty="0">
                <a:solidFill>
                  <a:schemeClr val="tx1"/>
                </a:solidFill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Focused on billing and payment-related issues.</a:t>
            </a:r>
          </a:p>
          <a:p>
            <a:pPr marL="177165" indent="-177165" defTabSz="566928">
              <a:lnSpc>
                <a:spcPct val="150000"/>
              </a:lnSpc>
              <a:spcAft>
                <a:spcPts val="600"/>
              </a:spcAft>
              <a:buFont typeface="Calibri"/>
              <a:buChar char="-"/>
            </a:pPr>
            <a:r>
              <a:rPr lang="en-US" sz="2000" kern="1200" dirty="0">
                <a:solidFill>
                  <a:schemeClr val="tx1"/>
                </a:solidFill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Indicates dissatisfaction with account management and financial matters</a:t>
            </a:r>
            <a:r>
              <a:rPr lang="en-US" sz="1116" kern="1200" dirty="0">
                <a:solidFill>
                  <a:schemeClr val="tx1"/>
                </a:solidFill>
                <a:latin typeface="+mn-lt"/>
                <a:ea typeface="+mn-lt"/>
                <a:cs typeface="+mn-lt"/>
              </a:rPr>
              <a:t>.</a:t>
            </a:r>
            <a:endParaRPr lang="en-US" dirty="0">
              <a:cs typeface="Calibri" panose="020F0502020204030204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BD4198D-489A-0587-1D07-DE0DDCF3EFAD}"/>
              </a:ext>
            </a:extLst>
          </p:cNvPr>
          <p:cNvSpPr txBox="1"/>
          <p:nvPr/>
        </p:nvSpPr>
        <p:spPr>
          <a:xfrm>
            <a:off x="6228082" y="3847432"/>
            <a:ext cx="5657986" cy="280698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defTabSz="566928">
              <a:spcAft>
                <a:spcPts val="600"/>
              </a:spcAft>
            </a:pPr>
            <a:r>
              <a:rPr lang="en-US" sz="1116" kern="1200" dirty="0">
                <a:solidFill>
                  <a:schemeClr val="tx1"/>
                </a:solidFill>
                <a:latin typeface="+mn-lt"/>
                <a:ea typeface="+mn-lt"/>
                <a:cs typeface="+mn-lt"/>
              </a:rPr>
              <a:t>                  </a:t>
            </a:r>
            <a:r>
              <a:rPr lang="en-US" sz="2000" kern="1200" dirty="0">
                <a:solidFill>
                  <a:schemeClr val="tx1"/>
                </a:solidFill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   </a:t>
            </a:r>
            <a:r>
              <a:rPr lang="en-US" sz="2000" b="1" kern="1200" dirty="0">
                <a:solidFill>
                  <a:schemeClr val="tx1"/>
                </a:solidFill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Lexicon-Based Analysis</a:t>
            </a:r>
          </a:p>
          <a:p>
            <a:pPr defTabSz="566928">
              <a:spcAft>
                <a:spcPts val="600"/>
              </a:spcAft>
            </a:pPr>
            <a:endParaRPr lang="en-US" sz="2000" b="1" kern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7165" indent="-177165" defTabSz="566928">
              <a:lnSpc>
                <a:spcPct val="150000"/>
              </a:lnSpc>
              <a:spcAft>
                <a:spcPts val="600"/>
              </a:spcAft>
              <a:buFont typeface="Calibri"/>
              <a:buChar char="-"/>
            </a:pPr>
            <a:r>
              <a:rPr lang="en-US" sz="2000" kern="1200" dirty="0">
                <a:solidFill>
                  <a:schemeClr val="tx1"/>
                </a:solidFill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Negative sentiment score of -0.995.</a:t>
            </a:r>
          </a:p>
          <a:p>
            <a:pPr marL="177165" indent="-177165" defTabSz="566928">
              <a:lnSpc>
                <a:spcPct val="150000"/>
              </a:lnSpc>
              <a:spcAft>
                <a:spcPts val="600"/>
              </a:spcAft>
              <a:buFont typeface="Calibri"/>
              <a:buChar char="-"/>
            </a:pPr>
            <a:r>
              <a:rPr lang="en-US" sz="2000" kern="1200" dirty="0">
                <a:solidFill>
                  <a:schemeClr val="tx1"/>
                </a:solidFill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Predominantly negative sentiment expressed.</a:t>
            </a:r>
          </a:p>
          <a:p>
            <a:pPr marL="177165" indent="-177165" defTabSz="566928">
              <a:lnSpc>
                <a:spcPct val="150000"/>
              </a:lnSpc>
              <a:spcAft>
                <a:spcPts val="600"/>
              </a:spcAft>
              <a:buFont typeface="Calibri"/>
              <a:buChar char="-"/>
            </a:pPr>
            <a:r>
              <a:rPr lang="en-US" sz="2000" kern="1200" dirty="0">
                <a:solidFill>
                  <a:schemeClr val="tx1"/>
                </a:solidFill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Reflects widespread dissatisfaction and frustration among subscribers.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2257485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560547-8ADB-49CC-F3E4-9664E5672E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94962" y="479493"/>
            <a:ext cx="5458838" cy="1325563"/>
          </a:xfrm>
        </p:spPr>
        <p:txBody>
          <a:bodyPr>
            <a:normAutofit/>
          </a:bodyPr>
          <a:lstStyle/>
          <a:p>
            <a:r>
              <a:rPr lang="en-US"/>
              <a:t>Conclusion/Summary</a:t>
            </a:r>
            <a:endParaRPr lang="en-US" dirty="0"/>
          </a:p>
        </p:txBody>
      </p:sp>
      <p:pic>
        <p:nvPicPr>
          <p:cNvPr id="7" name="Picture 4" descr="A group of people discussing something&#10;&#10;Description automatically generated">
            <a:extLst>
              <a:ext uri="{FF2B5EF4-FFF2-40B4-BE49-F238E27FC236}">
                <a16:creationId xmlns:a16="http://schemas.microsoft.com/office/drawing/2014/main" id="{4EC795FD-F649-776D-C533-BD8C16558763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7180" r="39137" b="-1"/>
          <a:stretch/>
        </p:blipFill>
        <p:spPr>
          <a:xfrm>
            <a:off x="891953" y="511293"/>
            <a:ext cx="4399839" cy="5665670"/>
          </a:xfrm>
          <a:custGeom>
            <a:avLst/>
            <a:gdLst/>
            <a:ahLst/>
            <a:cxnLst/>
            <a:rect l="l" t="t" r="r" b="b"/>
            <a:pathLst>
              <a:path w="4777381" h="5643794">
                <a:moveTo>
                  <a:pt x="143704" y="0"/>
                </a:moveTo>
                <a:lnTo>
                  <a:pt x="4633677" y="0"/>
                </a:lnTo>
                <a:cubicBezTo>
                  <a:pt x="4713043" y="0"/>
                  <a:pt x="4777381" y="64338"/>
                  <a:pt x="4777381" y="143704"/>
                </a:cubicBezTo>
                <a:lnTo>
                  <a:pt x="4777381" y="5500090"/>
                </a:lnTo>
                <a:cubicBezTo>
                  <a:pt x="4777381" y="5579456"/>
                  <a:pt x="4713043" y="5643794"/>
                  <a:pt x="4633677" y="5643794"/>
                </a:cubicBezTo>
                <a:lnTo>
                  <a:pt x="143704" y="5643794"/>
                </a:lnTo>
                <a:cubicBezTo>
                  <a:pt x="64338" y="5643794"/>
                  <a:pt x="0" y="5579456"/>
                  <a:pt x="0" y="5500090"/>
                </a:cubicBezTo>
                <a:lnTo>
                  <a:pt x="0" y="143704"/>
                </a:lnTo>
                <a:cubicBezTo>
                  <a:pt x="0" y="64338"/>
                  <a:pt x="64338" y="0"/>
                  <a:pt x="143704" y="0"/>
                </a:cubicBezTo>
                <a:close/>
              </a:path>
            </a:pathLst>
          </a:cu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627615-45F6-E5BB-D66C-19697AE0F5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94961" y="1984443"/>
            <a:ext cx="6169219" cy="4192520"/>
          </a:xfrm>
        </p:spPr>
        <p:txBody>
          <a:bodyPr>
            <a:normAutofit/>
          </a:bodyPr>
          <a:lstStyle/>
          <a:p>
            <a:r>
              <a:rPr lang="en-US" sz="1600" b="1">
                <a:latin typeface="Times New Roman" panose="02020603050405020304" pitchFamily="18" charset="0"/>
                <a:cs typeface="Times New Roman" panose="02020603050405020304" pitchFamily="18" charset="0"/>
              </a:rPr>
              <a:t>Project Focus:</a:t>
            </a:r>
            <a:r>
              <a:rPr lang="en-US" sz="1600">
                <a:latin typeface="Times New Roman" panose="02020603050405020304" pitchFamily="18" charset="0"/>
                <a:cs typeface="Times New Roman" panose="02020603050405020304" pitchFamily="18" charset="0"/>
              </a:rPr>
              <a:t> Addressing Netflix's Declined Revenue</a:t>
            </a:r>
          </a:p>
          <a:p>
            <a:endParaRPr lang="en-US" sz="16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600" b="1">
                <a:latin typeface="Times New Roman" panose="02020603050405020304" pitchFamily="18" charset="0"/>
                <a:cs typeface="Times New Roman" panose="02020603050405020304" pitchFamily="18" charset="0"/>
              </a:rPr>
              <a:t>Quantitative Data Analysis:</a:t>
            </a:r>
            <a:r>
              <a:rPr lang="en-US" sz="1600">
                <a:latin typeface="Times New Roman" panose="02020603050405020304" pitchFamily="18" charset="0"/>
                <a:cs typeface="Times New Roman" panose="02020603050405020304" pitchFamily="18" charset="0"/>
              </a:rPr>
              <a:t> Exploring Subscriber and Revenue Trends</a:t>
            </a:r>
          </a:p>
          <a:p>
            <a:endParaRPr lang="en-US" sz="16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600" b="1">
                <a:latin typeface="Times New Roman" panose="02020603050405020304" pitchFamily="18" charset="0"/>
                <a:cs typeface="Times New Roman" panose="02020603050405020304" pitchFamily="18" charset="0"/>
              </a:rPr>
              <a:t>Qualitative Data Analysis:</a:t>
            </a:r>
            <a:r>
              <a:rPr lang="en-US" sz="1600">
                <a:latin typeface="Times New Roman" panose="02020603050405020304" pitchFamily="18" charset="0"/>
                <a:cs typeface="Times New Roman" panose="02020603050405020304" pitchFamily="18" charset="0"/>
              </a:rPr>
              <a:t> Investigating Causes of the Problem</a:t>
            </a:r>
          </a:p>
          <a:p>
            <a:endParaRPr lang="en-US" sz="16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600" b="1">
                <a:latin typeface="Times New Roman" panose="02020603050405020304" pitchFamily="18" charset="0"/>
                <a:cs typeface="Times New Roman" panose="02020603050405020304" pitchFamily="18" charset="0"/>
              </a:rPr>
              <a:t>Identified Issue:</a:t>
            </a:r>
            <a:r>
              <a:rPr lang="en-US" sz="1600">
                <a:latin typeface="Times New Roman" panose="02020603050405020304" pitchFamily="18" charset="0"/>
                <a:cs typeface="Times New Roman" panose="02020603050405020304" pitchFamily="18" charset="0"/>
              </a:rPr>
              <a:t> Declining Revenue Linked to Plummeting Subscribers' base</a:t>
            </a:r>
          </a:p>
          <a:p>
            <a:endParaRPr lang="en-US" sz="16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600" b="1">
                <a:latin typeface="Times New Roman" panose="02020603050405020304" pitchFamily="18" charset="0"/>
                <a:cs typeface="Times New Roman" panose="02020603050405020304" pitchFamily="18" charset="0"/>
              </a:rPr>
              <a:t>Root Cause:</a:t>
            </a:r>
            <a:r>
              <a:rPr lang="en-US" sz="1600">
                <a:latin typeface="Times New Roman" panose="02020603050405020304" pitchFamily="18" charset="0"/>
                <a:cs typeface="Times New Roman" panose="02020603050405020304" pitchFamily="18" charset="0"/>
              </a:rPr>
              <a:t> Poor Customer Service or System Glitches Leading to Overcharging</a:t>
            </a:r>
          </a:p>
          <a:p>
            <a:endParaRPr lang="en-US" sz="1600"/>
          </a:p>
          <a:p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82166156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AE91925A-D120-B9D0-0F62-A022AC06723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764783" y="349664"/>
            <a:ext cx="5845571" cy="1638377"/>
          </a:xfrm>
          <a:prstGeom prst="rect">
            <a:avLst/>
          </a:prstGeom>
        </p:spPr>
        <p:txBody>
          <a:bodyPr rtlCol="0" anchor="b">
            <a:normAutofit/>
          </a:bodyPr>
          <a:lstStyle/>
          <a:p>
            <a:pPr algn="ctr" defTabSz="594360">
              <a:spcAft>
                <a:spcPts val="600"/>
              </a:spcAft>
            </a:pPr>
            <a:r>
              <a:rPr lang="en-US" sz="4100" b="1" kern="12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RECOMMENDATION</a:t>
            </a:r>
            <a:r>
              <a:rPr lang="en-US" sz="4100" kern="1200" dirty="0">
                <a:latin typeface="+mn-lt"/>
                <a:ea typeface="+mn-ea"/>
                <a:cs typeface="+mn-cs"/>
              </a:rPr>
              <a:t> </a:t>
            </a:r>
            <a:endParaRPr lang="en-CA" sz="4100" dirty="0"/>
          </a:p>
        </p:txBody>
      </p:sp>
      <p:pic>
        <p:nvPicPr>
          <p:cNvPr id="8" name="Graphic 7" descr="Cloud Computing">
            <a:extLst>
              <a:ext uri="{FF2B5EF4-FFF2-40B4-BE49-F238E27FC236}">
                <a16:creationId xmlns:a16="http://schemas.microsoft.com/office/drawing/2014/main" id="{43C91C19-16A8-69FD-4ED9-85AE79AC663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35110" y="1186882"/>
            <a:ext cx="4235516" cy="4235516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56F2DA-3DAF-7FCC-412A-C06CD26741A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05738" y="2337705"/>
            <a:ext cx="6298274" cy="3608250"/>
          </a:xfrm>
        </p:spPr>
        <p:txBody>
          <a:bodyPr anchor="ctr">
            <a:normAutofit/>
          </a:bodyPr>
          <a:lstStyle/>
          <a:p>
            <a:pPr marL="0" indent="0" defTabSz="594360">
              <a:spcBef>
                <a:spcPts val="650"/>
              </a:spcBef>
              <a:buNone/>
            </a:pPr>
            <a:r>
              <a:rPr lang="en-US" sz="2000" b="1" kern="12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Key Challenges Identified:</a:t>
            </a:r>
          </a:p>
          <a:p>
            <a:pPr marL="0" indent="0" defTabSz="594360">
              <a:spcBef>
                <a:spcPts val="650"/>
              </a:spcBef>
              <a:buNone/>
            </a:pPr>
            <a:r>
              <a:rPr lang="en-US" sz="2000" kern="12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- Billing and Payment Issues</a:t>
            </a:r>
          </a:p>
          <a:p>
            <a:pPr marL="148590" indent="-148590" defTabSz="594360">
              <a:spcBef>
                <a:spcPts val="650"/>
              </a:spcBef>
              <a:buFontTx/>
              <a:buChar char="-"/>
            </a:pPr>
            <a:r>
              <a:rPr lang="en-US" sz="2000" kern="12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Customer Service Shortcomings</a:t>
            </a:r>
          </a:p>
          <a:p>
            <a:pPr marL="0" indent="0" defTabSz="594360">
              <a:spcBef>
                <a:spcPts val="650"/>
              </a:spcBef>
              <a:buNone/>
            </a:pPr>
            <a:endParaRPr lang="en-US" sz="2000" kern="1200" dirty="0"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0" indent="0" defTabSz="594360">
              <a:spcBef>
                <a:spcPts val="650"/>
              </a:spcBef>
              <a:buNone/>
            </a:pPr>
            <a:r>
              <a:rPr lang="en-CA" sz="2000" b="1" kern="12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Strategies for Improvement:</a:t>
            </a:r>
          </a:p>
          <a:p>
            <a:pPr marL="148590" indent="-148590" defTabSz="594360">
              <a:spcBef>
                <a:spcPts val="650"/>
              </a:spcBef>
              <a:buFontTx/>
              <a:buChar char="-"/>
            </a:pPr>
            <a:r>
              <a:rPr lang="en-CA" sz="2000" kern="12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Billing Transparency and Accuracy</a:t>
            </a:r>
          </a:p>
          <a:p>
            <a:pPr marL="148590" indent="-148590" defTabSz="594360">
              <a:spcBef>
                <a:spcPts val="650"/>
              </a:spcBef>
              <a:buFontTx/>
              <a:buChar char="-"/>
            </a:pPr>
            <a:r>
              <a:rPr lang="en-CA" sz="2000" kern="12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Customer Support Enhancement</a:t>
            </a:r>
          </a:p>
          <a:p>
            <a:pPr marL="148590" indent="-148590" defTabSz="594360">
              <a:spcBef>
                <a:spcPts val="650"/>
              </a:spcBef>
              <a:buFontTx/>
              <a:buChar char="-"/>
            </a:pPr>
            <a:r>
              <a:rPr lang="en-CA" sz="2000" kern="12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Service Value and Communication</a:t>
            </a:r>
            <a:endParaRPr lang="en-CA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CA" sz="1400" dirty="0"/>
          </a:p>
        </p:txBody>
      </p:sp>
    </p:spTree>
    <p:extLst>
      <p:ext uri="{BB962C8B-B14F-4D97-AF65-F5344CB8AC3E}">
        <p14:creationId xmlns:p14="http://schemas.microsoft.com/office/powerpoint/2010/main" val="182541283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4F54DF-B640-127C-8207-3C46009276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262" y="42103"/>
            <a:ext cx="12160738" cy="1270882"/>
          </a:xfrm>
          <a:solidFill>
            <a:schemeClr val="accent3">
              <a:lumMod val="20000"/>
              <a:lumOff val="80000"/>
            </a:schemeClr>
          </a:solidFill>
        </p:spPr>
        <p:txBody>
          <a:bodyPr>
            <a:normAutofit/>
          </a:bodyPr>
          <a:lstStyle/>
          <a:p>
            <a:pPr algn="ctr"/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IMPLICATIONS FOR BUSINESS ANALYTICS MANAGERS</a:t>
            </a:r>
          </a:p>
        </p:txBody>
      </p:sp>
      <p:graphicFrame>
        <p:nvGraphicFramePr>
          <p:cNvPr id="7" name="Content Placeholder 2">
            <a:extLst>
              <a:ext uri="{FF2B5EF4-FFF2-40B4-BE49-F238E27FC236}">
                <a16:creationId xmlns:a16="http://schemas.microsoft.com/office/drawing/2014/main" id="{BAC5A118-4C94-1911-6351-68871B9A7F8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608227163"/>
              </p:ext>
            </p:extLst>
          </p:nvPr>
        </p:nvGraphicFramePr>
        <p:xfrm>
          <a:off x="85969" y="1312985"/>
          <a:ext cx="12043507" cy="554501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946965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96437BD-D091-7842-F6E5-1E4702B2AF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</p:spPr>
        <p:txBody>
          <a:bodyPr anchor="ctr">
            <a:normAutofit/>
          </a:bodyPr>
          <a:lstStyle/>
          <a:p>
            <a:r>
              <a:rPr lang="en-US" sz="40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LIMITATIONS OF THE STUDY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5D0710FE-1C8E-9F84-96F2-41B468817C5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12993908"/>
              </p:ext>
            </p:extLst>
          </p:nvPr>
        </p:nvGraphicFramePr>
        <p:xfrm>
          <a:off x="644056" y="2112579"/>
          <a:ext cx="10927829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98946788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9" name="Slide Background">
            <a:extLst>
              <a:ext uri="{FF2B5EF4-FFF2-40B4-BE49-F238E27FC236}">
                <a16:creationId xmlns:a16="http://schemas.microsoft.com/office/drawing/2014/main" id="{3ECBE1F1-D69B-4AFA-ABD5-8E41720EF6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8" name="Picture 5" descr="Graph on document with pen">
            <a:extLst>
              <a:ext uri="{FF2B5EF4-FFF2-40B4-BE49-F238E27FC236}">
                <a16:creationId xmlns:a16="http://schemas.microsoft.com/office/drawing/2014/main" id="{9DE2B343-5F4E-6C38-9C22-8D67789DE413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0448" r="16893" b="-2"/>
          <a:stretch/>
        </p:blipFill>
        <p:spPr>
          <a:xfrm>
            <a:off x="-1" y="-2"/>
            <a:ext cx="5410198" cy="6858002"/>
          </a:xfrm>
          <a:prstGeom prst="rect">
            <a:avLst/>
          </a:prstGeom>
        </p:spPr>
      </p:pic>
      <p:sp useBgFill="1">
        <p:nvSpPr>
          <p:cNvPr id="50" name="Rectangle 24">
            <a:extLst>
              <a:ext uri="{FF2B5EF4-FFF2-40B4-BE49-F238E27FC236}">
                <a16:creationId xmlns:a16="http://schemas.microsoft.com/office/drawing/2014/main" id="{603A6265-E10C-4B85-9C20-E75FCAF9CC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410197" y="-1"/>
            <a:ext cx="6781802" cy="2286000"/>
          </a:xfrm>
          <a:prstGeom prst="rect">
            <a:avLst/>
          </a:prstGeom>
          <a:ln>
            <a:noFill/>
          </a:ln>
          <a:effectLst>
            <a:outerShdw blurRad="355600" dist="152400" sx="95000" sy="95000" algn="t" rotWithShape="0">
              <a:srgbClr val="000000">
                <a:alpha val="29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B4B6AF6-FF46-5606-F87B-334216404A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15317" y="405685"/>
            <a:ext cx="5464968" cy="1559301"/>
          </a:xfrm>
        </p:spPr>
        <p:txBody>
          <a:bodyPr>
            <a:normAutofit/>
          </a:bodyPr>
          <a:lstStyle/>
          <a:p>
            <a:r>
              <a:rPr kumimoji="0" lang="en-US" altLang="en-US" sz="4000" b="1" i="0" u="none" strike="noStrike" cap="none" normalizeH="0" baseline="0">
                <a:ln>
                  <a:noFill/>
                </a:ln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  <a:br>
              <a:rPr kumimoji="0" lang="en-US" altLang="en-US" sz="4000" b="0" i="0" u="none" strike="noStrike" cap="none" normalizeH="0" baseline="0">
                <a:ln>
                  <a:noFill/>
                </a:ln>
                <a:effectLst/>
                <a:latin typeface="Calibri Light" panose="020F03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endParaRPr lang="en-CA" sz="400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8BD874C5-9048-8910-915A-5D606F837869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115317" y="2743200"/>
            <a:ext cx="5247340" cy="349687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152352" rIns="91440" bIns="45720" numCol="1" anchor="ctr" anchorCtr="0" compatLnSpc="1">
            <a:prstTxWarp prst="textNoShape">
              <a:avLst/>
            </a:prstTxWarp>
            <a:norm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en-CA" altLang="en-US" sz="1000" b="0" i="0" u="none" strike="noStrike" cap="none" normalizeH="0" baseline="0">
                <a:ln>
                  <a:noFill/>
                </a:ln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- </a:t>
            </a:r>
            <a:r>
              <a:rPr kumimoji="0" lang="en-US" altLang="en-US" sz="1000" b="0" i="0" u="none" strike="noStrike" cap="none" normalizeH="0" baseline="0">
                <a:ln>
                  <a:noFill/>
                </a:ln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(2023, 08 08). (Netflix) Retrieved from consumeraffairs: https://www.consumeraffairs.com/entertainment/netflix.html?page=3#sort=recent&amp;filter=none</a:t>
            </a:r>
            <a:endParaRPr kumimoji="0" lang="en-CA" altLang="en-US" sz="1000" b="0" i="0" u="none" strike="noStrike" cap="none" normalizeH="0" baseline="0">
              <a:ln>
                <a:noFill/>
              </a:ln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en-US" altLang="en-US" sz="1000" b="0" i="0" u="none" strike="noStrike" cap="none" normalizeH="0" baseline="0">
                <a:ln>
                  <a:noFill/>
                </a:ln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- (2023, 06 08). Retrieved from pissedconsumer: https://netflix.pissedconsumer.com/143/RT-P.html#reviews</a:t>
            </a:r>
            <a:endParaRPr kumimoji="0" lang="en-CA" altLang="en-US" sz="1000" b="0" i="0" u="none" strike="noStrike" cap="none" normalizeH="0" baseline="0">
              <a:ln>
                <a:noFill/>
              </a:ln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en-US" altLang="en-US" sz="1000" b="0" i="0" u="none" strike="noStrike" cap="none" normalizeH="0" baseline="0">
                <a:ln>
                  <a:noFill/>
                </a:ln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- MAURYA, S. (2023). </a:t>
            </a:r>
            <a:r>
              <a:rPr kumimoji="0" lang="en-US" altLang="en-US" sz="1000" b="0" i="1" u="none" strike="noStrike" cap="none" normalizeH="0" baseline="0">
                <a:ln>
                  <a:noFill/>
                </a:ln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Netflix OTT Revenue and Subscribers (CSV File).</a:t>
            </a:r>
            <a:r>
              <a:rPr kumimoji="0" lang="en-US" altLang="en-US" sz="1000" b="0" i="0" u="none" strike="noStrike" cap="none" normalizeH="0" baseline="0">
                <a:ln>
                  <a:noFill/>
                </a:ln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kaggle. Retrieved from https://www.kaggle.com/datasets/mauryansshivam/netflix-ott-revenue-and-subscribers-csv-file</a:t>
            </a:r>
            <a:endParaRPr kumimoji="0" lang="en-CA" altLang="en-US" sz="1000" b="0" i="0" u="none" strike="noStrike" cap="none" normalizeH="0" baseline="0">
              <a:ln>
                <a:noFill/>
              </a:ln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en-US" altLang="en-US" sz="1000" b="0" i="0" u="none" strike="noStrike" cap="none" normalizeH="0" baseline="0">
                <a:ln>
                  <a:noFill/>
                </a:ln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- Minor, B. M. (2023). </a:t>
            </a:r>
            <a:r>
              <a:rPr kumimoji="0" lang="en-US" altLang="en-US" sz="1000" b="0" i="1" u="none" strike="noStrike" cap="none" normalizeH="0" baseline="0">
                <a:ln>
                  <a:noFill/>
                </a:ln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Netflix Review.</a:t>
            </a:r>
            <a:r>
              <a:rPr kumimoji="0" lang="en-US" altLang="en-US" sz="1000" b="0" i="0" u="none" strike="noStrike" cap="none" normalizeH="0" baseline="0">
                <a:ln>
                  <a:noFill/>
                </a:ln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pcmac. Retrieved from https://www.pcmag.com/reviews/netflix</a:t>
            </a:r>
            <a:endParaRPr kumimoji="0" lang="en-CA" altLang="en-US" sz="1000" b="0" i="0" u="none" strike="noStrike" cap="none" normalizeH="0" baseline="0">
              <a:ln>
                <a:noFill/>
              </a:ln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en-US" altLang="en-US" sz="1000" b="0" i="0" u="none" strike="noStrike" cap="none" normalizeH="0" baseline="0">
                <a:ln>
                  <a:noFill/>
                </a:ln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- Sampathkumar, S. (2023). </a:t>
            </a:r>
            <a:r>
              <a:rPr kumimoji="0" lang="en-US" altLang="en-US" sz="1000" b="0" i="1" u="none" strike="noStrike" cap="none" normalizeH="0" baseline="0">
                <a:ln>
                  <a:noFill/>
                </a:ln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Netflix Business Model – How Much Money Does Netflix Make?</a:t>
            </a:r>
            <a:r>
              <a:rPr kumimoji="0" lang="en-US" altLang="en-US" sz="1000" b="0" i="0" u="none" strike="noStrike" cap="none" normalizeH="0" baseline="0">
                <a:ln>
                  <a:noFill/>
                </a:ln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vplayed. Retrieved from https://www.vplayed.com/blog/how-does-netflix-make-money/</a:t>
            </a:r>
            <a:endParaRPr kumimoji="0" lang="en-CA" altLang="en-US" sz="1000" b="0" i="0" u="none" strike="noStrike" cap="none" normalizeH="0" baseline="0">
              <a:ln>
                <a:noFill/>
              </a:ln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en-US" altLang="en-US" sz="1000" b="0" i="0" u="none" strike="noStrike" cap="none" normalizeH="0" baseline="0">
                <a:ln>
                  <a:noFill/>
                </a:ln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- Anonymous. "The opportunities and challenges faced by Netflix in a digital world." n.d.</a:t>
            </a:r>
            <a:endParaRPr kumimoji="0" lang="en-CA" altLang="en-US" sz="1000" b="0" i="0" u="none" strike="noStrike" cap="none" normalizeH="0" baseline="0">
              <a:ln>
                <a:noFill/>
              </a:ln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en-US" altLang="en-US" sz="1000" b="0" i="0" u="none" strike="noStrike" cap="none" normalizeH="0" baseline="0">
                <a:ln>
                  <a:noFill/>
                </a:ln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&lt;https://medium.com/digital-society/the-opportunities-and-challenges-faced-by-netflix-in-a[1]digital-world-cd372d3af98c&gt;.</a:t>
            </a:r>
            <a:endParaRPr kumimoji="0" lang="en-CA" altLang="en-US" sz="1000" b="0" i="0" u="none" strike="noStrike" cap="none" normalizeH="0" baseline="0">
              <a:ln>
                <a:noFill/>
              </a:ln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en-US" altLang="en-US" sz="1000" b="0" i="0" u="none" strike="noStrike" cap="none" normalizeH="0" baseline="0">
                <a:ln>
                  <a:noFill/>
                </a:ln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- ARTASHYAN, ARGAM. "EVERYTHING YOU SHOULD KNOW ABOUT NETFLIX</a:t>
            </a:r>
            <a:endParaRPr kumimoji="0" lang="en-CA" altLang="en-US" sz="1000" b="0" i="0" u="none" strike="noStrike" cap="none" normalizeH="0" baseline="0">
              <a:ln>
                <a:noFill/>
              </a:ln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en-US" altLang="en-US" sz="1000" b="0" i="0" u="none" strike="noStrike" cap="none" normalizeH="0" baseline="0">
                <a:ln>
                  <a:noFill/>
                </a:ln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SUBSCRIPTION PLANS AND THE CURRENT SITUATION." 2022.</a:t>
            </a:r>
            <a:endParaRPr kumimoji="0" lang="en-CA" altLang="en-US" sz="1000" b="0" i="0" u="none" strike="noStrike" cap="none" normalizeH="0" baseline="0">
              <a:ln>
                <a:noFill/>
              </a:ln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en-US" altLang="en-US" sz="1000" b="0" i="0" u="none" strike="noStrike" cap="none" normalizeH="0" baseline="0">
                <a:ln>
                  <a:noFill/>
                </a:ln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&lt;https://www.gizchina.com/2022/05/17/everything-you-should-know-about-netflix-subscription[1]plans-and-the-current-situation/&gt;.</a:t>
            </a:r>
            <a:endParaRPr kumimoji="0" lang="en-CA" altLang="en-US" sz="1000" b="0" i="0" u="none" strike="noStrike" cap="none" normalizeH="0" baseline="0">
              <a:ln>
                <a:noFill/>
              </a:ln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endParaRPr kumimoji="0" lang="en-CA" altLang="en-US" sz="1000" b="0" i="0" u="none" strike="noStrike" cap="none" normalizeH="0" baseline="0">
              <a:ln>
                <a:noFill/>
              </a:ln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273139588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912</TotalTime>
  <Words>759</Words>
  <Application>Microsoft Office PowerPoint</Application>
  <PresentationFormat>Widescreen</PresentationFormat>
  <Paragraphs>88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1" baseType="lpstr">
      <vt:lpstr>Meiryo</vt:lpstr>
      <vt:lpstr>Arial</vt:lpstr>
      <vt:lpstr>Calibri</vt:lpstr>
      <vt:lpstr>Calibri Light</vt:lpstr>
      <vt:lpstr>Times New Roman</vt:lpstr>
      <vt:lpstr>Office Theme</vt:lpstr>
      <vt:lpstr>DATA-DRIVEN INSIGHTS: EXPLORING OPPORTUNITY/ CHALLENGE IN THE INFORMATION AND CULTURAL INDUSTRY </vt:lpstr>
      <vt:lpstr>AGENDA</vt:lpstr>
      <vt:lpstr>RESEARCH METHODOLOGY AND DATA COLLECTION</vt:lpstr>
      <vt:lpstr>PRAGMATIC APPROACH</vt:lpstr>
      <vt:lpstr>ANALYSIS, RESULTS AND FINDINGS</vt:lpstr>
      <vt:lpstr>  Q2 2020: Notable upswing in subscription numbers accompanied by a significant revenue boost.  Late 2021 - Early 2022: Marked downturn in subscription counts and a noticeable decline in revenue figures.  </vt:lpstr>
      <vt:lpstr>.</vt:lpstr>
      <vt:lpstr>.</vt:lpstr>
      <vt:lpstr>.</vt:lpstr>
      <vt:lpstr>.</vt:lpstr>
      <vt:lpstr>Conclusion/Summary</vt:lpstr>
      <vt:lpstr>RECOMMENDATION </vt:lpstr>
      <vt:lpstr>IMPLICATIONS FOR BUSINESS ANALYTICS MANAGERS</vt:lpstr>
      <vt:lpstr>LIMITATIONS OF THE STUDY</vt:lpstr>
      <vt:lpstr>REFERENCES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Saroj Dhaubanja</dc:creator>
  <cp:lastModifiedBy>Bikesh Man Chipalu</cp:lastModifiedBy>
  <cp:revision>204</cp:revision>
  <dcterms:created xsi:type="dcterms:W3CDTF">2023-08-06T23:56:35Z</dcterms:created>
  <dcterms:modified xsi:type="dcterms:W3CDTF">2023-08-09T16:14:30Z</dcterms:modified>
</cp:coreProperties>
</file>